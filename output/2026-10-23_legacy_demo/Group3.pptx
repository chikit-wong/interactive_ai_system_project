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966" autoAdjust="0"/>
  </p:normalViewPr>
  <p:slideViewPr>
    <p:cSldViewPr snapToGrid="0">
      <p:cViewPr varScale="1">
        <p:scale>
          <a:sx n="73" d="100"/>
          <a:sy n="73" d="100"/>
        </p:scale>
        <p:origin x="146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 Chi Kit WONG / 0:00-0:25</a:t>
            </a:r>
          </a:p>
          <a:p>
            <a:r>
              <a:rPr dirty="0"/>
              <a:t>Spoken script:</a:t>
            </a:r>
          </a:p>
          <a:p>
            <a:endParaRPr dirty="0"/>
          </a:p>
          <a:p>
            <a:r>
              <a:rPr dirty="0"/>
              <a:t>Hello everyone. We are Group Three, and our project is Meeting Cue. It helps people stay available to a remote meeting / while working on another task, without letting AI make commitments for them.</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 Chi Kit WONG / 0:25-1:30</a:t>
            </a:r>
          </a:p>
          <a:p>
            <a:r>
              <a:rPr dirty="0"/>
              <a:t>Spoken script:</a:t>
            </a:r>
            <a:endParaRPr lang="en-US" dirty="0"/>
          </a:p>
          <a:p>
            <a:endParaRPr dirty="0"/>
          </a:p>
          <a:p>
            <a:r>
              <a:rPr dirty="0"/>
              <a:t>The paper / Enabling Partial Participation in Remote Meetings introduced </a:t>
            </a:r>
            <a:r>
              <a:rPr dirty="0" err="1"/>
              <a:t>ProxyMe</a:t>
            </a:r>
            <a:r>
              <a:rPr dirty="0"/>
              <a:t>, a system for meeting updates and replies. We build on its partial participation problem. Our forty-three records add concrete needs: repeated requests when attention shifts, summaries missing personally relevant details, and a case where missing an important detail leads to a wrong answer. Some records also suggest that existing notes or chat already meet the need, without another tool. These examples motivate selective support. Our question is when to bring someone back, and what context helps them make a correct contribution.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 Chi Kit WONG / 1:30-1:55</a:t>
            </a:r>
          </a:p>
          <a:p>
            <a:r>
              <a:rPr dirty="0"/>
              <a:t>Spoken script:</a:t>
            </a:r>
            <a:endParaRPr lang="en-US" dirty="0"/>
          </a:p>
          <a:p>
            <a:endParaRPr dirty="0"/>
          </a:p>
          <a:p>
            <a:r>
              <a:rPr dirty="0"/>
              <a:t>We grouped the records by requests, missing context, and reply risks, then linked these patterns to three design needs: timely alerts, original context, and human control. The table shows these links. </a:t>
            </a:r>
            <a:r>
              <a:rPr dirty="0" err="1"/>
              <a:t>Haodong</a:t>
            </a:r>
            <a:r>
              <a:rPr dirty="0"/>
              <a:t> will explain the features.</a:t>
            </a:r>
          </a:p>
          <a:p>
            <a:endParaRPr dirty="0"/>
          </a:p>
          <a:p>
            <a:r>
              <a:rPr dirty="0"/>
              <a:t>B / </a:t>
            </a:r>
            <a:r>
              <a:rPr dirty="0" err="1"/>
              <a:t>Haodong</a:t>
            </a:r>
            <a:r>
              <a:rPr dirty="0"/>
              <a:t> XU / 1:55-2:50</a:t>
            </a:r>
          </a:p>
          <a:p>
            <a:r>
              <a:rPr dirty="0"/>
              <a:t>Spoken script:</a:t>
            </a:r>
            <a:endParaRPr lang="en-US" dirty="0"/>
          </a:p>
          <a:p>
            <a:endParaRPr dirty="0"/>
          </a:p>
          <a:p>
            <a:r>
              <a:rPr dirty="0"/>
              <a:t>One record described a manager repeating feedback requests while someone's attention was elsewhere. Another asked what was discussed, why they were needed, and what to answer. A third stressed checking source wording. These led to priority categories and original excerpts. A scenario illustrated how a missed condition could make an otherwise plausible reply unsuitable. So participants check context before confirming a reply. The early recording shows a data lead checking sample limits. This connects each interface choice to a specific need.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 / Haodong XU / 2:50-3:40</a:t>
            </a:r>
          </a:p>
          <a:p>
            <a:r>
              <a:t>Spoken script:</a:t>
            </a:r>
          </a:p>
          <a:p>
            <a:r>
              <a:t>The current companion runs beside Tencent Meeting. Browser speech recognition produces text. DeepSeek analyzes it with the participant's role and availability, returning priority, sources, and a draft. The person checks, edits and copies the reply, then manually sends it in Tencent Meeting. AI can miss context, so human confirmation remains essential. The next video shows our earlier interaction prototype, before this live AI connection.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 / Haodong XU / 3:40-3:55</a:t>
            </a:r>
          </a:p>
          <a:p>
            <a:r>
              <a:t>Spoken script:</a:t>
            </a:r>
          </a:p>
          <a:p>
            <a:r>
              <a:t>This earlier recording shows role judgment, source checking, and local reply confirmation. English captions explain the original Chinese interface.</a:t>
            </a:r>
          </a:p>
          <a:p>
            <a:endParaRPr/>
          </a:p>
          <a:p>
            <a:r>
              <a:t>[Start the captioned 64.36-second video. Everyone stays silent. C starts when playback ends.]</a:t>
            </a:r>
          </a:p>
          <a:p>
            <a:endParaRPr/>
          </a:p>
          <a:p>
            <a:r>
              <a:t>C / Sida ZHANG / 4:59-5:24</a:t>
            </a:r>
          </a:p>
          <a:p>
            <a:r>
              <a:t>Spoken script:</a:t>
            </a:r>
          </a:p>
          <a:p>
            <a:r>
              <a:t>The data lead checked sources and limited a claim based on seven samples. The reply stayed local. This demonstrates context checking and human control, while the later companion adds live 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 / Sida ZHANG / 5:24-6:04</a:t>
            </a:r>
          </a:p>
          <a:p>
            <a:r>
              <a:t>Spoken script:</a:t>
            </a:r>
          </a:p>
          <a:p>
            <a:r>
              <a:t>After that early prototype, we collected thirty-two simulated reviews of the later AI companion's recorded workflow. These reviews examined actual interface records and model outputs. Twenty-seven supported selective attention. Context and control received mixed feedback. All favored use only in some meetings, especially while working on another task.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 / Sida ZHANG / 6:04-7:04</a:t>
            </a:r>
          </a:p>
          <a:p>
            <a:r>
              <a:t>Spoken script:</a:t>
            </a:r>
          </a:p>
          <a:p>
            <a:r>
              <a:t>Feedback exposed a real risk: a copied reply could appear already communicated in later summaries. We now keep unsent drafts out of meeting facts and track delivery separately. Two completed retests preserved that distinction; one rejected invalid sources. Our intended impact is fewer interruptions and safer replies. Next, each person will try both alert rules with matched cases and balanced order. We will measure timely correct replies, task performance, missed requests, and false alerts.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 / Sida ZHANG / 7:04-7:09</a:t>
            </a:r>
          </a:p>
          <a:p>
            <a:r>
              <a:t>Spoken script:</a:t>
            </a:r>
          </a:p>
          <a:p>
            <a:r>
              <a:t>Here is our contribution.</a:t>
            </a:r>
          </a:p>
          <a:p>
            <a:endParaRPr/>
          </a:p>
          <a:p>
            <a:r>
              <a:t>[Keep the contribution table visible for questions. Do not read its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endParaRPr/>
          </a:p>
          <a:p>
            <a:r>
              <a:t>Local evidence: research/combined_research/README.txt; research/combined_research/findings_source_map.json; research/analysis_2026-10-16/project_update_zh.txt. Original questionnaire N=7 includes 3 open comments; 14 public narrative fragments from 8 source groups; 26 valid AI questionnaire responses. The 43-row table is 3+14+26 evidence records, not 43 recruited interviewees. These materials suggest design hypotheses, not prevalence or effectiveness.</a:t>
            </a:r>
          </a:p>
          <a:p>
            <a:r>
              <a:t>Later reviews: research/assistant_feedback_2026-10-20/findings_zh.txt; 29 valid description-based reviews out of 30 planned runs; no actual interface operation, physical audio or additional human users. Public authors' identities not independently verified. Repeated AI outputs are not independent human samples.</a:t>
            </a:r>
          </a:p>
          <a:p>
            <a:endParaRPr/>
          </a:p>
          <a:p>
            <a:r>
              <a:t>QUESTIONNAIRE TRACE</a:t>
            </a:r>
          </a:p>
          <a:p>
            <a:r>
              <a:t>[</a:t>
            </a:r>
          </a:p>
          <a:p>
            <a:r>
              <a:t>  {</a:t>
            </a:r>
          </a:p>
          <a:p>
            <a:r>
              <a:t>    "id": "F01",</a:t>
            </a:r>
          </a:p>
          <a:p>
            <a:r>
              <a:t>    "question_id": "OLD_Q2",</a:t>
            </a:r>
          </a:p>
          <a:p>
            <a:r>
              <a:t>    "question_text": "2. 过去 6 个月，你是否遇到过“两个会议/课程/任务时间冲突，只能把注意力主要放在其中一个”的情况? / In the past 6 months, have you experienced overlapping meetings/classes/tasks where you could mainly focus on only one?    [单选题]",</a:t>
            </a:r>
          </a:p>
          <a:p>
            <a:r>
              <a:t>    "label": "Experienced overlapping meetings/classes/tasks at least rarely within six months",</a:t>
            </a:r>
          </a:p>
          <a:p>
            <a:r>
              <a:t>    "count": 3,</a:t>
            </a:r>
          </a:p>
          <a:p>
            <a:r>
              <a:t>    "denominator": 7,</a:t>
            </a:r>
          </a:p>
          <a:p>
            <a:r>
              <a:t>    "evidence_kind": "self_report_history",</a:t>
            </a:r>
          </a:p>
          <a:p>
            <a:r>
              <a:t>    "raw_table": [</a:t>
            </a:r>
          </a:p>
          <a:p>
            <a:r>
              <a:t>      [</a:t>
            </a:r>
          </a:p>
          <a:p>
            <a:r>
              <a:t>        "选项",</a:t>
            </a:r>
          </a:p>
          <a:p>
            <a:r>
              <a:t>        "小计",</a:t>
            </a:r>
          </a:p>
          <a:p>
            <a:r>
              <a:t>        "比例"</a:t>
            </a:r>
          </a:p>
          <a:p>
            <a:r>
              <a:t>      ],</a:t>
            </a:r>
          </a:p>
          <a:p>
            <a:r>
              <a:t>      [</a:t>
            </a:r>
          </a:p>
          <a:p>
            <a:r>
              <a:t>        "经常 / Often",</a:t>
            </a:r>
          </a:p>
          <a:p>
            <a:r>
              <a:t>        "0",</a:t>
            </a:r>
          </a:p>
          <a:p>
            <a:r>
              <a:t>        "0%"</a:t>
            </a:r>
          </a:p>
          <a:p>
            <a:r>
              <a:t>      ],</a:t>
            </a:r>
          </a:p>
          <a:p>
            <a:r>
              <a:t>      [</a:t>
            </a:r>
          </a:p>
          <a:p>
            <a:r>
              <a:t>        "偶尔 / Sometimes",</a:t>
            </a:r>
          </a:p>
          <a:p>
            <a:r>
              <a:t>        "2",</a:t>
            </a:r>
          </a:p>
          <a:p>
            <a:r>
              <a:t>        "28.57%"</a:t>
            </a:r>
          </a:p>
          <a:p>
            <a:r>
              <a:t>      ],</a:t>
            </a:r>
          </a:p>
          <a:p>
            <a:r>
              <a:t>      [</a:t>
            </a:r>
          </a:p>
          <a:p>
            <a:r>
              <a:t>        "很少 / Rarely",</a:t>
            </a:r>
          </a:p>
          <a:p>
            <a:r>
              <a:t>        "1",</a:t>
            </a:r>
          </a:p>
          <a:p>
            <a:r>
              <a:t>        "14.29%"</a:t>
            </a:r>
          </a:p>
          <a:p>
            <a:r>
              <a:t>      ],</a:t>
            </a:r>
          </a:p>
          <a:p>
            <a:r>
              <a:t>      [</a:t>
            </a:r>
          </a:p>
          <a:p>
            <a:r>
              <a:t>        "从未 / Never",</a:t>
            </a:r>
          </a:p>
          <a:p>
            <a:r>
              <a:t>        "4",</a:t>
            </a:r>
          </a:p>
          <a:p>
            <a:r>
              <a:t>        "57.14%"</a:t>
            </a:r>
          </a:p>
          <a:p>
            <a:r>
              <a:t>      ],</a:t>
            </a:r>
          </a:p>
          <a:p>
            <a:r>
              <a:t>      [</a:t>
            </a:r>
          </a:p>
          <a:p>
            <a:r>
              <a:t>        "本题有效填写人次",</a:t>
            </a:r>
          </a:p>
          <a:p>
            <a:r>
              <a:t>        "7",</a:t>
            </a:r>
          </a:p>
          <a:p>
            <a:r>
              <a:t>        ""</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2,</a:t>
            </a:r>
          </a:p>
          <a:p>
            <a:r>
              <a:t>    "row_index": null,</a:t>
            </a:r>
          </a:p>
          <a:p>
            <a:r>
              <a:t>    "caveat": "2 sometimes + 1 rarely; 4 never. Do not claim a universal or frequent need."</a:t>
            </a:r>
          </a:p>
          <a:p>
            <a:r>
              <a:t>  },</a:t>
            </a:r>
          </a:p>
          <a:p>
            <a:r>
              <a:t>  {</a:t>
            </a:r>
          </a:p>
          <a:p>
            <a:r>
              <a:t>    "id": "F05",</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when their decision or opinion was required",</a:t>
            </a:r>
          </a:p>
          <a:p>
            <a:r>
              <a:t>    "count": 6,</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2,</a:t>
            </a:r>
          </a:p>
          <a:p>
            <a:r>
              <a:t>    "caveat": "Each matrix row sums to seven. Compare within the same hypothetical question; no causal claim."</a:t>
            </a:r>
          </a:p>
          <a:p>
            <a:r>
              <a:t>  },</a:t>
            </a:r>
          </a:p>
          <a:p>
            <a:r>
              <a:t>  {</a:t>
            </a:r>
          </a:p>
          <a:p>
            <a:r>
              <a:t>    "id": "F06",</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for general progress updates",</a:t>
            </a:r>
          </a:p>
          <a:p>
            <a:r>
              <a:t>    "count": 1,</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7,</a:t>
            </a:r>
          </a:p>
          <a:p>
            <a:r>
              <a:t>    "caveat": "The other choices are batch later 2 and after meeting 4."</a:t>
            </a:r>
          </a:p>
          <a:p>
            <a:r>
              <a:t>  },</a:t>
            </a:r>
          </a:p>
          <a:p>
            <a:r>
              <a:t>  {</a:t>
            </a:r>
          </a:p>
          <a:p>
            <a:r>
              <a:t>    "id": "F07",</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when directly mentioned",</a:t>
            </a:r>
          </a:p>
          <a:p>
            <a:r>
              <a:t>    "count": 6,</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1,</a:t>
            </a:r>
          </a:p>
          <a:p>
            <a:r>
              <a:t>    "caveat": "This does not establish that every mention should trigger an alert."</a:t>
            </a:r>
          </a:p>
          <a:p>
            <a:r>
              <a:t>  },</a:t>
            </a:r>
          </a:p>
          <a:p>
            <a:r>
              <a:t>  {</a:t>
            </a:r>
          </a:p>
          <a:p>
            <a:r>
              <a:t>    "id": "F11",</a:t>
            </a:r>
          </a:p>
          <a:p>
            <a:r>
              <a:t>    "question_id": "OLD_Q9",</a:t>
            </a:r>
          </a:p>
          <a:p>
            <a:r>
              <a:t>    "question_text": "9. 当会议确实需要你参与时，你更希望采用哪种方式?每行选一个最合适的选项。 / When the meeting truly needs your input, which method would you prefer? Choose one per scenario.    [矩阵单选题]",</a:t>
            </a:r>
          </a:p>
          <a:p>
            <a:r>
              <a:t>    "label": "Chose AI reply options for complex, sensitive or controversial issues",</a:t>
            </a:r>
          </a:p>
          <a:p>
            <a:r>
              <a:t>    "count": 0,</a:t>
            </a:r>
          </a:p>
          <a:p>
            <a:r>
              <a:t>    "denominator": 7,</a:t>
            </a:r>
          </a:p>
          <a:p>
            <a:r>
              <a:t>    "evidence_kind": "hypothetical_scenario_preference",</a:t>
            </a:r>
          </a:p>
          <a:p>
            <a:r>
              <a:t>    "raw_table": [</a:t>
            </a:r>
          </a:p>
          <a:p>
            <a:r>
              <a:t>      [</a:t>
            </a:r>
          </a:p>
          <a:p>
            <a:r>
              <a:t>        "题目\\选项",</a:t>
            </a:r>
          </a:p>
          <a:p>
            <a:r>
              <a:t>        "只提醒/Alert-only",</a:t>
            </a:r>
          </a:p>
          <a:p>
            <a:r>
              <a:t>        "AI候选答案/AI-options",</a:t>
            </a:r>
          </a:p>
          <a:p>
            <a:r>
              <a:t>        "自己输入/Type-myself",</a:t>
            </a:r>
          </a:p>
          <a:p>
            <a:r>
              <a:t>        "临时加入会议/Join-briefly"</a:t>
            </a:r>
          </a:p>
          <a:p>
            <a:r>
              <a:t>      ],</a:t>
            </a:r>
          </a:p>
          <a:p>
            <a:r>
              <a:t>      [</a:t>
            </a:r>
          </a:p>
          <a:p>
            <a:r>
              <a:t>        "简单确认事实（如“你周二有空吗?”） / Simple factual confirmation, e.g. “Are you free Tuesday?”",</a:t>
            </a:r>
          </a:p>
          <a:p>
            <a:r>
              <a:t>        "1(14.29%)",</a:t>
            </a:r>
          </a:p>
          <a:p>
            <a:r>
              <a:t>        "3(42.86%)",</a:t>
            </a:r>
          </a:p>
          <a:p>
            <a:r>
              <a:t>        "3(42.86%)",</a:t>
            </a:r>
          </a:p>
          <a:p>
            <a:r>
              <a:t>        "0(0%)"</a:t>
            </a:r>
          </a:p>
          <a:p>
            <a:r>
              <a:t>      ],</a:t>
            </a:r>
          </a:p>
          <a:p>
            <a:r>
              <a:t>      [</a:t>
            </a:r>
          </a:p>
          <a:p>
            <a:r>
              <a:t>        "在几个明确方案中选择 / Choose among several clear options",</a:t>
            </a:r>
          </a:p>
          <a:p>
            <a:r>
              <a:t>        "1(14.29%)",</a:t>
            </a:r>
          </a:p>
          <a:p>
            <a:r>
              <a:t>        "3(42.86%)",</a:t>
            </a:r>
          </a:p>
          <a:p>
            <a:r>
              <a:t>        "2(28.57%)",</a:t>
            </a:r>
          </a:p>
          <a:p>
            <a:r>
              <a:t>        "1(14.29%)"</a:t>
            </a:r>
          </a:p>
          <a:p>
            <a:r>
              <a:t>      ],</a:t>
            </a:r>
          </a:p>
          <a:p>
            <a:r>
              <a:t>      [</a:t>
            </a:r>
          </a:p>
          <a:p>
            <a:r>
              <a:t>        "表达个人意见或理由 / Express your personal opinion or reasoning",</a:t>
            </a:r>
          </a:p>
          <a:p>
            <a:r>
              <a:t>        "1(14.29%)",</a:t>
            </a:r>
          </a:p>
          <a:p>
            <a:r>
              <a:t>        "0(0%)",</a:t>
            </a:r>
          </a:p>
          <a:p>
            <a:r>
              <a:t>        "3(42.86%)",</a:t>
            </a:r>
          </a:p>
          <a:p>
            <a:r>
              <a:t>        "3(42.86%)"</a:t>
            </a:r>
          </a:p>
          <a:p>
            <a:r>
              <a:t>      ],</a:t>
            </a:r>
          </a:p>
          <a:p>
            <a:r>
              <a:t>      [</a:t>
            </a:r>
          </a:p>
          <a:p>
            <a:r>
              <a:t>        "讨论复杂、敏感或有争议的问题 / Discuss a complex, sensitive, or controversial issue",</a:t>
            </a:r>
          </a:p>
          <a:p>
            <a:r>
              <a:t>        "1(14.29%)",</a:t>
            </a:r>
          </a:p>
          <a:p>
            <a:r>
              <a:t>        "0(0%)",</a:t>
            </a:r>
          </a:p>
          <a:p>
            <a:r>
              <a:t>        "2(28.57%)",</a:t>
            </a:r>
          </a:p>
          <a:p>
            <a:r>
              <a:t>        "4(57.14%)"</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9,</a:t>
            </a:r>
          </a:p>
          <a:p>
            <a:r>
              <a:t>    "row_index": 4,</a:t>
            </a:r>
          </a:p>
          <a:p>
            <a:r>
              <a:t>    "caveat": "4 chose brief joining, 2 typing themselves, 1 alert only. Supports keeping a route to human discussion."</a:t>
            </a:r>
          </a:p>
          <a:p>
            <a:r>
              <a:t>  },</a:t>
            </a:r>
          </a:p>
          <a:p>
            <a:r>
              <a:t>  {</a:t>
            </a:r>
          </a:p>
          <a:p>
            <a:r>
              <a:t>    "id": "F12",</a:t>
            </a:r>
          </a:p>
          <a:p>
            <a:r>
              <a:t>    "question_id": "OLD_Q9",</a:t>
            </a:r>
          </a:p>
          <a:p>
            <a:r>
              <a:t>    "question_text": "9. 当会议确实需要你参与时，你更希望采用哪种方式?每行选一个最合适的选项。 / When the meeting truly needs your input, which method would you prefer? Choose one per scenario.    [矩阵单选题]",</a:t>
            </a:r>
          </a:p>
          <a:p>
            <a:r>
              <a:t>    "label": "Chose brief joining for complex, sensitive or controversial issues",</a:t>
            </a:r>
          </a:p>
          <a:p>
            <a:r>
              <a:t>    "count": 4,</a:t>
            </a:r>
          </a:p>
          <a:p>
            <a:r>
              <a:t>    "denominator": 7,</a:t>
            </a:r>
          </a:p>
          <a:p>
            <a:r>
              <a:t>    "evidence_kind": "hypothetical_scenario_preference",</a:t>
            </a:r>
          </a:p>
          <a:p>
            <a:r>
              <a:t>    "raw_table": [</a:t>
            </a:r>
          </a:p>
          <a:p>
            <a:r>
              <a:t>      [</a:t>
            </a:r>
          </a:p>
          <a:p>
            <a:r>
              <a:t>        "题目\\选项",</a:t>
            </a:r>
          </a:p>
          <a:p>
            <a:r>
              <a:t>        "只提醒/Alert-only",</a:t>
            </a:r>
          </a:p>
          <a:p>
            <a:r>
              <a:t>        "AI候选答案/AI-options",</a:t>
            </a:r>
          </a:p>
          <a:p>
            <a:r>
              <a:t>        "自己输入/Type-myself",</a:t>
            </a:r>
          </a:p>
          <a:p>
            <a:r>
              <a:t>        "临时加入会议/Join-briefly"</a:t>
            </a:r>
          </a:p>
          <a:p>
            <a:r>
              <a:t>      ],</a:t>
            </a:r>
          </a:p>
          <a:p>
            <a:r>
              <a:t>      [</a:t>
            </a:r>
          </a:p>
          <a:p>
            <a:r>
              <a:t>        "简单确认事实（如“你周二有空吗?”） / Simple factual confirmation, e.g. “Are you free Tuesday?”",</a:t>
            </a:r>
          </a:p>
          <a:p>
            <a:r>
              <a:t>        "1(14.29%)",</a:t>
            </a:r>
          </a:p>
          <a:p>
            <a:r>
              <a:t>        "3(42.86%)",</a:t>
            </a:r>
          </a:p>
          <a:p>
            <a:r>
              <a:t>        "3(42.86%)",</a:t>
            </a:r>
          </a:p>
          <a:p>
            <a:r>
              <a:t>        "0(0%)"</a:t>
            </a:r>
          </a:p>
          <a:p>
            <a:r>
              <a:t>      ],</a:t>
            </a:r>
          </a:p>
          <a:p>
            <a:r>
              <a:t>      [</a:t>
            </a:r>
          </a:p>
          <a:p>
            <a:r>
              <a:t>        "在几个明确方案中选择 / Choose among several clear options",</a:t>
            </a:r>
          </a:p>
          <a:p>
            <a:r>
              <a:t>        "1(14.29%)",</a:t>
            </a:r>
          </a:p>
          <a:p>
            <a:r>
              <a:t>        "3(42.86%)",</a:t>
            </a:r>
          </a:p>
          <a:p>
            <a:r>
              <a:t>        "2(28.57%)",</a:t>
            </a:r>
          </a:p>
          <a:p>
            <a:r>
              <a:t>        "1(14.29%)"</a:t>
            </a:r>
          </a:p>
          <a:p>
            <a:r>
              <a:t>      ],</a:t>
            </a:r>
          </a:p>
          <a:p>
            <a:r>
              <a:t>      [</a:t>
            </a:r>
          </a:p>
          <a:p>
            <a:r>
              <a:t>        "表达个人意见或理由 / Express your personal opinion or reasoning",</a:t>
            </a:r>
          </a:p>
          <a:p>
            <a:r>
              <a:t>        "1(14.29%)",</a:t>
            </a:r>
          </a:p>
          <a:p>
            <a:r>
              <a:t>        "0(0%)",</a:t>
            </a:r>
          </a:p>
          <a:p>
            <a:r>
              <a:t>        "3(42.86%)",</a:t>
            </a:r>
          </a:p>
          <a:p>
            <a:r>
              <a:t>        "3(42.86%)"</a:t>
            </a:r>
          </a:p>
          <a:p>
            <a:r>
              <a:t>      ],</a:t>
            </a:r>
          </a:p>
          <a:p>
            <a:r>
              <a:t>      [</a:t>
            </a:r>
          </a:p>
          <a:p>
            <a:r>
              <a:t>        "讨论复杂、敏感或有争议的问题 / Discuss a complex, sensitive, or controversial issue",</a:t>
            </a:r>
          </a:p>
          <a:p>
            <a:r>
              <a:t>        "1(14.29%)",</a:t>
            </a:r>
          </a:p>
          <a:p>
            <a:r>
              <a:t>        "0(0%)",</a:t>
            </a:r>
          </a:p>
          <a:p>
            <a:r>
              <a:t>        "2(28.57%)",</a:t>
            </a:r>
          </a:p>
          <a:p>
            <a:r>
              <a:t>        "4(57.14%)"</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9,</a:t>
            </a:r>
          </a:p>
          <a:p>
            <a:r>
              <a:t>    "row_index": 4,</a:t>
            </a:r>
          </a:p>
          <a:p>
            <a:r>
              <a:t>    "caveat": "Same matrix row as F11; not a separate sample."</a:t>
            </a:r>
          </a:p>
          <a:p>
            <a:r>
              <a:t>  }</a:t>
            </a:r>
          </a:p>
          <a:p>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endParaRPr/>
          </a:p>
          <a:p>
            <a:r>
              <a:t>Bai, Png &amp; Velloso (2026), Enabling Partial Participation in Remote Meetings, CHI 2026. https://doi.org/10.1145/3772318.3790744 . Read local lectures/week 1/papers/Remote meetings.pdf. Abstract: 24 participants; ProxyMe meeting updates and questions; update frequency/detail and response type varied. No universal optimum.</a:t>
            </a:r>
          </a:p>
          <a:p>
            <a:r>
              <a:t>Do not claim that reminders, questions, summaries, or replies themselves are novel. The present deliverable is a scoped working prototype plus a proposed evaluation of role/decision-based routing. Added interface controls are design responses, not established scientific contributions.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endParaRPr/>
          </a:p>
          <a:p>
            <a:r>
              <a:t>Ask these after showing the actual flow. Do not frame a model API connection as sufficient research; it implements the intervention. Research needs a testable participation trade-off, credible measures and failure analysis. The complete meeting recording is pending. Use only an actual completed recording after it has been reviewed.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a:srcRect l="27" r="27"/>
          <a:stretch>
            <a:fillRect/>
          </a:stretch>
        </p:blipFill>
        <p:spPr>
          <a:xfrm>
            <a:off x="0" y="0"/>
            <a:ext cx="12192000" cy="6858000"/>
          </a:xfrm>
          <a:prstGeom prst="rect">
            <a:avLst/>
          </a:prstGeom>
        </p:spPr>
      </p:pic>
      <p:sp>
        <p:nvSpPr>
          <p:cNvPr id="2" name="Meeting&#10;Cue"/>
          <p:cNvSpPr>
            <a:spLocks noGrp="1"/>
          </p:cNvSpPr>
          <p:nvPr/>
        </p:nvSpPr>
        <p:spPr>
          <a:xfrm>
            <a:off x="638175" y="548640"/>
            <a:ext cx="4953000" cy="1905000"/>
          </a:xfrm>
          <a:prstGeom prst="rect">
            <a:avLst/>
          </a:prstGeom>
          <a:noFill/>
          <a:ln w="0">
            <a:noFill/>
          </a:ln>
        </p:spPr>
        <p:txBody>
          <a:bodyPr wrap="square" lIns="0" tIns="0" rIns="0" bIns="0" anchor="t">
            <a:noAutofit/>
          </a:bodyPr>
          <a:lstStyle>
            <a:defPPr>
              <a:defRPr sz="615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615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615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615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615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615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615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615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615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615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6150" b="1">
                <a:solidFill>
                  <a:srgbClr val="173F39"/>
                </a:solidFill>
                <a:latin typeface="微软雅黑" panose="020B0503020204020204" charset="-122"/>
                <a:ea typeface="微软雅黑" panose="020B0503020204020204" charset="-122"/>
                <a:cs typeface="微软雅黑" panose="020B0503020204020204" charset="-122"/>
              </a:defRPr>
            </a:pPr>
            <a:r>
              <a:rPr sz="6150" b="1">
                <a:solidFill>
                  <a:srgbClr val="173F39"/>
                </a:solidFill>
                <a:latin typeface="微软雅黑" panose="020B0503020204020204" charset="-122"/>
                <a:ea typeface="微软雅黑" panose="020B0503020204020204" charset="-122"/>
                <a:cs typeface="微软雅黑" panose="020B0503020204020204" charset="-122"/>
              </a:rPr>
              <a:t>Meeting</a:t>
            </a:r>
          </a:p>
          <a:p>
            <a:pPr>
              <a:lnSpc>
                <a:spcPct val="112000"/>
              </a:lnSpc>
              <a:buNone/>
              <a:defRPr sz="6150" b="1">
                <a:solidFill>
                  <a:srgbClr val="173F39"/>
                </a:solidFill>
                <a:latin typeface="微软雅黑" panose="020B0503020204020204" charset="-122"/>
                <a:ea typeface="微软雅黑" panose="020B0503020204020204" charset="-122"/>
                <a:cs typeface="微软雅黑" panose="020B0503020204020204" charset="-122"/>
              </a:defRPr>
            </a:pPr>
            <a:r>
              <a:rPr sz="6150" b="1">
                <a:solidFill>
                  <a:srgbClr val="173F39"/>
                </a:solidFill>
                <a:latin typeface="微软雅黑" panose="020B0503020204020204" charset="-122"/>
                <a:ea typeface="微软雅黑" panose="020B0503020204020204" charset="-122"/>
                <a:cs typeface="微软雅黑" panose="020B0503020204020204" charset="-122"/>
              </a:rPr>
              <a:t>Cue</a:t>
            </a:r>
          </a:p>
        </p:txBody>
      </p:sp>
      <p:sp>
        <p:nvSpPr>
          <p:cNvPr id="3" name="Return when your&#10;input matters."/>
          <p:cNvSpPr>
            <a:spLocks noGrp="1"/>
          </p:cNvSpPr>
          <p:nvPr/>
        </p:nvSpPr>
        <p:spPr>
          <a:xfrm>
            <a:off x="623570" y="2708910"/>
            <a:ext cx="4572000" cy="952500"/>
          </a:xfrm>
          <a:prstGeom prst="rect">
            <a:avLst/>
          </a:prstGeom>
          <a:noFill/>
          <a:ln w="0">
            <a:noFill/>
          </a:ln>
        </p:spPr>
        <p:txBody>
          <a:bodyPr wrap="square" lIns="0" tIns="0" rIns="0" bIns="0" anchor="t">
            <a:noAutofit/>
          </a:bodyPr>
          <a:lstStyle>
            <a:defPPr>
              <a:defRPr sz="27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7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7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7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7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7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7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7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7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7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2775" b="1">
                <a:solidFill>
                  <a:srgbClr val="173F39"/>
                </a:solidFill>
                <a:latin typeface="微软雅黑" panose="020B0503020204020204" charset="-122"/>
                <a:ea typeface="微软雅黑" panose="020B0503020204020204" charset="-122"/>
                <a:cs typeface="微软雅黑" panose="020B0503020204020204" charset="-122"/>
              </a:rPr>
              <a:t>Return when your</a:t>
            </a:r>
          </a:p>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2775" b="1">
                <a:solidFill>
                  <a:srgbClr val="173F39"/>
                </a:solidFill>
                <a:latin typeface="微软雅黑" panose="020B0503020204020204" charset="-122"/>
                <a:ea typeface="微软雅黑" panose="020B0503020204020204" charset="-122"/>
                <a:cs typeface="微软雅黑" panose="020B0503020204020204" charset="-122"/>
              </a:rPr>
              <a:t>input matters.</a:t>
            </a:r>
          </a:p>
        </p:txBody>
      </p:sp>
      <p:sp>
        <p:nvSpPr>
          <p:cNvPr id="4" name="Role-aware support for partial participation&#10;in remote "/>
          <p:cNvSpPr>
            <a:spLocks noGrp="1"/>
          </p:cNvSpPr>
          <p:nvPr/>
        </p:nvSpPr>
        <p:spPr>
          <a:xfrm>
            <a:off x="638175" y="4004945"/>
            <a:ext cx="4667250" cy="704850"/>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72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72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72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72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72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72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72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72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Role-aware support for partial participation</a:t>
            </a:r>
          </a:p>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in remote meetings</a:t>
            </a:r>
          </a:p>
        </p:txBody>
      </p:sp>
      <p:sp>
        <p:nvSpPr>
          <p:cNvPr id="5" name="AIAA4435  /  MIDTERM PRESENTATION&#10;23 October 2026    8 "/>
          <p:cNvSpPr>
            <a:spLocks noGrp="1"/>
          </p:cNvSpPr>
          <p:nvPr/>
        </p:nvSpPr>
        <p:spPr>
          <a:xfrm>
            <a:off x="638175" y="6076950"/>
            <a:ext cx="5953125" cy="50482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AIAA4435  /  MIDTERM PRESENTATION</a:t>
            </a:r>
          </a:p>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23 October 2026    8 min + 2 min Q&amp;A</a:t>
            </a:r>
          </a:p>
        </p:txBody>
      </p:sp>
      <p:sp>
        <p:nvSpPr>
          <p:cNvPr id="6" name="A    01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2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F5F3EC"/>
                </a:solidFill>
                <a:latin typeface="微软雅黑" panose="020B0503020204020204" charset="-122"/>
                <a:ea typeface="微软雅黑" panose="020B0503020204020204" charset="-122"/>
                <a:cs typeface="微软雅黑" panose="020B0503020204020204" charset="-122"/>
              </a:defRPr>
            </a:pPr>
            <a:r>
              <a:rPr sz="1275" b="0">
                <a:solidFill>
                  <a:srgbClr val="F5F3EC"/>
                </a:solidFill>
                <a:latin typeface="微软雅黑" panose="020B0503020204020204" charset="-122"/>
                <a:ea typeface="微软雅黑" panose="020B0503020204020204" charset="-122"/>
                <a:cs typeface="微软雅黑" panose="020B0503020204020204" charset="-122"/>
              </a:rPr>
              <a:t>A    01 / 08</a:t>
            </a:r>
          </a:p>
        </p:txBody>
      </p:sp>
      <p:sp>
        <p:nvSpPr>
          <p:cNvPr id="8" name="Return when your&#10;input matters."/>
          <p:cNvSpPr>
            <a:spLocks noGrp="1"/>
          </p:cNvSpPr>
          <p:nvPr/>
        </p:nvSpPr>
        <p:spPr>
          <a:xfrm>
            <a:off x="609600" y="4940935"/>
            <a:ext cx="4572000" cy="952500"/>
          </a:xfrm>
          <a:prstGeom prst="rect">
            <a:avLst/>
          </a:prstGeom>
          <a:noFill/>
          <a:ln w="0">
            <a:noFill/>
          </a:ln>
        </p:spPr>
        <p:txBody>
          <a:bodyPr wrap="square" lIns="0" tIns="0" rIns="0" bIns="0" anchor="t">
            <a:noAutofit/>
          </a:bodyPr>
          <a:lstStyle>
            <a:defPPr>
              <a:defRPr sz="27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7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7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7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7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7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7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7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7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7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1600" b="1">
                <a:solidFill>
                  <a:srgbClr val="173F39"/>
                </a:solidFill>
                <a:latin typeface="微软雅黑" panose="020B0503020204020204" charset="-122"/>
                <a:ea typeface="微软雅黑" panose="020B0503020204020204" charset="-122"/>
                <a:cs typeface="微软雅黑" panose="020B0503020204020204" charset="-122"/>
              </a:rPr>
              <a:t>Group 3:</a:t>
            </a:r>
          </a:p>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1600" b="1">
                <a:solidFill>
                  <a:srgbClr val="173F39"/>
                </a:solidFill>
                <a:latin typeface="微软雅黑" panose="020B0503020204020204" charset="-122"/>
                <a:ea typeface="微软雅黑" panose="020B0503020204020204" charset="-122"/>
                <a:cs typeface="微软雅黑" panose="020B0503020204020204" charset="-122"/>
              </a:rPr>
              <a:t>Chi Kit WONG, Haodong XU, Sida ZHANG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10" name="The participation problem"/>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What the 43 records revealed</a:t>
            </a:r>
          </a:p>
        </p:txBody>
      </p:sp>
      <p:sp>
        <p:nvSpPr>
          <p:cNvPr id="2" name="A    02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    02 / 08</a:t>
            </a:r>
          </a:p>
        </p:txBody>
      </p:sp>
      <p:sp>
        <p:nvSpPr>
          <p:cNvPr id="11" name="Starting paper: Enabling Partial Participation in Remote Mee"/>
          <p:cNvSpPr>
            <a:spLocks noGrp="1"/>
          </p:cNvSpPr>
          <p:nvPr/>
        </p:nvSpPr>
        <p:spPr>
          <a:xfrm>
            <a:off x="609600" y="1333500"/>
            <a:ext cx="10972800" cy="342900"/>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Starting paper: Enabling Partial Participation in Remote Meetings</a:t>
            </a:r>
          </a:p>
        </p:txBody>
      </p:sp>
      <p:sp>
        <p:nvSpPr>
          <p:cNvPr id="12" name="ProxyMe, its system, supports meeting updates and participan"/>
          <p:cNvSpPr>
            <a:spLocks noGrp="1"/>
          </p:cNvSpPr>
          <p:nvPr/>
        </p:nvSpPr>
        <p:spPr>
          <a:xfrm>
            <a:off x="609600" y="1724025"/>
            <a:ext cx="10972800" cy="323850"/>
          </a:xfrm>
          <a:prstGeom prst="rect">
            <a:avLst/>
          </a:prstGeom>
          <a:noFill/>
          <a:ln w="0">
            <a:noFill/>
          </a:ln>
        </p:spPr>
        <p:txBody>
          <a:bodyPr wrap="square" lIns="0" tIns="0" rIns="0" bIns="0" anchor="t">
            <a:noAutofit/>
          </a:bodyPr>
          <a:lstStyle>
            <a:defPPr>
              <a:defRPr sz="18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00" b="0">
                <a:solidFill>
                  <a:srgbClr val="617770"/>
                </a:solidFill>
                <a:latin typeface="微软雅黑" panose="020B0503020204020204" charset="-122"/>
                <a:ea typeface="微软雅黑" panose="020B0503020204020204" charset="-122"/>
                <a:cs typeface="微软雅黑" panose="020B0503020204020204" charset="-122"/>
              </a:defRPr>
            </a:pPr>
            <a:r>
              <a:rPr sz="1800" b="0">
                <a:solidFill>
                  <a:srgbClr val="617770"/>
                </a:solidFill>
                <a:latin typeface="微软雅黑" panose="020B0503020204020204" charset="-122"/>
                <a:ea typeface="微软雅黑" panose="020B0503020204020204" charset="-122"/>
                <a:cs typeface="微软雅黑" panose="020B0503020204020204" charset="-122"/>
              </a:rPr>
              <a:t>ProxyMe, its system, supports meeting updates and participant replies.</a:t>
            </a:r>
          </a:p>
        </p:txBody>
      </p:sp>
      <p:sp>
        <p:nvSpPr>
          <p:cNvPr id="13" name="Examples in the records"/>
          <p:cNvSpPr>
            <a:spLocks noGrp="1"/>
          </p:cNvSpPr>
          <p:nvPr/>
        </p:nvSpPr>
        <p:spPr>
          <a:xfrm>
            <a:off x="723900" y="2114550"/>
            <a:ext cx="6191250" cy="276225"/>
          </a:xfrm>
          <a:prstGeom prst="rect">
            <a:avLst/>
          </a:prstGeom>
          <a:noFill/>
          <a:ln w="0">
            <a:noFill/>
          </a:ln>
        </p:spPr>
        <p:txBody>
          <a:bodyPr wrap="square" lIns="0" tIns="0" rIns="0" bIns="0" anchor="t">
            <a:noAutofit/>
          </a:bodyPr>
          <a:lstStyle>
            <a:defPPr>
              <a:defRPr sz="157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57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7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7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7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7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7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7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7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7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617770"/>
                </a:solidFill>
                <a:latin typeface="微软雅黑" panose="020B0503020204020204" charset="-122"/>
                <a:ea typeface="微软雅黑" panose="020B0503020204020204" charset="-122"/>
                <a:cs typeface="微软雅黑" panose="020B0503020204020204" charset="-122"/>
              </a:defRPr>
            </a:pPr>
            <a:r>
              <a:rPr sz="1575" b="1">
                <a:solidFill>
                  <a:srgbClr val="617770"/>
                </a:solidFill>
                <a:latin typeface="微软雅黑" panose="020B0503020204020204" charset="-122"/>
                <a:ea typeface="微软雅黑" panose="020B0503020204020204" charset="-122"/>
                <a:cs typeface="微软雅黑" panose="020B0503020204020204" charset="-122"/>
              </a:rPr>
              <a:t>Examples in the records</a:t>
            </a:r>
          </a:p>
        </p:txBody>
      </p:sp>
      <p:sp>
        <p:nvSpPr>
          <p:cNvPr id="14" name="Design implication"/>
          <p:cNvSpPr>
            <a:spLocks noGrp="1"/>
          </p:cNvSpPr>
          <p:nvPr/>
        </p:nvSpPr>
        <p:spPr>
          <a:xfrm>
            <a:off x="7639050" y="2114550"/>
            <a:ext cx="3733800" cy="276225"/>
          </a:xfrm>
          <a:prstGeom prst="rect">
            <a:avLst/>
          </a:prstGeom>
          <a:noFill/>
          <a:ln w="0">
            <a:noFill/>
          </a:ln>
        </p:spPr>
        <p:txBody>
          <a:bodyPr wrap="square" lIns="0" tIns="0" rIns="0" bIns="0" anchor="t">
            <a:noAutofit/>
          </a:bodyPr>
          <a:lstStyle>
            <a:defPPr>
              <a:defRPr sz="157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57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7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7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7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7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7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7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7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7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617770"/>
                </a:solidFill>
                <a:latin typeface="微软雅黑" panose="020B0503020204020204" charset="-122"/>
                <a:ea typeface="微软雅黑" panose="020B0503020204020204" charset="-122"/>
                <a:cs typeface="微软雅黑" panose="020B0503020204020204" charset="-122"/>
              </a:defRPr>
            </a:pPr>
            <a:r>
              <a:rPr sz="1575" b="1">
                <a:solidFill>
                  <a:srgbClr val="617770"/>
                </a:solidFill>
                <a:latin typeface="微软雅黑" panose="020B0503020204020204" charset="-122"/>
                <a:ea typeface="微软雅黑" panose="020B0503020204020204" charset="-122"/>
                <a:cs typeface="微软雅黑" panose="020B0503020204020204" charset="-122"/>
              </a:rPr>
              <a:t>Design implication</a:t>
            </a:r>
          </a:p>
        </p:txBody>
      </p:sp>
      <p:sp>
        <p:nvSpPr>
          <p:cNvPr id="15" name="Evidence row 0"/>
          <p:cNvSpPr>
            <a:spLocks noGrp="1"/>
          </p:cNvSpPr>
          <p:nvPr/>
        </p:nvSpPr>
        <p:spPr>
          <a:xfrm>
            <a:off x="609600" y="2428875"/>
            <a:ext cx="10972800" cy="638175"/>
          </a:xfrm>
          <a:prstGeom prst="rect">
            <a:avLst/>
          </a:prstGeom>
          <a:solidFill>
            <a:srgbClr val="E7EEE7"/>
          </a:solidFill>
          <a:ln w="0">
            <a:noFill/>
          </a:ln>
        </p:spPr>
        <p:txBody>
          <a:bodyPr/>
          <a:lstStyle/>
          <a:p>
            <a:endParaRPr lang="zh-CN" altLang="en-US"/>
          </a:p>
        </p:txBody>
      </p:sp>
      <p:sp>
        <p:nvSpPr>
          <p:cNvPr id="16" name="R13: Requests were repeated when&#10;attention moved elsewhere."/>
          <p:cNvSpPr>
            <a:spLocks noGrp="1"/>
          </p:cNvSpPr>
          <p:nvPr/>
        </p:nvSpPr>
        <p:spPr>
          <a:xfrm>
            <a:off x="723900" y="247650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R13: Requests were repeated when</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attention moved elsewhere.</a:t>
            </a:r>
          </a:p>
        </p:txBody>
      </p:sp>
      <p:sp>
        <p:nvSpPr>
          <p:cNvPr id="17" name="Catch requests that&#10;need a reply now"/>
          <p:cNvSpPr>
            <a:spLocks noGrp="1"/>
          </p:cNvSpPr>
          <p:nvPr/>
        </p:nvSpPr>
        <p:spPr>
          <a:xfrm>
            <a:off x="7639050" y="247650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Catch requests that</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need a reply now</a:t>
            </a:r>
          </a:p>
        </p:txBody>
      </p:sp>
      <p:sp>
        <p:nvSpPr>
          <p:cNvPr id="18" name="Evidence row 1"/>
          <p:cNvSpPr>
            <a:spLocks noGrp="1"/>
          </p:cNvSpPr>
          <p:nvPr/>
        </p:nvSpPr>
        <p:spPr>
          <a:xfrm>
            <a:off x="609600" y="3133725"/>
            <a:ext cx="10972800" cy="638175"/>
          </a:xfrm>
          <a:prstGeom prst="rect">
            <a:avLst/>
          </a:prstGeom>
          <a:solidFill>
            <a:srgbClr val="F5F3EC"/>
          </a:solidFill>
          <a:ln w="0">
            <a:noFill/>
          </a:ln>
        </p:spPr>
        <p:txBody>
          <a:bodyPr/>
          <a:lstStyle/>
          <a:p>
            <a:endParaRPr lang="zh-CN" altLang="en-US"/>
          </a:p>
        </p:txBody>
      </p:sp>
      <p:sp>
        <p:nvSpPr>
          <p:cNvPr id="19" name="R12: Summaries missed details&#10;the reader needed."/>
          <p:cNvSpPr>
            <a:spLocks noGrp="1"/>
          </p:cNvSpPr>
          <p:nvPr/>
        </p:nvSpPr>
        <p:spPr>
          <a:xfrm>
            <a:off x="723900" y="318135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R12: Summaries missed details</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the reader needed.</a:t>
            </a:r>
          </a:p>
        </p:txBody>
      </p:sp>
      <p:sp>
        <p:nvSpPr>
          <p:cNvPr id="20" name="Show personally&#10;relevant context"/>
          <p:cNvSpPr>
            <a:spLocks noGrp="1"/>
          </p:cNvSpPr>
          <p:nvPr/>
        </p:nvSpPr>
        <p:spPr>
          <a:xfrm>
            <a:off x="7639050" y="318135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Show personally</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relevant context</a:t>
            </a:r>
          </a:p>
        </p:txBody>
      </p:sp>
      <p:sp>
        <p:nvSpPr>
          <p:cNvPr id="21" name="Evidence row 2"/>
          <p:cNvSpPr>
            <a:spLocks noGrp="1"/>
          </p:cNvSpPr>
          <p:nvPr/>
        </p:nvSpPr>
        <p:spPr>
          <a:xfrm>
            <a:off x="609600" y="3838575"/>
            <a:ext cx="10972800" cy="638175"/>
          </a:xfrm>
          <a:prstGeom prst="rect">
            <a:avLst/>
          </a:prstGeom>
          <a:solidFill>
            <a:srgbClr val="E7EEE7"/>
          </a:solidFill>
          <a:ln w="0">
            <a:noFill/>
          </a:ln>
        </p:spPr>
        <p:txBody>
          <a:bodyPr/>
          <a:lstStyle/>
          <a:p>
            <a:endParaRPr lang="zh-CN" altLang="en-US"/>
          </a:p>
        </p:txBody>
      </p:sp>
      <p:sp>
        <p:nvSpPr>
          <p:cNvPr id="22" name="R36 case: A missing detail led&#10;to an unsuitable answer."/>
          <p:cNvSpPr>
            <a:spLocks noGrp="1"/>
          </p:cNvSpPr>
          <p:nvPr/>
        </p:nvSpPr>
        <p:spPr>
          <a:xfrm>
            <a:off x="723900" y="388620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R36 case: A missing detail led</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to an unsuitable answer.</a:t>
            </a:r>
          </a:p>
        </p:txBody>
      </p:sp>
      <p:sp>
        <p:nvSpPr>
          <p:cNvPr id="23" name="Check context&#10;before agreeing"/>
          <p:cNvSpPr>
            <a:spLocks noGrp="1"/>
          </p:cNvSpPr>
          <p:nvPr/>
        </p:nvSpPr>
        <p:spPr>
          <a:xfrm>
            <a:off x="7639050" y="388620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Check context</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before agreeing</a:t>
            </a:r>
          </a:p>
        </p:txBody>
      </p:sp>
      <p:sp>
        <p:nvSpPr>
          <p:cNvPr id="24" name="Evidence row 3"/>
          <p:cNvSpPr>
            <a:spLocks noGrp="1"/>
          </p:cNvSpPr>
          <p:nvPr/>
        </p:nvSpPr>
        <p:spPr>
          <a:xfrm>
            <a:off x="609600" y="4543425"/>
            <a:ext cx="10972800" cy="638175"/>
          </a:xfrm>
          <a:prstGeom prst="rect">
            <a:avLst/>
          </a:prstGeom>
          <a:solidFill>
            <a:srgbClr val="F5F3EC"/>
          </a:solidFill>
          <a:ln w="0">
            <a:noFill/>
          </a:ln>
        </p:spPr>
        <p:txBody>
          <a:bodyPr/>
          <a:lstStyle/>
          <a:p>
            <a:endParaRPr lang="zh-CN" altLang="en-US"/>
          </a:p>
        </p:txBody>
      </p:sp>
      <p:sp>
        <p:nvSpPr>
          <p:cNvPr id="25" name="R11, R39-R41: Summaries, notes&#10;or chat could already be enou"/>
          <p:cNvSpPr>
            <a:spLocks noGrp="1"/>
          </p:cNvSpPr>
          <p:nvPr/>
        </p:nvSpPr>
        <p:spPr>
          <a:xfrm>
            <a:off x="723900" y="459105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R11, R39-R41: Summaries, notes</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or chat could already be enough.</a:t>
            </a:r>
          </a:p>
        </p:txBody>
      </p:sp>
      <p:sp>
        <p:nvSpPr>
          <p:cNvPr id="26" name="Let updates wait&#10;when no action is needed"/>
          <p:cNvSpPr>
            <a:spLocks noGrp="1"/>
          </p:cNvSpPr>
          <p:nvPr/>
        </p:nvSpPr>
        <p:spPr>
          <a:xfrm>
            <a:off x="7639050" y="459105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Let updates wait</a:t>
            </a: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when no action is needed</a:t>
            </a:r>
          </a:p>
        </p:txBody>
      </p:sp>
      <p:sp>
        <p:nvSpPr>
          <p:cNvPr id="27" name="Our question"/>
          <p:cNvSpPr>
            <a:spLocks noGrp="1"/>
          </p:cNvSpPr>
          <p:nvPr/>
        </p:nvSpPr>
        <p:spPr>
          <a:xfrm>
            <a:off x="609600" y="5467350"/>
            <a:ext cx="10972800" cy="285750"/>
          </a:xfrm>
          <a:prstGeom prst="rect">
            <a:avLst/>
          </a:prstGeom>
          <a:noFill/>
          <a:ln w="0">
            <a:noFill/>
          </a:ln>
        </p:spPr>
        <p:txBody>
          <a:bodyPr wrap="square" lIns="0" tIns="0" rIns="0" bIns="0" anchor="t">
            <a:noAutofit/>
          </a:bodyPr>
          <a:lstStyle>
            <a:defPPr>
              <a:defRPr sz="1650"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650"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650"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650"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650"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650"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650"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650"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650"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650"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617770"/>
                </a:solidFill>
                <a:latin typeface="微软雅黑" panose="020B0503020204020204" charset="-122"/>
                <a:ea typeface="微软雅黑" panose="020B0503020204020204" charset="-122"/>
                <a:cs typeface="微软雅黑" panose="020B0503020204020204" charset="-122"/>
              </a:defRPr>
            </a:pPr>
            <a:r>
              <a:rPr sz="1650" b="1">
                <a:solidFill>
                  <a:srgbClr val="617770"/>
                </a:solidFill>
                <a:latin typeface="微软雅黑" panose="020B0503020204020204" charset="-122"/>
                <a:ea typeface="微软雅黑" panose="020B0503020204020204" charset="-122"/>
                <a:cs typeface="微软雅黑" panose="020B0503020204020204" charset="-122"/>
              </a:rPr>
              <a:t>Our question</a:t>
            </a:r>
          </a:p>
        </p:txBody>
      </p:sp>
      <p:sp>
        <p:nvSpPr>
          <p:cNvPr id="28" name="When should someone return, and what do they need to answer "/>
          <p:cNvSpPr>
            <a:spLocks noGrp="1"/>
          </p:cNvSpPr>
          <p:nvPr/>
        </p:nvSpPr>
        <p:spPr>
          <a:xfrm>
            <a:off x="609600" y="5848350"/>
            <a:ext cx="10972800" cy="371475"/>
          </a:xfrm>
          <a:prstGeom prst="rect">
            <a:avLst/>
          </a:prstGeom>
          <a:noFill/>
          <a:ln w="0">
            <a:noFill/>
          </a:ln>
        </p:spPr>
        <p:txBody>
          <a:bodyPr wrap="square" lIns="0" tIns="0" rIns="0" bIns="0" anchor="t">
            <a:noAutofit/>
          </a:bodyPr>
          <a:lstStyle>
            <a:defPPr>
              <a:defRPr sz="195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95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95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95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95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95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95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95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95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95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950" b="1">
                <a:solidFill>
                  <a:srgbClr val="173F39"/>
                </a:solidFill>
                <a:latin typeface="微软雅黑" panose="020B0503020204020204" charset="-122"/>
                <a:ea typeface="微软雅黑" panose="020B0503020204020204" charset="-122"/>
                <a:cs typeface="微软雅黑" panose="020B0503020204020204" charset="-122"/>
              </a:defRPr>
            </a:pPr>
            <a:r>
              <a:rPr sz="1950" b="1">
                <a:solidFill>
                  <a:srgbClr val="173F39"/>
                </a:solidFill>
                <a:latin typeface="微软雅黑" panose="020B0503020204020204" charset="-122"/>
                <a:ea typeface="微软雅黑" panose="020B0503020204020204" charset="-122"/>
                <a:cs typeface="微软雅黑" panose="020B0503020204020204" charset="-122"/>
              </a:rPr>
              <a:t>When should someone return, and what do they need to answer well?</a:t>
            </a:r>
          </a:p>
        </p:txBody>
      </p:sp>
      <p:sp>
        <p:nvSpPr>
          <p:cNvPr id="29" name="Paraphrased examples. Bai, Png &amp; Velloso, CHI 2026. Sources "/>
          <p:cNvSpPr>
            <a:spLocks noGrp="1"/>
          </p:cNvSpPr>
          <p:nvPr/>
        </p:nvSpPr>
        <p:spPr>
          <a:xfrm>
            <a:off x="609600" y="6419850"/>
            <a:ext cx="9525000" cy="23812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Paraphrased examples. Bai, Png &amp; Velloso, CHI 2026. Sources in notes / appendix.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5" name="Formative evidence and design choices"/>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How evidence shaped the prototype</a:t>
            </a:r>
          </a:p>
        </p:txBody>
      </p:sp>
      <p:sp>
        <p:nvSpPr>
          <p:cNvPr id="2" name="B    03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A/B   03 / 08</a:t>
            </a:r>
          </a:p>
        </p:txBody>
      </p:sp>
      <p:graphicFrame>
        <p:nvGraphicFramePr>
          <p:cNvPr id="6" name="表格 5"/>
          <p:cNvGraphicFramePr/>
          <p:nvPr/>
        </p:nvGraphicFramePr>
        <p:xfrm>
          <a:off x="609600" y="1695450"/>
          <a:ext cx="10972800" cy="4286250"/>
        </p:xfrm>
        <a:graphic>
          <a:graphicData uri="http://schemas.openxmlformats.org/drawingml/2006/table">
            <a:tbl>
              <a:tblPr/>
              <a:tblGrid>
                <a:gridCol w="43053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71500">
                <a:tc>
                  <a:txBody>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Evidence from the records</a:t>
                      </a: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Design need</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Current companion function</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extLst>
                  <a:ext uri="{0D108BD9-81ED-4DB2-BD59-A6C34878D82A}">
                    <a16:rowId xmlns:a16="http://schemas.microsoft.com/office/drawing/2014/main" val="10000"/>
                  </a:ext>
                </a:extLst>
              </a:tr>
              <a:tr h="1238250">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R13: Feedback requests needed</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repeating when attention shifted.</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Return when input</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is needed</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Respond now / Later /</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For awareness</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1"/>
                  </a:ext>
                </a:extLst>
              </a:tr>
              <a:tr h="1238250">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R03: What happened? Why me?</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What must I answer?</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R04: Check original wording.</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Recover relevant</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context</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Reason for the request</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and original excerpts</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extLst>
                  <a:ext uri="{0D108BD9-81ED-4DB2-BD59-A6C34878D82A}">
                    <a16:rowId xmlns:a16="http://schemas.microsoft.com/office/drawing/2014/main" val="10002"/>
                  </a:ext>
                </a:extLst>
              </a:tr>
              <a:tr h="1238250">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R36 case: A missing detail</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led to an unsuitable answer.</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R03: Keep reply confirmation.</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Check before</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committing</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Edit and confirm/copy,</a:t>
                      </a: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then send in Tencent Meeting</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3"/>
                  </a:ext>
                </a:extLst>
              </a:tr>
            </a:tbl>
          </a:graphicData>
        </a:graphic>
      </p:graphicFrame>
      <p:sp>
        <p:nvSpPr>
          <p:cNvPr id="7" name="43 exploratory records reviewed for requests, missing contex"/>
          <p:cNvSpPr>
            <a:spLocks noGrp="1"/>
          </p:cNvSpPr>
          <p:nvPr/>
        </p:nvSpPr>
        <p:spPr>
          <a:xfrm>
            <a:off x="609600" y="6115050"/>
            <a:ext cx="9525000" cy="514350"/>
          </a:xfrm>
          <a:prstGeom prst="rect">
            <a:avLst/>
          </a:prstGeom>
          <a:noFill/>
          <a:ln w="0">
            <a:noFill/>
          </a:ln>
        </p:spPr>
        <p:txBody>
          <a:bodyPr wrap="square" lIns="0" tIns="0" rIns="0" bIns="0" anchor="t">
            <a:noAutofit/>
          </a:bodyPr>
          <a:lstStyle>
            <a:defPPr>
              <a:defRPr sz="135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35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35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35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35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35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35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35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35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35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350" b="0">
                <a:solidFill>
                  <a:srgbClr val="617770"/>
                </a:solidFill>
                <a:latin typeface="微软雅黑" panose="020B0503020204020204" charset="-122"/>
                <a:ea typeface="微软雅黑" panose="020B0503020204020204" charset="-122"/>
                <a:cs typeface="微软雅黑" panose="020B0503020204020204" charset="-122"/>
              </a:defRPr>
            </a:pPr>
            <a:r>
              <a:rPr sz="1350" b="0">
                <a:solidFill>
                  <a:srgbClr val="617770"/>
                </a:solidFill>
                <a:latin typeface="微软雅黑" panose="020B0503020204020204" charset="-122"/>
                <a:ea typeface="微软雅黑" panose="020B0503020204020204" charset="-122"/>
                <a:cs typeface="微软雅黑" panose="020B0503020204020204" charset="-122"/>
              </a:rPr>
              <a:t>Method: group requests, missing context and reply risks, then map patterns to needs.</a:t>
            </a:r>
          </a:p>
          <a:p>
            <a:pPr>
              <a:lnSpc>
                <a:spcPct val="112000"/>
              </a:lnSpc>
              <a:buNone/>
              <a:defRPr sz="1350" b="0">
                <a:solidFill>
                  <a:srgbClr val="617770"/>
                </a:solidFill>
                <a:latin typeface="微软雅黑" panose="020B0503020204020204" charset="-122"/>
                <a:ea typeface="微软雅黑" panose="020B0503020204020204" charset="-122"/>
                <a:cs typeface="微软雅黑" panose="020B0503020204020204" charset="-122"/>
              </a:defRPr>
            </a:pPr>
            <a:r>
              <a:rPr sz="1350" b="0">
                <a:solidFill>
                  <a:srgbClr val="617770"/>
                </a:solidFill>
                <a:latin typeface="微软雅黑" panose="020B0503020204020204" charset="-122"/>
                <a:ea typeface="微软雅黑" panose="020B0503020204020204" charset="-122"/>
                <a:cs typeface="微软雅黑" panose="020B0503020204020204" charset="-122"/>
              </a:rPr>
              <a:t>Examples are paraphrased; record IDs connect to the evidence notes.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3F39"/>
        </a:solidFill>
        <a:effectLst/>
      </p:bgPr>
    </p:bg>
    <p:spTree>
      <p:nvGrpSpPr>
        <p:cNvPr id="1" name=""/>
        <p:cNvGrpSpPr/>
        <p:nvPr/>
      </p:nvGrpSpPr>
      <p:grpSpPr>
        <a:xfrm>
          <a:off x="0" y="0"/>
          <a:ext cx="0" cy="0"/>
          <a:chOff x="0" y="0"/>
          <a:chExt cx="0" cy="0"/>
        </a:xfrm>
      </p:grpSpPr>
      <p:sp>
        <p:nvSpPr>
          <p:cNvPr id="17" name="How AI supports the interaction"/>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352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352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352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352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352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352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352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352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352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F5F3EC"/>
                </a:solidFill>
                <a:latin typeface="微软雅黑" panose="020B0503020204020204" charset="-122"/>
                <a:ea typeface="微软雅黑" panose="020B0503020204020204" charset="-122"/>
                <a:cs typeface="微软雅黑" panose="020B0503020204020204" charset="-122"/>
              </a:defRPr>
            </a:pPr>
            <a:r>
              <a:rPr sz="3525" b="1">
                <a:solidFill>
                  <a:srgbClr val="F5F3EC"/>
                </a:solidFill>
                <a:latin typeface="微软雅黑" panose="020B0503020204020204" charset="-122"/>
                <a:ea typeface="微软雅黑" panose="020B0503020204020204" charset="-122"/>
                <a:cs typeface="微软雅黑" panose="020B0503020204020204" charset="-122"/>
              </a:rPr>
              <a:t>Current companion: AI workflow</a:t>
            </a:r>
          </a:p>
        </p:txBody>
      </p:sp>
      <p:sp>
        <p:nvSpPr>
          <p:cNvPr id="2" name="B    04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1275"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B    04 / 08</a:t>
            </a:r>
          </a:p>
        </p:txBody>
      </p:sp>
      <p:sp>
        <p:nvSpPr>
          <p:cNvPr id="3" name="01"/>
          <p:cNvSpPr>
            <a:spLocks noGrp="1"/>
          </p:cNvSpPr>
          <p:nvPr/>
        </p:nvSpPr>
        <p:spPr>
          <a:xfrm>
            <a:off x="6096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01</a:t>
            </a:r>
          </a:p>
        </p:txBody>
      </p:sp>
      <p:sp>
        <p:nvSpPr>
          <p:cNvPr id="4" name="Capture / input"/>
          <p:cNvSpPr>
            <a:spLocks noGrp="1"/>
          </p:cNvSpPr>
          <p:nvPr/>
        </p:nvSpPr>
        <p:spPr>
          <a:xfrm>
            <a:off x="6096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Capture / input</a:t>
            </a:r>
          </a:p>
        </p:txBody>
      </p:sp>
      <p:sp>
        <p:nvSpPr>
          <p:cNvPr id="5" name="Meeting audio or text&#10;Browser speech service"/>
          <p:cNvSpPr>
            <a:spLocks noGrp="1"/>
          </p:cNvSpPr>
          <p:nvPr/>
        </p:nvSpPr>
        <p:spPr>
          <a:xfrm>
            <a:off x="6096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Meeting audio or text</a:t>
            </a: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Browser speech service</a:t>
            </a:r>
          </a:p>
        </p:txBody>
      </p:sp>
      <p:sp>
        <p:nvSpPr>
          <p:cNvPr id="6" name="02"/>
          <p:cNvSpPr>
            <a:spLocks noGrp="1"/>
          </p:cNvSpPr>
          <p:nvPr/>
        </p:nvSpPr>
        <p:spPr>
          <a:xfrm>
            <a:off x="34290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02</a:t>
            </a:r>
          </a:p>
        </p:txBody>
      </p:sp>
      <p:sp>
        <p:nvSpPr>
          <p:cNvPr id="7" name="Interpret"/>
          <p:cNvSpPr>
            <a:spLocks noGrp="1"/>
          </p:cNvSpPr>
          <p:nvPr/>
        </p:nvSpPr>
        <p:spPr>
          <a:xfrm>
            <a:off x="34290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Interpret</a:t>
            </a:r>
          </a:p>
        </p:txBody>
      </p:sp>
      <p:sp>
        <p:nvSpPr>
          <p:cNvPr id="8" name="Role and constraints&#10;Recent transcript"/>
          <p:cNvSpPr>
            <a:spLocks noGrp="1"/>
          </p:cNvSpPr>
          <p:nvPr/>
        </p:nvSpPr>
        <p:spPr>
          <a:xfrm>
            <a:off x="34290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Role and constraints</a:t>
            </a: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Recent transcript</a:t>
            </a:r>
          </a:p>
        </p:txBody>
      </p:sp>
      <p:sp>
        <p:nvSpPr>
          <p:cNvPr id="9" name="03"/>
          <p:cNvSpPr>
            <a:spLocks noGrp="1"/>
          </p:cNvSpPr>
          <p:nvPr/>
        </p:nvSpPr>
        <p:spPr>
          <a:xfrm>
            <a:off x="62484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03</a:t>
            </a:r>
          </a:p>
        </p:txBody>
      </p:sp>
      <p:sp>
        <p:nvSpPr>
          <p:cNvPr id="10" name="DeepSeek"/>
          <p:cNvSpPr>
            <a:spLocks noGrp="1"/>
          </p:cNvSpPr>
          <p:nvPr/>
        </p:nvSpPr>
        <p:spPr>
          <a:xfrm>
            <a:off x="62484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DeepSeek</a:t>
            </a:r>
          </a:p>
        </p:txBody>
      </p:sp>
      <p:sp>
        <p:nvSpPr>
          <p:cNvPr id="11" name="Priority and rationale&#10;Source IDs and draft"/>
          <p:cNvSpPr>
            <a:spLocks noGrp="1"/>
          </p:cNvSpPr>
          <p:nvPr/>
        </p:nvSpPr>
        <p:spPr>
          <a:xfrm>
            <a:off x="62484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Priority and rationale</a:t>
            </a: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Source IDs and draft</a:t>
            </a:r>
          </a:p>
        </p:txBody>
      </p:sp>
      <p:sp>
        <p:nvSpPr>
          <p:cNvPr id="12" name="04"/>
          <p:cNvSpPr>
            <a:spLocks noGrp="1"/>
          </p:cNvSpPr>
          <p:nvPr/>
        </p:nvSpPr>
        <p:spPr>
          <a:xfrm>
            <a:off x="90678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04</a:t>
            </a:r>
          </a:p>
        </p:txBody>
      </p:sp>
      <p:sp>
        <p:nvSpPr>
          <p:cNvPr id="13" name="Participant"/>
          <p:cNvSpPr>
            <a:spLocks noGrp="1"/>
          </p:cNvSpPr>
          <p:nvPr/>
        </p:nvSpPr>
        <p:spPr>
          <a:xfrm>
            <a:off x="90678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Participant</a:t>
            </a:r>
          </a:p>
        </p:txBody>
      </p:sp>
      <p:sp>
        <p:nvSpPr>
          <p:cNvPr id="14" name="Review and edit&#10;Copy, then send in chat"/>
          <p:cNvSpPr>
            <a:spLocks noGrp="1"/>
          </p:cNvSpPr>
          <p:nvPr/>
        </p:nvSpPr>
        <p:spPr>
          <a:xfrm>
            <a:off x="90678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Review and edit</a:t>
            </a: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Copy, then send in chat</a:t>
            </a:r>
          </a:p>
        </p:txBody>
      </p:sp>
      <p:sp>
        <p:nvSpPr>
          <p:cNvPr id="15" name="Automatic analysis follows a short pause in new text."/>
          <p:cNvSpPr>
            <a:spLocks noGrp="1"/>
          </p:cNvSpPr>
          <p:nvPr/>
        </p:nvSpPr>
        <p:spPr>
          <a:xfrm>
            <a:off x="609600" y="5286375"/>
            <a:ext cx="10972800" cy="485775"/>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New text triggers analysis. People check and confirm replies.</a:t>
            </a:r>
          </a:p>
        </p:txBody>
      </p:sp>
      <p:sp>
        <p:nvSpPr>
          <p:cNvPr id="16" name="Local Node companion beside Tencent Meeting. Meeting te"/>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1275"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Local Node companion beside Tencent Meeting. Meeting text and the profile go to DeepSeek.</a:t>
            </a:r>
          </a:p>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AI can miss context. Speech recognition and text analysis are separate services.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C    05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B/C   05 / 08</a:t>
            </a:r>
          </a:p>
        </p:txBody>
      </p:sp>
      <p:sp>
        <p:nvSpPr>
          <p:cNvPr id="3" name="Early prototype: check before replying"/>
          <p:cNvSpPr>
            <a:spLocks noGrp="1"/>
          </p:cNvSpPr>
          <p:nvPr/>
        </p:nvSpPr>
        <p:spPr>
          <a:xfrm>
            <a:off x="609600" y="457200"/>
            <a:ext cx="10972800" cy="628650"/>
          </a:xfrm>
          <a:prstGeom prst="rect">
            <a:avLst/>
          </a:prstGeom>
          <a:noFill/>
          <a:ln w="0">
            <a:noFill/>
          </a:ln>
        </p:spPr>
        <p:txBody>
          <a:bodyPr wrap="square" lIns="0" tIns="0" rIns="0" bIns="0" anchor="t">
            <a:noAutofit/>
          </a:bodyPr>
          <a:lstStyle>
            <a:defPPr>
              <a:defRPr sz="3225" b="1">
                <a:solidFill>
                  <a:srgbClr val="173F39"/>
                </a:solidFill>
                <a:latin typeface="微软雅黑" panose="020B0503020204020204" charset="-122"/>
                <a:ea typeface="微软雅黑" panose="020B0503020204020204" charset="-122"/>
                <a:cs typeface="微软雅黑" panose="020B0503020204020204" charset="-122"/>
              </a:defRPr>
            </a:defPPr>
            <a:lvl1pPr>
              <a:defRPr sz="3225" b="1">
                <a:solidFill>
                  <a:srgbClr val="173F39"/>
                </a:solidFill>
                <a:latin typeface="微软雅黑" panose="020B0503020204020204" charset="-122"/>
                <a:ea typeface="微软雅黑" panose="020B0503020204020204" charset="-122"/>
                <a:cs typeface="微软雅黑" panose="020B0503020204020204" charset="-122"/>
              </a:defRPr>
            </a:lvl1pPr>
            <a:lvl2pPr>
              <a:defRPr sz="3225" b="1">
                <a:solidFill>
                  <a:srgbClr val="173F39"/>
                </a:solidFill>
                <a:latin typeface="微软雅黑" panose="020B0503020204020204" charset="-122"/>
                <a:ea typeface="微软雅黑" panose="020B0503020204020204" charset="-122"/>
                <a:cs typeface="微软雅黑" panose="020B0503020204020204" charset="-122"/>
              </a:defRPr>
            </a:lvl2pPr>
            <a:lvl3pPr>
              <a:defRPr sz="3225" b="1">
                <a:solidFill>
                  <a:srgbClr val="173F39"/>
                </a:solidFill>
                <a:latin typeface="微软雅黑" panose="020B0503020204020204" charset="-122"/>
                <a:ea typeface="微软雅黑" panose="020B0503020204020204" charset="-122"/>
                <a:cs typeface="微软雅黑" panose="020B0503020204020204" charset="-122"/>
              </a:defRPr>
            </a:lvl3pPr>
            <a:lvl4pPr>
              <a:defRPr sz="3225" b="1">
                <a:solidFill>
                  <a:srgbClr val="173F39"/>
                </a:solidFill>
                <a:latin typeface="微软雅黑" panose="020B0503020204020204" charset="-122"/>
                <a:ea typeface="微软雅黑" panose="020B0503020204020204" charset="-122"/>
                <a:cs typeface="微软雅黑" panose="020B0503020204020204" charset="-122"/>
              </a:defRPr>
            </a:lvl4pPr>
            <a:lvl5pPr>
              <a:defRPr sz="3225" b="1">
                <a:solidFill>
                  <a:srgbClr val="173F39"/>
                </a:solidFill>
                <a:latin typeface="微软雅黑" panose="020B0503020204020204" charset="-122"/>
                <a:ea typeface="微软雅黑" panose="020B0503020204020204" charset="-122"/>
                <a:cs typeface="微软雅黑" panose="020B0503020204020204" charset="-122"/>
              </a:defRPr>
            </a:lvl5pPr>
            <a:lvl6pPr>
              <a:defRPr sz="3225" b="1">
                <a:solidFill>
                  <a:srgbClr val="173F39"/>
                </a:solidFill>
                <a:latin typeface="微软雅黑" panose="020B0503020204020204" charset="-122"/>
                <a:ea typeface="微软雅黑" panose="020B0503020204020204" charset="-122"/>
                <a:cs typeface="微软雅黑" panose="020B0503020204020204" charset="-122"/>
              </a:defRPr>
            </a:lvl6pPr>
            <a:lvl7pPr>
              <a:defRPr sz="3225" b="1">
                <a:solidFill>
                  <a:srgbClr val="173F39"/>
                </a:solidFill>
                <a:latin typeface="微软雅黑" panose="020B0503020204020204" charset="-122"/>
                <a:ea typeface="微软雅黑" panose="020B0503020204020204" charset="-122"/>
                <a:cs typeface="微软雅黑" panose="020B0503020204020204" charset="-122"/>
              </a:defRPr>
            </a:lvl7pPr>
            <a:lvl8pPr>
              <a:defRPr sz="3225" b="1">
                <a:solidFill>
                  <a:srgbClr val="173F39"/>
                </a:solidFill>
                <a:latin typeface="微软雅黑" panose="020B0503020204020204" charset="-122"/>
                <a:ea typeface="微软雅黑" panose="020B0503020204020204" charset="-122"/>
                <a:cs typeface="微软雅黑" panose="020B0503020204020204" charset="-122"/>
              </a:defRPr>
            </a:lvl8pPr>
            <a:lvl9pPr>
              <a:defRPr sz="32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225" b="1">
                <a:solidFill>
                  <a:srgbClr val="173F39"/>
                </a:solidFill>
                <a:latin typeface="微软雅黑" panose="020B0503020204020204" charset="-122"/>
                <a:ea typeface="微软雅黑" panose="020B0503020204020204" charset="-122"/>
                <a:cs typeface="微软雅黑" panose="020B0503020204020204" charset="-122"/>
              </a:defRPr>
            </a:pPr>
            <a:r>
              <a:rPr sz="3225" b="1">
                <a:solidFill>
                  <a:srgbClr val="173F39"/>
                </a:solidFill>
                <a:latin typeface="微软雅黑" panose="020B0503020204020204" charset="-122"/>
                <a:ea typeface="微软雅黑" panose="020B0503020204020204" charset="-122"/>
                <a:cs typeface="微软雅黑" panose="020B0503020204020204" charset="-122"/>
              </a:rPr>
              <a:t>Early prototype: check before replying</a:t>
            </a:r>
          </a:p>
        </p:txBody>
      </p:sp>
      <p:sp>
        <p:nvSpPr>
          <p:cNvPr id="4" name="Recorded 16 October 2026. Scripted interaction; English expl"/>
          <p:cNvSpPr>
            <a:spLocks noGrp="1"/>
          </p:cNvSpPr>
          <p:nvPr/>
        </p:nvSpPr>
        <p:spPr>
          <a:xfrm>
            <a:off x="609600" y="1123950"/>
            <a:ext cx="10972800" cy="285750"/>
          </a:xfrm>
          <a:prstGeom prst="rect">
            <a:avLst/>
          </a:prstGeom>
          <a:noFill/>
          <a:ln w="0">
            <a:noFill/>
          </a:ln>
        </p:spPr>
        <p:txBody>
          <a:bodyPr wrap="square" lIns="0" tIns="0" rIns="0" bIns="0" anchor="t">
            <a:noAutofit/>
          </a:bodyPr>
          <a:lstStyle>
            <a:defPPr>
              <a:defRPr sz="1575" b="0">
                <a:solidFill>
                  <a:srgbClr val="617770"/>
                </a:solidFill>
                <a:latin typeface="微软雅黑" panose="020B0503020204020204" charset="-122"/>
                <a:ea typeface="微软雅黑" panose="020B0503020204020204" charset="-122"/>
                <a:cs typeface="微软雅黑" panose="020B0503020204020204" charset="-122"/>
              </a:defRPr>
            </a:defPPr>
            <a:lvl1pPr>
              <a:defRPr sz="1575" b="0">
                <a:solidFill>
                  <a:srgbClr val="617770"/>
                </a:solidFill>
                <a:latin typeface="微软雅黑" panose="020B0503020204020204" charset="-122"/>
                <a:ea typeface="微软雅黑" panose="020B0503020204020204" charset="-122"/>
                <a:cs typeface="微软雅黑" panose="020B0503020204020204" charset="-122"/>
              </a:defRPr>
            </a:lvl1pPr>
            <a:lvl2pPr>
              <a:defRPr sz="1575" b="0">
                <a:solidFill>
                  <a:srgbClr val="617770"/>
                </a:solidFill>
                <a:latin typeface="微软雅黑" panose="020B0503020204020204" charset="-122"/>
                <a:ea typeface="微软雅黑" panose="020B0503020204020204" charset="-122"/>
                <a:cs typeface="微软雅黑" panose="020B0503020204020204" charset="-122"/>
              </a:defRPr>
            </a:lvl2pPr>
            <a:lvl3pPr>
              <a:defRPr sz="1575" b="0">
                <a:solidFill>
                  <a:srgbClr val="617770"/>
                </a:solidFill>
                <a:latin typeface="微软雅黑" panose="020B0503020204020204" charset="-122"/>
                <a:ea typeface="微软雅黑" panose="020B0503020204020204" charset="-122"/>
                <a:cs typeface="微软雅黑" panose="020B0503020204020204" charset="-122"/>
              </a:defRPr>
            </a:lvl3pPr>
            <a:lvl4pPr>
              <a:defRPr sz="1575" b="0">
                <a:solidFill>
                  <a:srgbClr val="617770"/>
                </a:solidFill>
                <a:latin typeface="微软雅黑" panose="020B0503020204020204" charset="-122"/>
                <a:ea typeface="微软雅黑" panose="020B0503020204020204" charset="-122"/>
                <a:cs typeface="微软雅黑" panose="020B0503020204020204" charset="-122"/>
              </a:defRPr>
            </a:lvl4pPr>
            <a:lvl5pPr>
              <a:defRPr sz="1575" b="0">
                <a:solidFill>
                  <a:srgbClr val="617770"/>
                </a:solidFill>
                <a:latin typeface="微软雅黑" panose="020B0503020204020204" charset="-122"/>
                <a:ea typeface="微软雅黑" panose="020B0503020204020204" charset="-122"/>
                <a:cs typeface="微软雅黑" panose="020B0503020204020204" charset="-122"/>
              </a:defRPr>
            </a:lvl5pPr>
            <a:lvl6pPr>
              <a:defRPr sz="1575" b="0">
                <a:solidFill>
                  <a:srgbClr val="617770"/>
                </a:solidFill>
                <a:latin typeface="微软雅黑" panose="020B0503020204020204" charset="-122"/>
                <a:ea typeface="微软雅黑" panose="020B0503020204020204" charset="-122"/>
                <a:cs typeface="微软雅黑" panose="020B0503020204020204" charset="-122"/>
              </a:defRPr>
            </a:lvl6pPr>
            <a:lvl7pPr>
              <a:defRPr sz="1575" b="0">
                <a:solidFill>
                  <a:srgbClr val="617770"/>
                </a:solidFill>
                <a:latin typeface="微软雅黑" panose="020B0503020204020204" charset="-122"/>
                <a:ea typeface="微软雅黑" panose="020B0503020204020204" charset="-122"/>
                <a:cs typeface="微软雅黑" panose="020B0503020204020204" charset="-122"/>
              </a:defRPr>
            </a:lvl7pPr>
            <a:lvl8pPr>
              <a:defRPr sz="1575" b="0">
                <a:solidFill>
                  <a:srgbClr val="617770"/>
                </a:solidFill>
                <a:latin typeface="微软雅黑" panose="020B0503020204020204" charset="-122"/>
                <a:ea typeface="微软雅黑" panose="020B0503020204020204" charset="-122"/>
                <a:cs typeface="微软雅黑" panose="020B0503020204020204" charset="-122"/>
              </a:defRPr>
            </a:lvl8pPr>
            <a:lvl9pPr>
              <a:defRPr sz="15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0">
                <a:solidFill>
                  <a:srgbClr val="617770"/>
                </a:solidFill>
                <a:latin typeface="微软雅黑" panose="020B0503020204020204" charset="-122"/>
                <a:ea typeface="微软雅黑" panose="020B0503020204020204" charset="-122"/>
                <a:cs typeface="微软雅黑" panose="020B0503020204020204" charset="-122"/>
              </a:defRPr>
            </a:pPr>
            <a:r>
              <a:rPr sz="1575" b="0">
                <a:solidFill>
                  <a:srgbClr val="617770"/>
                </a:solidFill>
                <a:latin typeface="微软雅黑" panose="020B0503020204020204" charset="-122"/>
                <a:ea typeface="微软雅黑" panose="020B0503020204020204" charset="-122"/>
                <a:cs typeface="微软雅黑" panose="020B0503020204020204" charset="-122"/>
              </a:rPr>
              <a:t>Recorded 16 October 2026. Scripted interaction; English explanatory captions.</a:t>
            </a:r>
          </a:p>
        </p:txBody>
      </p:sp>
      <p:sp>
        <p:nvSpPr>
          <p:cNvPr id="5" name="DEMO VIDEO PLACEHOLDER 4:3"/>
          <p:cNvSpPr>
            <a:spLocks noGrp="1"/>
          </p:cNvSpPr>
          <p:nvPr/>
        </p:nvSpPr>
        <p:spPr>
          <a:xfrm>
            <a:off x="609600" y="1524000"/>
            <a:ext cx="6339840" cy="4754880"/>
          </a:xfrm>
          <a:prstGeom prst="rect">
            <a:avLst/>
          </a:prstGeom>
          <a:solidFill>
            <a:srgbClr val="E7EEE7"/>
          </a:solidFill>
          <a:ln w="9525">
            <a:solidFill>
              <a:srgbClr val="DCE3DA"/>
            </a:solidFill>
          </a:ln>
        </p:spPr>
        <p:txBody>
          <a:bodyPr wrap="square" lIns="190500" tIns="190500" rIns="190500" bIns="190500" anchor="ctr">
            <a:noAutofit/>
          </a:bodyPr>
          <a:lstStyle>
            <a:defPPr algn="ctr">
              <a:defRPr sz="2550" b="0">
                <a:solidFill>
                  <a:srgbClr val="173F39"/>
                </a:solidFill>
                <a:latin typeface="微软雅黑" panose="020B0503020204020204" charset="-122"/>
                <a:ea typeface="微软雅黑" panose="020B0503020204020204" charset="-122"/>
                <a:cs typeface="微软雅黑" panose="020B0503020204020204" charset="-122"/>
              </a:defRPr>
            </a:defPPr>
            <a:lvl1pPr algn="ctr">
              <a:defRPr sz="2550" b="0">
                <a:solidFill>
                  <a:srgbClr val="173F39"/>
                </a:solidFill>
                <a:latin typeface="微软雅黑" panose="020B0503020204020204" charset="-122"/>
                <a:ea typeface="微软雅黑" panose="020B0503020204020204" charset="-122"/>
                <a:cs typeface="微软雅黑" panose="020B0503020204020204" charset="-122"/>
              </a:defRPr>
            </a:lvl1pPr>
            <a:lvl2pPr algn="ctr">
              <a:defRPr sz="2550" b="0">
                <a:solidFill>
                  <a:srgbClr val="173F39"/>
                </a:solidFill>
                <a:latin typeface="微软雅黑" panose="020B0503020204020204" charset="-122"/>
                <a:ea typeface="微软雅黑" panose="020B0503020204020204" charset="-122"/>
                <a:cs typeface="微软雅黑" panose="020B0503020204020204" charset="-122"/>
              </a:defRPr>
            </a:lvl2pPr>
            <a:lvl3pPr algn="ctr">
              <a:defRPr sz="2550" b="0">
                <a:solidFill>
                  <a:srgbClr val="173F39"/>
                </a:solidFill>
                <a:latin typeface="微软雅黑" panose="020B0503020204020204" charset="-122"/>
                <a:ea typeface="微软雅黑" panose="020B0503020204020204" charset="-122"/>
                <a:cs typeface="微软雅黑" panose="020B0503020204020204" charset="-122"/>
              </a:defRPr>
            </a:lvl3pPr>
            <a:lvl4pPr algn="ctr">
              <a:defRPr sz="2550" b="0">
                <a:solidFill>
                  <a:srgbClr val="173F39"/>
                </a:solidFill>
                <a:latin typeface="微软雅黑" panose="020B0503020204020204" charset="-122"/>
                <a:ea typeface="微软雅黑" panose="020B0503020204020204" charset="-122"/>
                <a:cs typeface="微软雅黑" panose="020B0503020204020204" charset="-122"/>
              </a:defRPr>
            </a:lvl4pPr>
            <a:lvl5pPr algn="ctr">
              <a:defRPr sz="2550" b="0">
                <a:solidFill>
                  <a:srgbClr val="173F39"/>
                </a:solidFill>
                <a:latin typeface="微软雅黑" panose="020B0503020204020204" charset="-122"/>
                <a:ea typeface="微软雅黑" panose="020B0503020204020204" charset="-122"/>
                <a:cs typeface="微软雅黑" panose="020B0503020204020204" charset="-122"/>
              </a:defRPr>
            </a:lvl5pPr>
            <a:lvl6pPr algn="ctr">
              <a:defRPr sz="2550" b="0">
                <a:solidFill>
                  <a:srgbClr val="173F39"/>
                </a:solidFill>
                <a:latin typeface="微软雅黑" panose="020B0503020204020204" charset="-122"/>
                <a:ea typeface="微软雅黑" panose="020B0503020204020204" charset="-122"/>
                <a:cs typeface="微软雅黑" panose="020B0503020204020204" charset="-122"/>
              </a:defRPr>
            </a:lvl6pPr>
            <a:lvl7pPr algn="ctr">
              <a:defRPr sz="2550" b="0">
                <a:solidFill>
                  <a:srgbClr val="173F39"/>
                </a:solidFill>
                <a:latin typeface="微软雅黑" panose="020B0503020204020204" charset="-122"/>
                <a:ea typeface="微软雅黑" panose="020B0503020204020204" charset="-122"/>
                <a:cs typeface="微软雅黑" panose="020B0503020204020204" charset="-122"/>
              </a:defRPr>
            </a:lvl7pPr>
            <a:lvl8pPr algn="ctr">
              <a:defRPr sz="2550" b="0">
                <a:solidFill>
                  <a:srgbClr val="173F39"/>
                </a:solidFill>
                <a:latin typeface="微软雅黑" panose="020B0503020204020204" charset="-122"/>
                <a:ea typeface="微软雅黑" panose="020B0503020204020204" charset="-122"/>
                <a:cs typeface="微软雅黑" panose="020B0503020204020204" charset="-122"/>
              </a:defRPr>
            </a:lvl8pPr>
            <a:lvl9pPr algn="ctr">
              <a:defRPr sz="2550" b="0">
                <a:solidFill>
                  <a:srgbClr val="173F39"/>
                </a:solidFill>
                <a:latin typeface="微软雅黑" panose="020B0503020204020204" charset="-122"/>
                <a:ea typeface="微软雅黑" panose="020B0503020204020204" charset="-122"/>
                <a:cs typeface="微软雅黑" panose="020B0503020204020204" charset="-122"/>
              </a:defRPr>
            </a:lvl9pPr>
          </a:lstStyle>
          <a:p>
            <a:pPr algn="ctr">
              <a:lnSpc>
                <a:spcPct val="130000"/>
              </a:lnSpc>
              <a:buNone/>
              <a:defRPr sz="2550" b="0">
                <a:solidFill>
                  <a:srgbClr val="173F39"/>
                </a:solidFill>
                <a:latin typeface="微软雅黑" panose="020B0503020204020204" charset="-122"/>
                <a:ea typeface="微软雅黑" panose="020B0503020204020204" charset="-122"/>
                <a:cs typeface="微软雅黑" panose="020B0503020204020204" charset="-122"/>
              </a:defRPr>
            </a:pPr>
            <a:r>
              <a:rPr sz="2550" b="0">
                <a:solidFill>
                  <a:srgbClr val="173F39"/>
                </a:solidFill>
                <a:latin typeface="微软雅黑" panose="020B0503020204020204" charset="-122"/>
                <a:ea typeface="微软雅黑" panose="020B0503020204020204" charset="-122"/>
                <a:cs typeface="微软雅黑" panose="020B0503020204020204" charset="-122"/>
              </a:rPr>
              <a:t>64-second recording</a:t>
            </a:r>
          </a:p>
          <a:p>
            <a:pPr algn="ctr">
              <a:lnSpc>
                <a:spcPct val="130000"/>
              </a:lnSpc>
              <a:buNone/>
              <a:defRPr sz="2550" b="0">
                <a:solidFill>
                  <a:srgbClr val="173F39"/>
                </a:solidFill>
                <a:latin typeface="微软雅黑" panose="020B0503020204020204" charset="-122"/>
                <a:ea typeface="微软雅黑" panose="020B0503020204020204" charset="-122"/>
                <a:cs typeface="微软雅黑" panose="020B0503020204020204" charset="-122"/>
              </a:defRPr>
            </a:pPr>
            <a:r>
              <a:rPr sz="2550" b="0">
                <a:solidFill>
                  <a:srgbClr val="173F39"/>
                </a:solidFill>
                <a:latin typeface="微软雅黑" panose="020B0503020204020204" charset="-122"/>
                <a:ea typeface="微软雅黑" panose="020B0503020204020204" charset="-122"/>
                <a:cs typeface="微软雅黑" panose="020B0503020204020204" charset="-122"/>
              </a:rPr>
              <a:t>English captions</a:t>
            </a:r>
          </a:p>
          <a:p>
            <a:pPr algn="ctr">
              <a:lnSpc>
                <a:spcPct val="130000"/>
              </a:lnSpc>
              <a:buNone/>
              <a:defRPr sz="2550" b="0">
                <a:solidFill>
                  <a:srgbClr val="173F39"/>
                </a:solidFill>
                <a:latin typeface="微软雅黑" panose="020B0503020204020204" charset="-122"/>
                <a:ea typeface="微软雅黑" panose="020B0503020204020204" charset="-122"/>
                <a:cs typeface="微软雅黑" panose="020B0503020204020204" charset="-122"/>
              </a:defRPr>
            </a:pPr>
            <a:r>
              <a:rPr sz="2550" b="0">
                <a:solidFill>
                  <a:srgbClr val="173F39"/>
                </a:solidFill>
                <a:latin typeface="微软雅黑" panose="020B0503020204020204" charset="-122"/>
                <a:ea typeface="微软雅黑" panose="020B0503020204020204" charset="-122"/>
                <a:cs typeface="微软雅黑" panose="020B0503020204020204" charset="-122"/>
              </a:rPr>
              <a:t>4:3 video</a:t>
            </a:r>
          </a:p>
        </p:txBody>
      </p:sp>
      <p:sp>
        <p:nvSpPr>
          <p:cNvPr id="6" name="What to watch"/>
          <p:cNvSpPr>
            <a:spLocks noGrp="1"/>
          </p:cNvSpPr>
          <p:nvPr/>
        </p:nvSpPr>
        <p:spPr>
          <a:xfrm>
            <a:off x="7381875" y="1809750"/>
            <a:ext cx="4200525" cy="447675"/>
          </a:xfrm>
          <a:prstGeom prst="rect">
            <a:avLst/>
          </a:prstGeom>
          <a:noFill/>
          <a:ln w="0">
            <a:noFill/>
          </a:ln>
        </p:spPr>
        <p:txBody>
          <a:bodyPr wrap="square" lIns="0" tIns="0" rIns="0" bIns="0" anchor="t">
            <a:noAutofit/>
          </a:bodyPr>
          <a:lstStyle>
            <a:defPPr>
              <a:defRPr sz="2325" b="1">
                <a:solidFill>
                  <a:srgbClr val="173F39"/>
                </a:solidFill>
                <a:latin typeface="微软雅黑" panose="020B0503020204020204" charset="-122"/>
                <a:ea typeface="微软雅黑" panose="020B0503020204020204" charset="-122"/>
                <a:cs typeface="微软雅黑" panose="020B0503020204020204" charset="-122"/>
              </a:defRPr>
            </a:defPPr>
            <a:lvl1pPr>
              <a:defRPr sz="2325" b="1">
                <a:solidFill>
                  <a:srgbClr val="173F39"/>
                </a:solidFill>
                <a:latin typeface="微软雅黑" panose="020B0503020204020204" charset="-122"/>
                <a:ea typeface="微软雅黑" panose="020B0503020204020204" charset="-122"/>
                <a:cs typeface="微软雅黑" panose="020B0503020204020204" charset="-122"/>
              </a:defRPr>
            </a:lvl1pPr>
            <a:lvl2pPr>
              <a:defRPr sz="2325" b="1">
                <a:solidFill>
                  <a:srgbClr val="173F39"/>
                </a:solidFill>
                <a:latin typeface="微软雅黑" panose="020B0503020204020204" charset="-122"/>
                <a:ea typeface="微软雅黑" panose="020B0503020204020204" charset="-122"/>
                <a:cs typeface="微软雅黑" panose="020B0503020204020204" charset="-122"/>
              </a:defRPr>
            </a:lvl2pPr>
            <a:lvl3pPr>
              <a:defRPr sz="2325" b="1">
                <a:solidFill>
                  <a:srgbClr val="173F39"/>
                </a:solidFill>
                <a:latin typeface="微软雅黑" panose="020B0503020204020204" charset="-122"/>
                <a:ea typeface="微软雅黑" panose="020B0503020204020204" charset="-122"/>
                <a:cs typeface="微软雅黑" panose="020B0503020204020204" charset="-122"/>
              </a:defRPr>
            </a:lvl3pPr>
            <a:lvl4pPr>
              <a:defRPr sz="2325" b="1">
                <a:solidFill>
                  <a:srgbClr val="173F39"/>
                </a:solidFill>
                <a:latin typeface="微软雅黑" panose="020B0503020204020204" charset="-122"/>
                <a:ea typeface="微软雅黑" panose="020B0503020204020204" charset="-122"/>
                <a:cs typeface="微软雅黑" panose="020B0503020204020204" charset="-122"/>
              </a:defRPr>
            </a:lvl4pPr>
            <a:lvl5pPr>
              <a:defRPr sz="2325" b="1">
                <a:solidFill>
                  <a:srgbClr val="173F39"/>
                </a:solidFill>
                <a:latin typeface="微软雅黑" panose="020B0503020204020204" charset="-122"/>
                <a:ea typeface="微软雅黑" panose="020B0503020204020204" charset="-122"/>
                <a:cs typeface="微软雅黑" panose="020B0503020204020204" charset="-122"/>
              </a:defRPr>
            </a:lvl5pPr>
            <a:lvl6pPr>
              <a:defRPr sz="2325" b="1">
                <a:solidFill>
                  <a:srgbClr val="173F39"/>
                </a:solidFill>
                <a:latin typeface="微软雅黑" panose="020B0503020204020204" charset="-122"/>
                <a:ea typeface="微软雅黑" panose="020B0503020204020204" charset="-122"/>
                <a:cs typeface="微软雅黑" panose="020B0503020204020204" charset="-122"/>
              </a:defRPr>
            </a:lvl6pPr>
            <a:lvl7pPr>
              <a:defRPr sz="2325" b="1">
                <a:solidFill>
                  <a:srgbClr val="173F39"/>
                </a:solidFill>
                <a:latin typeface="微软雅黑" panose="020B0503020204020204" charset="-122"/>
                <a:ea typeface="微软雅黑" panose="020B0503020204020204" charset="-122"/>
                <a:cs typeface="微软雅黑" panose="020B0503020204020204" charset="-122"/>
              </a:defRPr>
            </a:lvl7pPr>
            <a:lvl8pPr>
              <a:defRPr sz="2325" b="1">
                <a:solidFill>
                  <a:srgbClr val="173F39"/>
                </a:solidFill>
                <a:latin typeface="微软雅黑" panose="020B0503020204020204" charset="-122"/>
                <a:ea typeface="微软雅黑" panose="020B0503020204020204" charset="-122"/>
                <a:cs typeface="微软雅黑" panose="020B0503020204020204" charset="-122"/>
              </a:defRPr>
            </a:lvl8pPr>
            <a:lvl9pPr>
              <a:defRPr sz="23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173F39"/>
                </a:solidFill>
                <a:latin typeface="微软雅黑" panose="020B0503020204020204" charset="-122"/>
                <a:ea typeface="微软雅黑" panose="020B0503020204020204" charset="-122"/>
                <a:cs typeface="微软雅黑" panose="020B0503020204020204" charset="-122"/>
              </a:defRPr>
            </a:pPr>
            <a:r>
              <a:rPr sz="2325" b="1">
                <a:solidFill>
                  <a:srgbClr val="173F39"/>
                </a:solidFill>
                <a:latin typeface="微软雅黑" panose="020B0503020204020204" charset="-122"/>
                <a:ea typeface="微软雅黑" panose="020B0503020204020204" charset="-122"/>
                <a:cs typeface="微软雅黑" panose="020B0503020204020204" charset="-122"/>
              </a:rPr>
              <a:t>What to watch</a:t>
            </a:r>
          </a:p>
        </p:txBody>
      </p:sp>
      <p:sp>
        <p:nvSpPr>
          <p:cNvPr id="7" name="1  Judge role relevance&#10;&#10;2  Recover recent context&#10;&#10;3  Check"/>
          <p:cNvSpPr>
            <a:spLocks noGrp="1"/>
          </p:cNvSpPr>
          <p:nvPr/>
        </p:nvSpPr>
        <p:spPr>
          <a:xfrm>
            <a:off x="7381875" y="2543175"/>
            <a:ext cx="4200525" cy="2667000"/>
          </a:xfrm>
          <a:prstGeom prst="rect">
            <a:avLst/>
          </a:prstGeom>
          <a:noFill/>
          <a:ln w="0">
            <a:noFill/>
          </a:ln>
        </p:spPr>
        <p:txBody>
          <a:bodyPr wrap="square" lIns="0" tIns="0" rIns="0" bIns="0" anchor="t">
            <a:noAutofit/>
          </a:bodyPr>
          <a:lstStyle>
            <a:defPPr>
              <a:defRPr sz="1875" b="0">
                <a:solidFill>
                  <a:srgbClr val="173F39"/>
                </a:solidFill>
                <a:latin typeface="微软雅黑" panose="020B0503020204020204" charset="-122"/>
                <a:ea typeface="微软雅黑" panose="020B0503020204020204" charset="-122"/>
                <a:cs typeface="微软雅黑" panose="020B0503020204020204" charset="-122"/>
              </a:defRPr>
            </a:defPPr>
            <a:lvl1pPr>
              <a:defRPr sz="1875" b="0">
                <a:solidFill>
                  <a:srgbClr val="173F39"/>
                </a:solidFill>
                <a:latin typeface="微软雅黑" panose="020B0503020204020204" charset="-122"/>
                <a:ea typeface="微软雅黑" panose="020B0503020204020204" charset="-122"/>
                <a:cs typeface="微软雅黑" panose="020B0503020204020204" charset="-122"/>
              </a:defRPr>
            </a:lvl1pPr>
            <a:lvl2pPr>
              <a:defRPr sz="1875" b="0">
                <a:solidFill>
                  <a:srgbClr val="173F39"/>
                </a:solidFill>
                <a:latin typeface="微软雅黑" panose="020B0503020204020204" charset="-122"/>
                <a:ea typeface="微软雅黑" panose="020B0503020204020204" charset="-122"/>
                <a:cs typeface="微软雅黑" panose="020B0503020204020204" charset="-122"/>
              </a:defRPr>
            </a:lvl2pPr>
            <a:lvl3pPr>
              <a:defRPr sz="1875" b="0">
                <a:solidFill>
                  <a:srgbClr val="173F39"/>
                </a:solidFill>
                <a:latin typeface="微软雅黑" panose="020B0503020204020204" charset="-122"/>
                <a:ea typeface="微软雅黑" panose="020B0503020204020204" charset="-122"/>
                <a:cs typeface="微软雅黑" panose="020B0503020204020204" charset="-122"/>
              </a:defRPr>
            </a:lvl3pPr>
            <a:lvl4pPr>
              <a:defRPr sz="1875" b="0">
                <a:solidFill>
                  <a:srgbClr val="173F39"/>
                </a:solidFill>
                <a:latin typeface="微软雅黑" panose="020B0503020204020204" charset="-122"/>
                <a:ea typeface="微软雅黑" panose="020B0503020204020204" charset="-122"/>
                <a:cs typeface="微软雅黑" panose="020B0503020204020204" charset="-122"/>
              </a:defRPr>
            </a:lvl4pPr>
            <a:lvl5pPr>
              <a:defRPr sz="1875" b="0">
                <a:solidFill>
                  <a:srgbClr val="173F39"/>
                </a:solidFill>
                <a:latin typeface="微软雅黑" panose="020B0503020204020204" charset="-122"/>
                <a:ea typeface="微软雅黑" panose="020B0503020204020204" charset="-122"/>
                <a:cs typeface="微软雅黑" panose="020B0503020204020204" charset="-122"/>
              </a:defRPr>
            </a:lvl5pPr>
            <a:lvl6pPr>
              <a:defRPr sz="1875" b="0">
                <a:solidFill>
                  <a:srgbClr val="173F39"/>
                </a:solidFill>
                <a:latin typeface="微软雅黑" panose="020B0503020204020204" charset="-122"/>
                <a:ea typeface="微软雅黑" panose="020B0503020204020204" charset="-122"/>
                <a:cs typeface="微软雅黑" panose="020B0503020204020204" charset="-122"/>
              </a:defRPr>
            </a:lvl6pPr>
            <a:lvl7pPr>
              <a:defRPr sz="1875" b="0">
                <a:solidFill>
                  <a:srgbClr val="173F39"/>
                </a:solidFill>
                <a:latin typeface="微软雅黑" panose="020B0503020204020204" charset="-122"/>
                <a:ea typeface="微软雅黑" panose="020B0503020204020204" charset="-122"/>
                <a:cs typeface="微软雅黑" panose="020B0503020204020204" charset="-122"/>
              </a:defRPr>
            </a:lvl7pPr>
            <a:lvl8pPr>
              <a:defRPr sz="1875" b="0">
                <a:solidFill>
                  <a:srgbClr val="173F39"/>
                </a:solidFill>
                <a:latin typeface="微软雅黑" panose="020B0503020204020204" charset="-122"/>
                <a:ea typeface="微软雅黑" panose="020B0503020204020204" charset="-122"/>
                <a:cs typeface="微软雅黑" panose="020B0503020204020204" charset="-122"/>
              </a:defRPr>
            </a:lvl8pPr>
            <a:lvl9pPr>
              <a:defRPr sz="187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1  Judge role relevance</a:t>
            </a:r>
          </a:p>
          <a:p>
            <a:endParaRPr sz="1875"/>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2  Recover recent context</a:t>
            </a:r>
          </a:p>
          <a:p>
            <a:endParaRPr sz="1875"/>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3  Check the original request</a:t>
            </a:r>
          </a:p>
          <a:p>
            <a:endParaRPr sz="1875"/>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4  Edit and confirm locally</a:t>
            </a:r>
          </a:p>
        </p:txBody>
      </p:sp>
      <p:sp>
        <p:nvSpPr>
          <p:cNvPr id="8" name="This recording uses preset&#10;meeting events and drafts.&#10;Replie"/>
          <p:cNvSpPr>
            <a:spLocks noGrp="1"/>
          </p:cNvSpPr>
          <p:nvPr/>
        </p:nvSpPr>
        <p:spPr>
          <a:xfrm>
            <a:off x="7381875" y="5391150"/>
            <a:ext cx="4200525" cy="876300"/>
          </a:xfrm>
          <a:prstGeom prst="rect">
            <a:avLst/>
          </a:prstGeom>
          <a:noFill/>
          <a:ln w="0">
            <a:noFill/>
          </a:ln>
        </p:spPr>
        <p:txBody>
          <a:bodyPr wrap="square" lIns="0" tIns="0" rIns="0" bIns="0" anchor="t">
            <a:noAutofit/>
          </a:bodyPr>
          <a:lstStyle>
            <a:defPPr>
              <a:defRPr sz="1650" b="0">
                <a:solidFill>
                  <a:srgbClr val="617770"/>
                </a:solidFill>
                <a:latin typeface="微软雅黑" panose="020B0503020204020204" charset="-122"/>
                <a:ea typeface="微软雅黑" panose="020B0503020204020204" charset="-122"/>
                <a:cs typeface="微软雅黑" panose="020B0503020204020204" charset="-122"/>
              </a:defRPr>
            </a:defPPr>
            <a:lvl1pPr>
              <a:defRPr sz="1650" b="0">
                <a:solidFill>
                  <a:srgbClr val="617770"/>
                </a:solidFill>
                <a:latin typeface="微软雅黑" panose="020B0503020204020204" charset="-122"/>
                <a:ea typeface="微软雅黑" panose="020B0503020204020204" charset="-122"/>
                <a:cs typeface="微软雅黑" panose="020B0503020204020204" charset="-122"/>
              </a:defRPr>
            </a:lvl1pPr>
            <a:lvl2pPr>
              <a:defRPr sz="1650" b="0">
                <a:solidFill>
                  <a:srgbClr val="617770"/>
                </a:solidFill>
                <a:latin typeface="微软雅黑" panose="020B0503020204020204" charset="-122"/>
                <a:ea typeface="微软雅黑" panose="020B0503020204020204" charset="-122"/>
                <a:cs typeface="微软雅黑" panose="020B0503020204020204" charset="-122"/>
              </a:defRPr>
            </a:lvl2pPr>
            <a:lvl3pPr>
              <a:defRPr sz="1650" b="0">
                <a:solidFill>
                  <a:srgbClr val="617770"/>
                </a:solidFill>
                <a:latin typeface="微软雅黑" panose="020B0503020204020204" charset="-122"/>
                <a:ea typeface="微软雅黑" panose="020B0503020204020204" charset="-122"/>
                <a:cs typeface="微软雅黑" panose="020B0503020204020204" charset="-122"/>
              </a:defRPr>
            </a:lvl3pPr>
            <a:lvl4pPr>
              <a:defRPr sz="1650" b="0">
                <a:solidFill>
                  <a:srgbClr val="617770"/>
                </a:solidFill>
                <a:latin typeface="微软雅黑" panose="020B0503020204020204" charset="-122"/>
                <a:ea typeface="微软雅黑" panose="020B0503020204020204" charset="-122"/>
                <a:cs typeface="微软雅黑" panose="020B0503020204020204" charset="-122"/>
              </a:defRPr>
            </a:lvl4pPr>
            <a:lvl5pPr>
              <a:defRPr sz="1650" b="0">
                <a:solidFill>
                  <a:srgbClr val="617770"/>
                </a:solidFill>
                <a:latin typeface="微软雅黑" panose="020B0503020204020204" charset="-122"/>
                <a:ea typeface="微软雅黑" panose="020B0503020204020204" charset="-122"/>
                <a:cs typeface="微软雅黑" panose="020B0503020204020204" charset="-122"/>
              </a:defRPr>
            </a:lvl5pPr>
            <a:lvl6pPr>
              <a:defRPr sz="1650" b="0">
                <a:solidFill>
                  <a:srgbClr val="617770"/>
                </a:solidFill>
                <a:latin typeface="微软雅黑" panose="020B0503020204020204" charset="-122"/>
                <a:ea typeface="微软雅黑" panose="020B0503020204020204" charset="-122"/>
                <a:cs typeface="微软雅黑" panose="020B0503020204020204" charset="-122"/>
              </a:defRPr>
            </a:lvl6pPr>
            <a:lvl7pPr>
              <a:defRPr sz="1650" b="0">
                <a:solidFill>
                  <a:srgbClr val="617770"/>
                </a:solidFill>
                <a:latin typeface="微软雅黑" panose="020B0503020204020204" charset="-122"/>
                <a:ea typeface="微软雅黑" panose="020B0503020204020204" charset="-122"/>
                <a:cs typeface="微软雅黑" panose="020B0503020204020204" charset="-122"/>
              </a:defRPr>
            </a:lvl7pPr>
            <a:lvl8pPr>
              <a:defRPr sz="1650" b="0">
                <a:solidFill>
                  <a:srgbClr val="617770"/>
                </a:solidFill>
                <a:latin typeface="微软雅黑" panose="020B0503020204020204" charset="-122"/>
                <a:ea typeface="微软雅黑" panose="020B0503020204020204" charset="-122"/>
                <a:cs typeface="微软雅黑" panose="020B0503020204020204" charset="-122"/>
              </a:defRPr>
            </a:lvl8pPr>
            <a:lvl9pPr>
              <a:defRPr sz="165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0">
                <a:solidFill>
                  <a:srgbClr val="617770"/>
                </a:solidFill>
                <a:latin typeface="微软雅黑" panose="020B0503020204020204" charset="-122"/>
                <a:ea typeface="微软雅黑" panose="020B0503020204020204" charset="-122"/>
                <a:cs typeface="微软雅黑" panose="020B0503020204020204" charset="-122"/>
              </a:defRPr>
            </a:pPr>
            <a:r>
              <a:rPr sz="1650" b="0">
                <a:solidFill>
                  <a:srgbClr val="617770"/>
                </a:solidFill>
                <a:latin typeface="微软雅黑" panose="020B0503020204020204" charset="-122"/>
                <a:ea typeface="微软雅黑" panose="020B0503020204020204" charset="-122"/>
                <a:cs typeface="微软雅黑" panose="020B0503020204020204" charset="-122"/>
              </a:rPr>
              <a:t>This recording uses preset</a:t>
            </a:r>
          </a:p>
          <a:p>
            <a:pPr>
              <a:lnSpc>
                <a:spcPct val="112000"/>
              </a:lnSpc>
              <a:buNone/>
              <a:defRPr sz="1650" b="0">
                <a:solidFill>
                  <a:srgbClr val="617770"/>
                </a:solidFill>
                <a:latin typeface="微软雅黑" panose="020B0503020204020204" charset="-122"/>
                <a:ea typeface="微软雅黑" panose="020B0503020204020204" charset="-122"/>
                <a:cs typeface="微软雅黑" panose="020B0503020204020204" charset="-122"/>
              </a:defRPr>
            </a:pPr>
            <a:r>
              <a:rPr sz="1650" b="0">
                <a:solidFill>
                  <a:srgbClr val="617770"/>
                </a:solidFill>
                <a:latin typeface="微软雅黑" panose="020B0503020204020204" charset="-122"/>
                <a:ea typeface="微软雅黑" panose="020B0503020204020204" charset="-122"/>
                <a:cs typeface="微软雅黑" panose="020B0503020204020204" charset="-122"/>
              </a:rPr>
              <a:t>meeting events and drafts.</a:t>
            </a:r>
          </a:p>
          <a:p>
            <a:pPr>
              <a:lnSpc>
                <a:spcPct val="112000"/>
              </a:lnSpc>
              <a:buNone/>
              <a:defRPr sz="1650" b="0">
                <a:solidFill>
                  <a:srgbClr val="617770"/>
                </a:solidFill>
                <a:latin typeface="微软雅黑" panose="020B0503020204020204" charset="-122"/>
                <a:ea typeface="微软雅黑" panose="020B0503020204020204" charset="-122"/>
                <a:cs typeface="微软雅黑" panose="020B0503020204020204" charset="-122"/>
              </a:defRPr>
            </a:pPr>
            <a:r>
              <a:rPr sz="1650" b="0">
                <a:solidFill>
                  <a:srgbClr val="617770"/>
                </a:solidFill>
                <a:latin typeface="微软雅黑" panose="020B0503020204020204" charset="-122"/>
                <a:ea typeface="微软雅黑" panose="020B0503020204020204" charset="-122"/>
                <a:cs typeface="微软雅黑" panose="020B0503020204020204" charset="-122"/>
              </a:rPr>
              <a:t>Replies remain in the prototype.</a:t>
            </a:r>
          </a:p>
        </p:txBody>
      </p:sp>
      <p:sp>
        <p:nvSpPr>
          <p:cNvPr id="9" name="The live AI workflow and its later review appear on slides 4"/>
          <p:cNvSpPr>
            <a:spLocks noGrp="1"/>
          </p:cNvSpPr>
          <p:nvPr/>
        </p:nvSpPr>
        <p:spPr>
          <a:xfrm>
            <a:off x="609600" y="6419850"/>
            <a:ext cx="966787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defRPr sz="1275" b="0">
                <a:solidFill>
                  <a:srgbClr val="617770"/>
                </a:solidFill>
                <a:latin typeface="微软雅黑" panose="020B0503020204020204" charset="-122"/>
                <a:ea typeface="微软雅黑" panose="020B0503020204020204" charset="-122"/>
                <a:cs typeface="微软雅黑" panose="020B0503020204020204" charset="-122"/>
              </a:defRPr>
            </a:lvl1pPr>
            <a:lvl2pPr>
              <a:defRPr sz="1275" b="0">
                <a:solidFill>
                  <a:srgbClr val="617770"/>
                </a:solidFill>
                <a:latin typeface="微软雅黑" panose="020B0503020204020204" charset="-122"/>
                <a:ea typeface="微软雅黑" panose="020B0503020204020204" charset="-122"/>
                <a:cs typeface="微软雅黑" panose="020B0503020204020204" charset="-122"/>
              </a:defRPr>
            </a:lvl2pPr>
            <a:lvl3pPr>
              <a:defRPr sz="1275" b="0">
                <a:solidFill>
                  <a:srgbClr val="617770"/>
                </a:solidFill>
                <a:latin typeface="微软雅黑" panose="020B0503020204020204" charset="-122"/>
                <a:ea typeface="微软雅黑" panose="020B0503020204020204" charset="-122"/>
                <a:cs typeface="微软雅黑" panose="020B0503020204020204" charset="-122"/>
              </a:defRPr>
            </a:lvl3pPr>
            <a:lvl4pPr>
              <a:defRPr sz="1275" b="0">
                <a:solidFill>
                  <a:srgbClr val="617770"/>
                </a:solidFill>
                <a:latin typeface="微软雅黑" panose="020B0503020204020204" charset="-122"/>
                <a:ea typeface="微软雅黑" panose="020B0503020204020204" charset="-122"/>
                <a:cs typeface="微软雅黑" panose="020B0503020204020204" charset="-122"/>
              </a:defRPr>
            </a:lvl4pPr>
            <a:lvl5pPr>
              <a:defRPr sz="1275" b="0">
                <a:solidFill>
                  <a:srgbClr val="617770"/>
                </a:solidFill>
                <a:latin typeface="微软雅黑" panose="020B0503020204020204" charset="-122"/>
                <a:ea typeface="微软雅黑" panose="020B0503020204020204" charset="-122"/>
                <a:cs typeface="微软雅黑" panose="020B0503020204020204" charset="-122"/>
              </a:defRPr>
            </a:lvl5pPr>
            <a:lvl6pPr>
              <a:defRPr sz="1275" b="0">
                <a:solidFill>
                  <a:srgbClr val="617770"/>
                </a:solidFill>
                <a:latin typeface="微软雅黑" panose="020B0503020204020204" charset="-122"/>
                <a:ea typeface="微软雅黑" panose="020B0503020204020204" charset="-122"/>
                <a:cs typeface="微软雅黑" panose="020B0503020204020204" charset="-122"/>
              </a:defRPr>
            </a:lvl6pPr>
            <a:lvl7pPr>
              <a:defRPr sz="1275" b="0">
                <a:solidFill>
                  <a:srgbClr val="617770"/>
                </a:solidFill>
                <a:latin typeface="微软雅黑" panose="020B0503020204020204" charset="-122"/>
                <a:ea typeface="微软雅黑" panose="020B0503020204020204" charset="-122"/>
                <a:cs typeface="微软雅黑" panose="020B0503020204020204" charset="-122"/>
              </a:defRPr>
            </a:lvl7pPr>
            <a:lvl8pPr>
              <a:defRPr sz="1275" b="0">
                <a:solidFill>
                  <a:srgbClr val="617770"/>
                </a:solidFill>
                <a:latin typeface="微软雅黑" panose="020B0503020204020204" charset="-122"/>
                <a:ea typeface="微软雅黑" panose="020B0503020204020204" charset="-122"/>
                <a:cs typeface="微软雅黑" panose="020B0503020204020204" charset="-122"/>
              </a:defRPr>
            </a:lvl8pPr>
            <a:lvl9pPr>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dirty="0">
                <a:solidFill>
                  <a:srgbClr val="617770"/>
                </a:solidFill>
                <a:latin typeface="微软雅黑" panose="020B0503020204020204" charset="-122"/>
                <a:ea typeface="微软雅黑" panose="020B0503020204020204" charset="-122"/>
                <a:cs typeface="微软雅黑" panose="020B0503020204020204" charset="-122"/>
              </a:rPr>
              <a:t>The live AI workflow and its later review appear on slides</a:t>
            </a:r>
            <a:r>
              <a:rPr lang="en-US" sz="1275" b="0" dirty="0">
                <a:solidFill>
                  <a:srgbClr val="617770"/>
                </a:solidFill>
                <a:latin typeface="微软雅黑" panose="020B0503020204020204" charset="-122"/>
                <a:ea typeface="微软雅黑" panose="020B0503020204020204" charset="-122"/>
                <a:cs typeface="微软雅黑" panose="020B0503020204020204" charset="-122"/>
              </a:rPr>
              <a:t> </a:t>
            </a:r>
            <a:r>
              <a:rPr sz="1275" b="0" dirty="0">
                <a:solidFill>
                  <a:srgbClr val="617770"/>
                </a:solidFill>
                <a:latin typeface="微软雅黑" panose="020B0503020204020204" charset="-122"/>
                <a:ea typeface="微软雅黑" panose="020B0503020204020204" charset="-122"/>
                <a:cs typeface="微软雅黑" panose="020B0503020204020204" charset="-122"/>
              </a:rPr>
              <a:t>6-7.</a:t>
            </a:r>
          </a:p>
        </p:txBody>
      </p:sp>
      <p:pic>
        <p:nvPicPr>
          <p:cNvPr id="10" name="Demo_EarlyPrototype_EN_Captions">
            <a:hlinkClick r:id="" action="ppaction://media"/>
          </p:cNvPr>
          <p:cNvPicPr/>
          <p:nvPr>
            <a:videoFile r:link="rId2"/>
            <p:extLst>
              <p:ext uri="{DAA4B4D4-6D71-4841-9C94-3DE7FCFB9230}">
                <p14:media xmlns:p14="http://schemas.microsoft.com/office/powerpoint/2010/main" r:embed="rId1"/>
              </p:ext>
            </p:extLst>
          </p:nvPr>
        </p:nvPicPr>
        <p:blipFill>
          <a:blip r:embed="rId5"/>
          <a:stretch>
            <a:fillRect/>
          </a:stretch>
        </p:blipFill>
        <p:spPr>
          <a:xfrm>
            <a:off x="623570" y="1524635"/>
            <a:ext cx="6475730" cy="4780280"/>
          </a:xfrm>
          <a:prstGeom prst="rect">
            <a:avLst/>
          </a:prstGeom>
        </p:spPr>
      </p:pic>
    </p:spTree>
  </p:cSld>
  <p:clrMapOvr>
    <a:masterClrMapping/>
  </p:clrMapOvr>
  <p:timing>
    <p:tnLst>
      <p:par>
        <p:cTn id="1" dur="indefinite" restart="never" nodeType="tmRoot">
          <p:childTnLst>
            <p:video>
              <p:cMediaNode vol="100000">
                <p:cTn id="2" fill="hold" display="1">
                  <p:stCondLst>
                    <p:cond delay="indefinite"/>
                  </p:stCondLst>
                </p:cTn>
                <p:tgtEl>
                  <p:spTgt spid="10"/>
                </p:tgtEl>
              </p:cMediaNode>
            </p:video>
            <p:seq concurrent="1" nextAc="seek">
              <p:cTn id="3" restart="whenNotActive" fill="hold" evtFilter="cancelBubble" nodeType="interactiveSeq">
                <p:stCondLst>
                  <p:cond evt="onClick" delay="0">
                    <p:tgtEl>
                      <p:spTgt spid="10"/>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C    06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06 / 08</a:t>
            </a:r>
          </a:p>
        </p:txBody>
      </p:sp>
      <p:sp>
        <p:nvSpPr>
          <p:cNvPr id="3" name="Workflow review: value and limits"/>
          <p:cNvSpPr>
            <a:spLocks noGrp="1"/>
          </p:cNvSpPr>
          <p:nvPr/>
        </p:nvSpPr>
        <p:spPr>
          <a:xfrm>
            <a:off x="609600" y="457200"/>
            <a:ext cx="10972800" cy="742950"/>
          </a:xfrm>
          <a:prstGeom prst="rect">
            <a:avLst/>
          </a:prstGeom>
          <a:noFill/>
          <a:ln w="0">
            <a:noFill/>
          </a:ln>
        </p:spPr>
        <p:txBody>
          <a:bodyPr wrap="square" lIns="0" tIns="0" rIns="0" bIns="0" anchor="t">
            <a:noAutofit/>
          </a:bodyPr>
          <a:lstStyle>
            <a:defPPr>
              <a:defRPr sz="33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3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3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3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3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3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3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3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3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3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300" b="1">
                <a:solidFill>
                  <a:srgbClr val="173F39"/>
                </a:solidFill>
                <a:latin typeface="微软雅黑" panose="020B0503020204020204" charset="-122"/>
                <a:ea typeface="微软雅黑" panose="020B0503020204020204" charset="-122"/>
                <a:cs typeface="微软雅黑" panose="020B0503020204020204" charset="-122"/>
              </a:defRPr>
            </a:pPr>
            <a:r>
              <a:rPr sz="3300" b="1">
                <a:solidFill>
                  <a:srgbClr val="173F39"/>
                </a:solidFill>
                <a:latin typeface="微软雅黑" panose="020B0503020204020204" charset="-122"/>
                <a:ea typeface="微软雅黑" panose="020B0503020204020204" charset="-122"/>
                <a:cs typeface="微软雅黑" panose="020B0503020204020204" charset="-122"/>
              </a:rPr>
              <a:t>Later companion: workflow review</a:t>
            </a:r>
          </a:p>
        </p:txBody>
      </p:sp>
      <p:sp>
        <p:nvSpPr>
          <p:cNvPr id="4" name="32 simulated reviews of one recorded workflow"/>
          <p:cNvSpPr>
            <a:spLocks noGrp="1"/>
          </p:cNvSpPr>
          <p:nvPr/>
        </p:nvSpPr>
        <p:spPr>
          <a:xfrm>
            <a:off x="609600" y="1381125"/>
            <a:ext cx="10972800" cy="409575"/>
          </a:xfrm>
          <a:prstGeom prst="rect">
            <a:avLst/>
          </a:prstGeom>
          <a:noFill/>
          <a:ln w="0">
            <a:noFill/>
          </a:ln>
        </p:spPr>
        <p:txBody>
          <a:bodyPr wrap="square" lIns="0" tIns="0" rIns="0" bIns="0" anchor="t">
            <a:noAutofit/>
          </a:bodyPr>
          <a:lstStyle>
            <a:defPPr>
              <a:defRPr sz="21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21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21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21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21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21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21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21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21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21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00" b="0">
                <a:solidFill>
                  <a:srgbClr val="617770"/>
                </a:solidFill>
                <a:latin typeface="微软雅黑" panose="020B0503020204020204" charset="-122"/>
                <a:ea typeface="微软雅黑" panose="020B0503020204020204" charset="-122"/>
                <a:cs typeface="微软雅黑" panose="020B0503020204020204" charset="-122"/>
              </a:defRPr>
            </a:pPr>
            <a:r>
              <a:rPr sz="2100" b="0">
                <a:solidFill>
                  <a:srgbClr val="617770"/>
                </a:solidFill>
                <a:latin typeface="微软雅黑" panose="020B0503020204020204" charset="-122"/>
                <a:ea typeface="微软雅黑" panose="020B0503020204020204" charset="-122"/>
                <a:cs typeface="微软雅黑" panose="020B0503020204020204" charset="-122"/>
              </a:rPr>
              <a:t>32 simulated reviews of the later AI companion</a:t>
            </a:r>
          </a:p>
        </p:txBody>
      </p:sp>
      <p:sp>
        <p:nvSpPr>
          <p:cNvPr id="5" name="Value review card 0"/>
          <p:cNvSpPr>
            <a:spLocks noGrp="1"/>
          </p:cNvSpPr>
          <p:nvPr/>
        </p:nvSpPr>
        <p:spPr>
          <a:xfrm>
            <a:off x="609600" y="2076450"/>
            <a:ext cx="3505200" cy="2724150"/>
          </a:xfrm>
          <a:prstGeom prst="rect">
            <a:avLst/>
          </a:prstGeom>
          <a:solidFill>
            <a:srgbClr val="E7EEE7"/>
          </a:solidFill>
          <a:ln w="0">
            <a:noFill/>
          </a:ln>
        </p:spPr>
        <p:txBody>
          <a:bodyPr/>
          <a:lstStyle/>
          <a:p>
            <a:endParaRPr lang="zh-CN" altLang="en-US"/>
          </a:p>
        </p:txBody>
      </p:sp>
      <p:sp>
        <p:nvSpPr>
          <p:cNvPr id="6" name="27 / 32"/>
          <p:cNvSpPr>
            <a:spLocks noGrp="1"/>
          </p:cNvSpPr>
          <p:nvPr/>
        </p:nvSpPr>
        <p:spPr>
          <a:xfrm>
            <a:off x="8191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9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9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9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9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9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9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9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9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27 / 32</a:t>
            </a:r>
          </a:p>
        </p:txBody>
      </p:sp>
      <p:sp>
        <p:nvSpPr>
          <p:cNvPr id="7" name="supported"/>
          <p:cNvSpPr>
            <a:spLocks noGrp="1"/>
          </p:cNvSpPr>
          <p:nvPr/>
        </p:nvSpPr>
        <p:spPr>
          <a:xfrm>
            <a:off x="8382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5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p>
        </p:txBody>
      </p:sp>
      <p:sp>
        <p:nvSpPr>
          <p:cNvPr id="8" name="Selective attention"/>
          <p:cNvSpPr>
            <a:spLocks noGrp="1"/>
          </p:cNvSpPr>
          <p:nvPr/>
        </p:nvSpPr>
        <p:spPr>
          <a:xfrm>
            <a:off x="8191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Selective attention</a:t>
            </a:r>
          </a:p>
        </p:txBody>
      </p:sp>
      <p:sp>
        <p:nvSpPr>
          <p:cNvPr id="9" name="5 mixed"/>
          <p:cNvSpPr>
            <a:spLocks noGrp="1"/>
          </p:cNvSpPr>
          <p:nvPr/>
        </p:nvSpPr>
        <p:spPr>
          <a:xfrm>
            <a:off x="8191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1575"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1575"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1575"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1575"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1575"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1575"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1575"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1575"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5 mixed</a:t>
            </a:r>
          </a:p>
        </p:txBody>
      </p:sp>
      <p:sp>
        <p:nvSpPr>
          <p:cNvPr id="10" name="Routine updates wait;&#10;urgent requests surface."/>
          <p:cNvSpPr>
            <a:spLocks noGrp="1"/>
          </p:cNvSpPr>
          <p:nvPr/>
        </p:nvSpPr>
        <p:spPr>
          <a:xfrm>
            <a:off x="8191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500"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500"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500"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500"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500"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500"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500"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500"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Routine updates wait;</a:t>
            </a: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urgent requests surface.</a:t>
            </a:r>
          </a:p>
        </p:txBody>
      </p:sp>
      <p:sp>
        <p:nvSpPr>
          <p:cNvPr id="11" name="Value review card 1"/>
          <p:cNvSpPr>
            <a:spLocks noGrp="1"/>
          </p:cNvSpPr>
          <p:nvPr/>
        </p:nvSpPr>
        <p:spPr>
          <a:xfrm>
            <a:off x="4343400" y="2076450"/>
            <a:ext cx="3505200" cy="2724150"/>
          </a:xfrm>
          <a:prstGeom prst="rect">
            <a:avLst/>
          </a:prstGeom>
          <a:solidFill>
            <a:srgbClr val="E7EEE7"/>
          </a:solidFill>
          <a:ln w="0">
            <a:noFill/>
          </a:ln>
        </p:spPr>
        <p:txBody>
          <a:bodyPr/>
          <a:lstStyle/>
          <a:p>
            <a:endParaRPr lang="zh-CN" altLang="en-US"/>
          </a:p>
        </p:txBody>
      </p:sp>
      <p:sp>
        <p:nvSpPr>
          <p:cNvPr id="12" name="16 / 32"/>
          <p:cNvSpPr>
            <a:spLocks noGrp="1"/>
          </p:cNvSpPr>
          <p:nvPr/>
        </p:nvSpPr>
        <p:spPr>
          <a:xfrm>
            <a:off x="45529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9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9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9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9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9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9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9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9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16 / 32</a:t>
            </a:r>
          </a:p>
        </p:txBody>
      </p:sp>
      <p:sp>
        <p:nvSpPr>
          <p:cNvPr id="13" name="supported"/>
          <p:cNvSpPr>
            <a:spLocks noGrp="1"/>
          </p:cNvSpPr>
          <p:nvPr/>
        </p:nvSpPr>
        <p:spPr>
          <a:xfrm>
            <a:off x="45720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5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p>
        </p:txBody>
      </p:sp>
      <p:sp>
        <p:nvSpPr>
          <p:cNvPr id="14" name="Context for replies"/>
          <p:cNvSpPr>
            <a:spLocks noGrp="1"/>
          </p:cNvSpPr>
          <p:nvPr/>
        </p:nvSpPr>
        <p:spPr>
          <a:xfrm>
            <a:off x="45529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Context for replies</a:t>
            </a:r>
          </a:p>
        </p:txBody>
      </p:sp>
      <p:sp>
        <p:nvSpPr>
          <p:cNvPr id="15" name="16 mixed"/>
          <p:cNvSpPr>
            <a:spLocks noGrp="1"/>
          </p:cNvSpPr>
          <p:nvPr/>
        </p:nvSpPr>
        <p:spPr>
          <a:xfrm>
            <a:off x="45529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1575"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1575"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1575"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1575"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1575"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1575"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1575"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1575"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16 mixed</a:t>
            </a:r>
          </a:p>
        </p:txBody>
      </p:sp>
      <p:sp>
        <p:nvSpPr>
          <p:cNvPr id="16" name="Personal constraints help;&#10;later summaries can overreach."/>
          <p:cNvSpPr>
            <a:spLocks noGrp="1"/>
          </p:cNvSpPr>
          <p:nvPr/>
        </p:nvSpPr>
        <p:spPr>
          <a:xfrm>
            <a:off x="45529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500"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500"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500"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500"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500"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500"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500"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500"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Personal constraints help;</a:t>
            </a: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later summaries can overreach.</a:t>
            </a:r>
          </a:p>
        </p:txBody>
      </p:sp>
      <p:sp>
        <p:nvSpPr>
          <p:cNvPr id="17" name="Value review card 2"/>
          <p:cNvSpPr>
            <a:spLocks noGrp="1"/>
          </p:cNvSpPr>
          <p:nvPr/>
        </p:nvSpPr>
        <p:spPr>
          <a:xfrm>
            <a:off x="8077200" y="2076450"/>
            <a:ext cx="3505200" cy="2724150"/>
          </a:xfrm>
          <a:prstGeom prst="rect">
            <a:avLst/>
          </a:prstGeom>
          <a:solidFill>
            <a:srgbClr val="E7EEE7"/>
          </a:solidFill>
          <a:ln w="0">
            <a:noFill/>
          </a:ln>
        </p:spPr>
        <p:txBody>
          <a:bodyPr/>
          <a:lstStyle/>
          <a:p>
            <a:endParaRPr lang="zh-CN" altLang="en-US"/>
          </a:p>
        </p:txBody>
      </p:sp>
      <p:sp>
        <p:nvSpPr>
          <p:cNvPr id="18" name="12 / 32"/>
          <p:cNvSpPr>
            <a:spLocks noGrp="1"/>
          </p:cNvSpPr>
          <p:nvPr/>
        </p:nvSpPr>
        <p:spPr>
          <a:xfrm>
            <a:off x="82867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9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9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9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9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9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9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9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9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12 / 32</a:t>
            </a:r>
          </a:p>
        </p:txBody>
      </p:sp>
      <p:sp>
        <p:nvSpPr>
          <p:cNvPr id="19" name="supported"/>
          <p:cNvSpPr>
            <a:spLocks noGrp="1"/>
          </p:cNvSpPr>
          <p:nvPr/>
        </p:nvSpPr>
        <p:spPr>
          <a:xfrm>
            <a:off x="83058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5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p>
        </p:txBody>
      </p:sp>
      <p:sp>
        <p:nvSpPr>
          <p:cNvPr id="20" name="Control over replies"/>
          <p:cNvSpPr>
            <a:spLocks noGrp="1"/>
          </p:cNvSpPr>
          <p:nvPr/>
        </p:nvSpPr>
        <p:spPr>
          <a:xfrm>
            <a:off x="82867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Control over replies</a:t>
            </a:r>
          </a:p>
        </p:txBody>
      </p:sp>
      <p:sp>
        <p:nvSpPr>
          <p:cNvPr id="21" name="20 mixed"/>
          <p:cNvSpPr>
            <a:spLocks noGrp="1"/>
          </p:cNvSpPr>
          <p:nvPr/>
        </p:nvSpPr>
        <p:spPr>
          <a:xfrm>
            <a:off x="82867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1575"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1575"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1575"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1575"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1575"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1575"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1575"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1575"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20 mixed</a:t>
            </a:r>
          </a:p>
        </p:txBody>
      </p:sp>
      <p:sp>
        <p:nvSpPr>
          <p:cNvPr id="22" name="Edit and confirm;&#10;sending still needs care."/>
          <p:cNvSpPr>
            <a:spLocks noGrp="1"/>
          </p:cNvSpPr>
          <p:nvPr/>
        </p:nvSpPr>
        <p:spPr>
          <a:xfrm>
            <a:off x="82867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500"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500"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500"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500"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500"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500"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500"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500"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Edit and confirm;</a:t>
            </a: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sending still needs care.</a:t>
            </a:r>
          </a:p>
        </p:txBody>
      </p:sp>
      <p:sp>
        <p:nvSpPr>
          <p:cNvPr id="23" name="All 32 favored use only in some meetings"/>
          <p:cNvSpPr>
            <a:spLocks noGrp="1"/>
          </p:cNvSpPr>
          <p:nvPr/>
        </p:nvSpPr>
        <p:spPr>
          <a:xfrm>
            <a:off x="609600" y="5029200"/>
            <a:ext cx="10972800" cy="428625"/>
          </a:xfrm>
          <a:prstGeom prst="rect">
            <a:avLst/>
          </a:prstGeom>
          <a:noFill/>
          <a:ln w="0">
            <a:noFill/>
          </a:ln>
        </p:spPr>
        <p:txBody>
          <a:bodyPr wrap="square" lIns="0" tIns="0" rIns="0" bIns="0" anchor="t">
            <a:noAutofit/>
          </a:bodyPr>
          <a:lstStyle>
            <a:defPPr>
              <a:defRPr sz="23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3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3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3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3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3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3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3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3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3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173F39"/>
                </a:solidFill>
                <a:latin typeface="微软雅黑" panose="020B0503020204020204" charset="-122"/>
                <a:ea typeface="微软雅黑" panose="020B0503020204020204" charset="-122"/>
                <a:cs typeface="微软雅黑" panose="020B0503020204020204" charset="-122"/>
              </a:defRPr>
            </a:pPr>
            <a:r>
              <a:rPr sz="2325" b="1">
                <a:solidFill>
                  <a:srgbClr val="173F39"/>
                </a:solidFill>
                <a:latin typeface="微软雅黑" panose="020B0503020204020204" charset="-122"/>
                <a:ea typeface="微软雅黑" panose="020B0503020204020204" charset="-122"/>
                <a:cs typeface="微软雅黑" panose="020B0503020204020204" charset="-122"/>
              </a:rPr>
              <a:t>All 32 favored use only in some meetings</a:t>
            </a:r>
          </a:p>
        </p:txBody>
      </p:sp>
      <p:sp>
        <p:nvSpPr>
          <p:cNvPr id="24" name="Best fit: working on another task while remaining available&#10;"/>
          <p:cNvSpPr>
            <a:spLocks noGrp="1"/>
          </p:cNvSpPr>
          <p:nvPr/>
        </p:nvSpPr>
        <p:spPr>
          <a:xfrm>
            <a:off x="609600" y="5562600"/>
            <a:ext cx="10972800" cy="647700"/>
          </a:xfrm>
          <a:prstGeom prst="rect">
            <a:avLst/>
          </a:prstGeom>
          <a:noFill/>
          <a:ln w="0">
            <a:noFill/>
          </a:ln>
        </p:spPr>
        <p:txBody>
          <a:bodyPr wrap="square" lIns="0" tIns="0" rIns="0" bIns="0" anchor="t">
            <a:noAutofit/>
          </a:bodyPr>
          <a:lstStyle>
            <a:defPPr>
              <a:defRPr sz="1950"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950"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950"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950"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950"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950"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950"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950"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950"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95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950" b="0">
                <a:solidFill>
                  <a:srgbClr val="173F39"/>
                </a:solidFill>
                <a:latin typeface="微软雅黑" panose="020B0503020204020204" charset="-122"/>
                <a:ea typeface="微软雅黑" panose="020B0503020204020204" charset="-122"/>
                <a:cs typeface="微软雅黑" panose="020B0503020204020204" charset="-122"/>
              </a:defRPr>
            </a:pPr>
            <a:r>
              <a:rPr sz="1950" b="0">
                <a:solidFill>
                  <a:srgbClr val="173F39"/>
                </a:solidFill>
                <a:latin typeface="微软雅黑" panose="020B0503020204020204" charset="-122"/>
                <a:ea typeface="微软雅黑" panose="020B0503020204020204" charset="-122"/>
                <a:cs typeface="微软雅黑" panose="020B0503020204020204" charset="-122"/>
              </a:rPr>
              <a:t>Best fit: working on another task while remaining available</a:t>
            </a:r>
          </a:p>
          <a:p>
            <a:pPr>
              <a:lnSpc>
                <a:spcPct val="112000"/>
              </a:lnSpc>
              <a:buNone/>
              <a:defRPr sz="1950" b="0">
                <a:solidFill>
                  <a:srgbClr val="173F39"/>
                </a:solidFill>
                <a:latin typeface="微软雅黑" panose="020B0503020204020204" charset="-122"/>
                <a:ea typeface="微软雅黑" panose="020B0503020204020204" charset="-122"/>
                <a:cs typeface="微软雅黑" panose="020B0503020204020204" charset="-122"/>
              </a:defRPr>
            </a:pPr>
            <a:r>
              <a:rPr sz="1950" b="0">
                <a:solidFill>
                  <a:srgbClr val="173F39"/>
                </a:solidFill>
                <a:latin typeface="微软雅黑" panose="020B0503020204020204" charset="-122"/>
                <a:ea typeface="微软雅黑" panose="020B0503020204020204" charset="-122"/>
                <a:cs typeface="微软雅黑" panose="020B0503020204020204" charset="-122"/>
              </a:rPr>
              <a:t>for key decisions.</a:t>
            </a:r>
          </a:p>
        </p:txBody>
      </p:sp>
      <p:sp>
        <p:nvSpPr>
          <p:cNvPr id="25" name="Judgments, not measured task gains. 11 model configurations;"/>
          <p:cNvSpPr>
            <a:spLocks noGrp="1"/>
          </p:cNvSpPr>
          <p:nvPr/>
        </p:nvSpPr>
        <p:spPr>
          <a:xfrm>
            <a:off x="609600" y="6419850"/>
            <a:ext cx="9667875" cy="247650"/>
          </a:xfrm>
          <a:prstGeom prst="rect">
            <a:avLst/>
          </a:prstGeom>
          <a:noFill/>
          <a:ln w="0">
            <a:noFill/>
          </a:ln>
        </p:spPr>
        <p:txBody>
          <a:bodyPr wrap="square" lIns="0" tIns="0" rIns="0" bIns="0" anchor="t">
            <a:noAutofit/>
          </a:bodyPr>
          <a:lstStyle>
            <a:defPPr>
              <a:defRPr sz="12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00" b="0">
                <a:solidFill>
                  <a:srgbClr val="617770"/>
                </a:solidFill>
                <a:latin typeface="微软雅黑" panose="020B0503020204020204" charset="-122"/>
                <a:ea typeface="微软雅黑" panose="020B0503020204020204" charset="-122"/>
                <a:cs typeface="微软雅黑" panose="020B0503020204020204" charset="-122"/>
              </a:defRPr>
            </a:pPr>
            <a:r>
              <a:rPr sz="1200" b="0">
                <a:solidFill>
                  <a:srgbClr val="617770"/>
                </a:solidFill>
                <a:latin typeface="微软雅黑" panose="020B0503020204020204" charset="-122"/>
                <a:ea typeface="微软雅黑" panose="020B0503020204020204" charset="-122"/>
                <a:cs typeface="微软雅黑" panose="020B0503020204020204" charset="-122"/>
              </a:rPr>
              <a:t>Judgments, not measured task gains. 11 model configurations; same trace. Details in notes.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C    07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07 / 08</a:t>
            </a:r>
          </a:p>
        </p:txBody>
      </p:sp>
      <p:sp>
        <p:nvSpPr>
          <p:cNvPr id="3" name="Feedback led to a concrete revision"/>
          <p:cNvSpPr>
            <a:spLocks noGrp="1"/>
          </p:cNvSpPr>
          <p:nvPr/>
        </p:nvSpPr>
        <p:spPr>
          <a:xfrm>
            <a:off x="609600" y="457200"/>
            <a:ext cx="10972800" cy="742950"/>
          </a:xfrm>
          <a:prstGeom prst="rect">
            <a:avLst/>
          </a:prstGeom>
          <a:noFill/>
          <a:ln w="0">
            <a:noFill/>
          </a:ln>
        </p:spPr>
        <p:txBody>
          <a:bodyPr wrap="square" lIns="0" tIns="0" rIns="0" bIns="0" anchor="t">
            <a:noAutofit/>
          </a:bodyPr>
          <a:lstStyle>
            <a:defPPr>
              <a:defRPr sz="32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2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2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2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2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2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2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2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2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2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225" b="1">
                <a:solidFill>
                  <a:srgbClr val="173F39"/>
                </a:solidFill>
                <a:latin typeface="微软雅黑" panose="020B0503020204020204" charset="-122"/>
                <a:ea typeface="微软雅黑" panose="020B0503020204020204" charset="-122"/>
                <a:cs typeface="微软雅黑" panose="020B0503020204020204" charset="-122"/>
              </a:defRPr>
            </a:pPr>
            <a:r>
              <a:rPr sz="3225" b="1">
                <a:solidFill>
                  <a:srgbClr val="173F39"/>
                </a:solidFill>
                <a:latin typeface="微软雅黑" panose="020B0503020204020204" charset="-122"/>
                <a:ea typeface="微软雅黑" panose="020B0503020204020204" charset="-122"/>
                <a:cs typeface="微软雅黑" panose="020B0503020204020204" charset="-122"/>
              </a:rPr>
              <a:t>Feedback led to a concrete revision</a:t>
            </a:r>
          </a:p>
        </p:txBody>
      </p:sp>
      <p:sp>
        <p:nvSpPr>
          <p:cNvPr id="4" name="Revision block"/>
          <p:cNvSpPr>
            <a:spLocks noGrp="1"/>
          </p:cNvSpPr>
          <p:nvPr/>
        </p:nvSpPr>
        <p:spPr>
          <a:xfrm>
            <a:off x="609600" y="1504950"/>
            <a:ext cx="5334000" cy="1866900"/>
          </a:xfrm>
          <a:prstGeom prst="rect">
            <a:avLst/>
          </a:prstGeom>
          <a:solidFill>
            <a:srgbClr val="E7EEE7"/>
          </a:solidFill>
          <a:ln w="0">
            <a:noFill/>
          </a:ln>
        </p:spPr>
        <p:txBody>
          <a:bodyPr/>
          <a:lstStyle/>
          <a:p>
            <a:endParaRPr lang="zh-CN" altLang="en-US"/>
          </a:p>
        </p:txBody>
      </p:sp>
      <p:sp>
        <p:nvSpPr>
          <p:cNvPr id="5" name="Revision block"/>
          <p:cNvSpPr>
            <a:spLocks noGrp="1"/>
          </p:cNvSpPr>
          <p:nvPr/>
        </p:nvSpPr>
        <p:spPr>
          <a:xfrm>
            <a:off x="6248400" y="1504950"/>
            <a:ext cx="5334000" cy="1866900"/>
          </a:xfrm>
          <a:prstGeom prst="rect">
            <a:avLst/>
          </a:prstGeom>
          <a:solidFill>
            <a:srgbClr val="E7EEE7"/>
          </a:solidFill>
          <a:ln w="0">
            <a:noFill/>
          </a:ln>
        </p:spPr>
        <p:txBody>
          <a:bodyPr/>
          <a:lstStyle/>
          <a:p>
            <a:endParaRPr lang="zh-CN" altLang="en-US"/>
          </a:p>
        </p:txBody>
      </p:sp>
      <p:sp>
        <p:nvSpPr>
          <p:cNvPr id="6" name="OBSERVED PROBLEM"/>
          <p:cNvSpPr>
            <a:spLocks noGrp="1"/>
          </p:cNvSpPr>
          <p:nvPr/>
        </p:nvSpPr>
        <p:spPr>
          <a:xfrm>
            <a:off x="819150" y="1685925"/>
            <a:ext cx="4914900" cy="342900"/>
          </a:xfrm>
          <a:prstGeom prst="rect">
            <a:avLst/>
          </a:prstGeom>
          <a:noFill/>
          <a:ln w="0">
            <a:noFill/>
          </a:ln>
        </p:spPr>
        <p:txBody>
          <a:bodyPr wrap="square" lIns="0" tIns="0" rIns="0" bIns="0" anchor="t">
            <a:noAutofit/>
          </a:bodyPr>
          <a:lstStyle>
            <a:defPPr>
              <a:defRPr sz="1650"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1650"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1650"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1650"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1650"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1650"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1650"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1650"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1650"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1650"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B5752F"/>
                </a:solidFill>
                <a:latin typeface="微软雅黑" panose="020B0503020204020204" charset="-122"/>
                <a:ea typeface="微软雅黑" panose="020B0503020204020204" charset="-122"/>
                <a:cs typeface="微软雅黑" panose="020B0503020204020204" charset="-122"/>
              </a:defRPr>
            </a:pPr>
            <a:r>
              <a:rPr sz="1650" b="1">
                <a:solidFill>
                  <a:srgbClr val="B5752F"/>
                </a:solidFill>
                <a:latin typeface="微软雅黑" panose="020B0503020204020204" charset="-122"/>
                <a:ea typeface="微软雅黑" panose="020B0503020204020204" charset="-122"/>
                <a:cs typeface="微软雅黑" panose="020B0503020204020204" charset="-122"/>
              </a:rPr>
              <a:t>OBSERVED PROBLEM</a:t>
            </a:r>
          </a:p>
        </p:txBody>
      </p:sp>
      <p:sp>
        <p:nvSpPr>
          <p:cNvPr id="7" name="A copied reply appeared already&#10;communicated in a later summ"/>
          <p:cNvSpPr>
            <a:spLocks noGrp="1"/>
          </p:cNvSpPr>
          <p:nvPr/>
        </p:nvSpPr>
        <p:spPr>
          <a:xfrm>
            <a:off x="819150" y="2171700"/>
            <a:ext cx="4914900" cy="952500"/>
          </a:xfrm>
          <a:prstGeom prst="rect">
            <a:avLst/>
          </a:prstGeom>
          <a:noFill/>
          <a:ln w="0">
            <a:noFill/>
          </a:ln>
        </p:spPr>
        <p:txBody>
          <a:bodyPr wrap="square" lIns="0" tIns="0" rIns="0" bIns="0" anchor="t">
            <a:noAutofit/>
          </a:bodyPr>
          <a:lstStyle>
            <a:defPPr>
              <a:defRPr sz="21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1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1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1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1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1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1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1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1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1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00" b="1">
                <a:solidFill>
                  <a:srgbClr val="173F39"/>
                </a:solidFill>
                <a:latin typeface="微软雅黑" panose="020B0503020204020204" charset="-122"/>
                <a:ea typeface="微软雅黑" panose="020B0503020204020204" charset="-122"/>
                <a:cs typeface="微软雅黑" panose="020B0503020204020204" charset="-122"/>
              </a:defRPr>
            </a:pPr>
            <a:r>
              <a:rPr sz="2100" b="1">
                <a:solidFill>
                  <a:srgbClr val="173F39"/>
                </a:solidFill>
                <a:latin typeface="微软雅黑" panose="020B0503020204020204" charset="-122"/>
                <a:ea typeface="微软雅黑" panose="020B0503020204020204" charset="-122"/>
                <a:cs typeface="微软雅黑" panose="020B0503020204020204" charset="-122"/>
              </a:rPr>
              <a:t>A copied reply appeared already</a:t>
            </a:r>
          </a:p>
          <a:p>
            <a:pPr>
              <a:lnSpc>
                <a:spcPct val="112000"/>
              </a:lnSpc>
              <a:buNone/>
              <a:defRPr sz="2100" b="1">
                <a:solidFill>
                  <a:srgbClr val="173F39"/>
                </a:solidFill>
                <a:latin typeface="微软雅黑" panose="020B0503020204020204" charset="-122"/>
                <a:ea typeface="微软雅黑" panose="020B0503020204020204" charset="-122"/>
                <a:cs typeface="微软雅黑" panose="020B0503020204020204" charset="-122"/>
              </a:defRPr>
            </a:pPr>
            <a:r>
              <a:rPr sz="2100" b="1">
                <a:solidFill>
                  <a:srgbClr val="173F39"/>
                </a:solidFill>
                <a:latin typeface="微软雅黑" panose="020B0503020204020204" charset="-122"/>
                <a:ea typeface="微软雅黑" panose="020B0503020204020204" charset="-122"/>
                <a:cs typeface="微软雅黑" panose="020B0503020204020204" charset="-122"/>
              </a:rPr>
              <a:t>communicated in a later summary.</a:t>
            </a:r>
          </a:p>
        </p:txBody>
      </p:sp>
      <p:sp>
        <p:nvSpPr>
          <p:cNvPr id="8" name="IMPLEMENTED CHANGE"/>
          <p:cNvSpPr>
            <a:spLocks noGrp="1"/>
          </p:cNvSpPr>
          <p:nvPr/>
        </p:nvSpPr>
        <p:spPr>
          <a:xfrm>
            <a:off x="6457950" y="1685925"/>
            <a:ext cx="4914900" cy="342900"/>
          </a:xfrm>
          <a:prstGeom prst="rect">
            <a:avLst/>
          </a:prstGeom>
          <a:noFill/>
          <a:ln w="0">
            <a:noFill/>
          </a:ln>
        </p:spPr>
        <p:txBody>
          <a:bodyPr wrap="square" lIns="0" tIns="0" rIns="0" bIns="0" anchor="t">
            <a:noAutofit/>
          </a:bodyPr>
          <a:lstStyle>
            <a:defPPr>
              <a:defRPr sz="1650"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650"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650"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650"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650"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650"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650"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650"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650"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650"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617770"/>
                </a:solidFill>
                <a:latin typeface="微软雅黑" panose="020B0503020204020204" charset="-122"/>
                <a:ea typeface="微软雅黑" panose="020B0503020204020204" charset="-122"/>
                <a:cs typeface="微软雅黑" panose="020B0503020204020204" charset="-122"/>
              </a:defRPr>
            </a:pPr>
            <a:r>
              <a:rPr sz="1650" b="1">
                <a:solidFill>
                  <a:srgbClr val="617770"/>
                </a:solidFill>
                <a:latin typeface="微软雅黑" panose="020B0503020204020204" charset="-122"/>
                <a:ea typeface="微软雅黑" panose="020B0503020204020204" charset="-122"/>
                <a:cs typeface="微软雅黑" panose="020B0503020204020204" charset="-122"/>
              </a:rPr>
              <a:t>IMPLEMENTED CHANGE</a:t>
            </a:r>
          </a:p>
        </p:txBody>
      </p:sp>
      <p:sp>
        <p:nvSpPr>
          <p:cNvPr id="9" name="Unsent drafts stay local.&#10;Delivery status is explicit.&#10;Sendi"/>
          <p:cNvSpPr>
            <a:spLocks noGrp="1"/>
          </p:cNvSpPr>
          <p:nvPr/>
        </p:nvSpPr>
        <p:spPr>
          <a:xfrm>
            <a:off x="6457950" y="2171700"/>
            <a:ext cx="4914900" cy="1028700"/>
          </a:xfrm>
          <a:prstGeom prst="rect">
            <a:avLst/>
          </a:prstGeom>
          <a:noFill/>
          <a:ln w="0">
            <a:noFill/>
          </a:ln>
        </p:spPr>
        <p:txBody>
          <a:bodyPr wrap="square" lIns="0" tIns="0" rIns="0" bIns="0" anchor="t">
            <a:noAutofit/>
          </a:bodyPr>
          <a:lstStyle>
            <a:defPPr>
              <a:defRPr sz="187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Unsent drafts stay local.</a:t>
            </a:r>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Delivery status is explicit.</a:t>
            </a:r>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Sending does not imply agreement.</a:t>
            </a:r>
          </a:p>
        </p:txBody>
      </p:sp>
      <p:sp>
        <p:nvSpPr>
          <p:cNvPr id="10" name="Retest"/>
          <p:cNvSpPr>
            <a:spLocks noGrp="1"/>
          </p:cNvSpPr>
          <p:nvPr/>
        </p:nvSpPr>
        <p:spPr>
          <a:xfrm>
            <a:off x="609600" y="3657600"/>
            <a:ext cx="1714500" cy="381000"/>
          </a:xfrm>
          <a:prstGeom prst="rect">
            <a:avLst/>
          </a:prstGeom>
          <a:noFill/>
          <a:ln w="0">
            <a:noFill/>
          </a:ln>
        </p:spPr>
        <p:txBody>
          <a:bodyPr wrap="square" lIns="0" tIns="0" rIns="0" bIns="0" anchor="t">
            <a:noAutofit/>
          </a:bodyPr>
          <a:lstStyle>
            <a:defPPr>
              <a:defRPr sz="20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1">
                <a:solidFill>
                  <a:srgbClr val="173F39"/>
                </a:solidFill>
                <a:latin typeface="微软雅黑" panose="020B0503020204020204" charset="-122"/>
                <a:ea typeface="微软雅黑" panose="020B0503020204020204" charset="-122"/>
                <a:cs typeface="微软雅黑" panose="020B0503020204020204" charset="-122"/>
              </a:defRPr>
            </a:pPr>
            <a:r>
              <a:rPr sz="2025" b="1">
                <a:solidFill>
                  <a:srgbClr val="173F39"/>
                </a:solidFill>
                <a:latin typeface="微软雅黑" panose="020B0503020204020204" charset="-122"/>
                <a:ea typeface="微软雅黑" panose="020B0503020204020204" charset="-122"/>
                <a:cs typeface="微软雅黑" panose="020B0503020204020204" charset="-122"/>
              </a:rPr>
              <a:t>Retest</a:t>
            </a:r>
          </a:p>
        </p:txBody>
      </p:sp>
      <p:sp>
        <p:nvSpPr>
          <p:cNvPr id="11" name="2 completed runs preserved unsent status.&#10;1 attempt was bloc"/>
          <p:cNvSpPr>
            <a:spLocks noGrp="1"/>
          </p:cNvSpPr>
          <p:nvPr/>
        </p:nvSpPr>
        <p:spPr>
          <a:xfrm>
            <a:off x="2400300" y="3648075"/>
            <a:ext cx="9182100" cy="714375"/>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2 completed runs preserved unsent status.</a:t>
            </a:r>
          </a:p>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1 attempt was blocked for invalid source IDs.</a:t>
            </a:r>
          </a:p>
        </p:txBody>
      </p:sp>
      <p:sp>
        <p:nvSpPr>
          <p:cNvPr id="12" name="Target: fewer interruptions and safer replies"/>
          <p:cNvSpPr>
            <a:spLocks noGrp="1"/>
          </p:cNvSpPr>
          <p:nvPr/>
        </p:nvSpPr>
        <p:spPr>
          <a:xfrm>
            <a:off x="609600" y="4695825"/>
            <a:ext cx="10972800" cy="428625"/>
          </a:xfrm>
          <a:prstGeom prst="rect">
            <a:avLst/>
          </a:prstGeom>
          <a:noFill/>
          <a:ln w="0">
            <a:noFill/>
          </a:ln>
        </p:spPr>
        <p:txBody>
          <a:bodyPr wrap="square" lIns="0" tIns="0" rIns="0" bIns="0" anchor="t">
            <a:noAutofit/>
          </a:bodyPr>
          <a:lstStyle>
            <a:defPPr>
              <a:defRPr sz="23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3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3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3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3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3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3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3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3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3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173F39"/>
                </a:solidFill>
                <a:latin typeface="微软雅黑" panose="020B0503020204020204" charset="-122"/>
                <a:ea typeface="微软雅黑" panose="020B0503020204020204" charset="-122"/>
                <a:cs typeface="微软雅黑" panose="020B0503020204020204" charset="-122"/>
              </a:defRPr>
            </a:pPr>
            <a:r>
              <a:rPr sz="2325" b="1">
                <a:solidFill>
                  <a:srgbClr val="173F39"/>
                </a:solidFill>
                <a:latin typeface="微软雅黑" panose="020B0503020204020204" charset="-122"/>
                <a:ea typeface="微软雅黑" panose="020B0503020204020204" charset="-122"/>
                <a:cs typeface="微软雅黑" panose="020B0503020204020204" charset="-122"/>
              </a:rPr>
              <a:t>Target: fewer interruptions and safer replies</a:t>
            </a:r>
          </a:p>
        </p:txBody>
      </p:sp>
      <p:sp>
        <p:nvSpPr>
          <p:cNvPr id="13" name="Next: each person tries both alert rules with matched cases "/>
          <p:cNvSpPr>
            <a:spLocks noGrp="1"/>
          </p:cNvSpPr>
          <p:nvPr/>
        </p:nvSpPr>
        <p:spPr>
          <a:xfrm>
            <a:off x="609600" y="5314950"/>
            <a:ext cx="10972800" cy="381000"/>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72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72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72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72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72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72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72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72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Next: each person tries both alert rules with matched cases and balanced order.</a:t>
            </a:r>
          </a:p>
        </p:txBody>
      </p:sp>
      <p:sp>
        <p:nvSpPr>
          <p:cNvPr id="14" name="Measure timely correct replies, task performance, missed req"/>
          <p:cNvSpPr>
            <a:spLocks noGrp="1"/>
          </p:cNvSpPr>
          <p:nvPr/>
        </p:nvSpPr>
        <p:spPr>
          <a:xfrm>
            <a:off x="609600" y="5762625"/>
            <a:ext cx="10972800" cy="38100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Measure timely correct replies, task performance, missed requests and false alerts.</a:t>
            </a:r>
          </a:p>
        </p:txBody>
      </p:sp>
      <p:sp>
        <p:nvSpPr>
          <p:cNvPr id="15" name="Small technical retest; real meeting impact remains to be me"/>
          <p:cNvSpPr>
            <a:spLocks noGrp="1"/>
          </p:cNvSpPr>
          <p:nvPr/>
        </p:nvSpPr>
        <p:spPr>
          <a:xfrm>
            <a:off x="609600" y="6419850"/>
            <a:ext cx="9667875" cy="247650"/>
          </a:xfrm>
          <a:prstGeom prst="rect">
            <a:avLst/>
          </a:prstGeom>
          <a:noFill/>
          <a:ln w="0">
            <a:noFill/>
          </a:ln>
        </p:spPr>
        <p:txBody>
          <a:bodyPr wrap="square" lIns="0" tIns="0" rIns="0" bIns="0" anchor="t">
            <a:noAutofit/>
          </a:bodyPr>
          <a:lstStyle>
            <a:defPPr>
              <a:defRPr sz="12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00" b="0">
                <a:solidFill>
                  <a:srgbClr val="617770"/>
                </a:solidFill>
                <a:latin typeface="微软雅黑" panose="020B0503020204020204" charset="-122"/>
                <a:ea typeface="微软雅黑" panose="020B0503020204020204" charset="-122"/>
                <a:cs typeface="微软雅黑" panose="020B0503020204020204" charset="-122"/>
              </a:defRPr>
            </a:pPr>
            <a:r>
              <a:rPr sz="1200" b="0">
                <a:solidFill>
                  <a:srgbClr val="617770"/>
                </a:solidFill>
                <a:latin typeface="微软雅黑" panose="020B0503020204020204" charset="-122"/>
                <a:ea typeface="微软雅黑" panose="020B0503020204020204" charset="-122"/>
                <a:cs typeface="微软雅黑" panose="020B0503020204020204" charset="-122"/>
              </a:rPr>
              <a:t>Small technical retest; real meeting impact remains to be measured. Details in notes.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5" name="Our contribution"/>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Our contribution</a:t>
            </a:r>
          </a:p>
        </p:txBody>
      </p:sp>
      <p:sp>
        <p:nvSpPr>
          <p:cNvPr id="6" name="C    08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08 / 08</a:t>
            </a:r>
          </a:p>
        </p:txBody>
      </p:sp>
      <p:sp>
        <p:nvSpPr>
          <p:cNvPr id="9" name="Questions and discussion: 2 minutes."/>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Questions and discussion: 2 minutes.</a:t>
            </a:r>
          </a:p>
        </p:txBody>
      </p:sp>
      <p:graphicFrame>
        <p:nvGraphicFramePr>
          <p:cNvPr id="10" name="表格 9"/>
          <p:cNvGraphicFramePr/>
          <p:nvPr>
            <p:custDataLst>
              <p:tags r:id="rId1"/>
            </p:custDataLst>
          </p:nvPr>
        </p:nvGraphicFramePr>
        <p:xfrm>
          <a:off x="609600" y="1746885"/>
          <a:ext cx="10897235" cy="3492500"/>
        </p:xfrm>
        <a:graphic>
          <a:graphicData uri="http://schemas.openxmlformats.org/drawingml/2006/table">
            <a:tbl>
              <a:tblPr/>
              <a:tblGrid>
                <a:gridCol w="3990340">
                  <a:extLst>
                    <a:ext uri="{9D8B030D-6E8A-4147-A177-3AD203B41FA5}">
                      <a16:colId xmlns:a16="http://schemas.microsoft.com/office/drawing/2014/main" val="20000"/>
                    </a:ext>
                  </a:extLst>
                </a:gridCol>
                <a:gridCol w="6906895">
                  <a:extLst>
                    <a:ext uri="{9D8B030D-6E8A-4147-A177-3AD203B41FA5}">
                      <a16:colId xmlns:a16="http://schemas.microsoft.com/office/drawing/2014/main" val="20001"/>
                    </a:ext>
                  </a:extLst>
                </a:gridCol>
              </a:tblGrid>
              <a:tr h="507365">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Member</a:t>
                      </a: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lang="en-US" sz="1875" b="1">
                          <a:solidFill>
                            <a:srgbClr val="F5F3EC"/>
                          </a:solidFill>
                          <a:latin typeface="微软雅黑" panose="020B0503020204020204" charset="-122"/>
                          <a:ea typeface="微软雅黑" panose="020B0503020204020204" charset="-122"/>
                          <a:cs typeface="微软雅黑" panose="020B0503020204020204" charset="-122"/>
                        </a:rPr>
                        <a:t>Contribution</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extLst>
                  <a:ext uri="{0D108BD9-81ED-4DB2-BD59-A6C34878D82A}">
                    <a16:rowId xmlns:a16="http://schemas.microsoft.com/office/drawing/2014/main" val="10000"/>
                  </a:ext>
                </a:extLst>
              </a:tr>
              <a:tr h="995045">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Chi Kit WONG</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Prototype and integration</a:t>
                      </a:r>
                    </a:p>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Research synthesis and slides</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1"/>
                  </a:ext>
                </a:extLst>
              </a:tr>
              <a:tr h="995045">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Haodong XU</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Questionnaire preparation</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extLst>
                  <a:ext uri="{0D108BD9-81ED-4DB2-BD59-A6C34878D82A}">
                    <a16:rowId xmlns:a16="http://schemas.microsoft.com/office/drawing/2014/main" val="10002"/>
                  </a:ext>
                </a:extLst>
              </a:tr>
              <a:tr h="995045">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Sida ZHANG</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lang="en-US" sz="1875" b="0">
                          <a:solidFill>
                            <a:srgbClr val="173F39"/>
                          </a:solidFill>
                          <a:latin typeface="微软雅黑" panose="020B0503020204020204" charset="-122"/>
                          <a:ea typeface="微软雅黑" panose="020B0503020204020204" charset="-122"/>
                          <a:cs typeface="微软雅黑" panose="020B0503020204020204" charset="-122"/>
                        </a:rPr>
                        <a:t>Quesionnaire analysis and formative study</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3"/>
                  </a:ext>
                </a:extLst>
              </a:tr>
            </a:tbl>
          </a:graphicData>
        </a:graphic>
      </p:graphicFrame>
      <p:sp>
        <p:nvSpPr>
          <p:cNvPr id="11" name="Balanced speaking slots: A 1:55, B 1:55, C 2:00."/>
          <p:cNvSpPr>
            <a:spLocks noGrp="1"/>
          </p:cNvSpPr>
          <p:nvPr/>
        </p:nvSpPr>
        <p:spPr>
          <a:xfrm>
            <a:off x="609600" y="5457825"/>
            <a:ext cx="10972800" cy="342900"/>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ur contribution"/>
          <p:cNvSpPr>
            <a:spLocks noGrp="1"/>
          </p:cNvSpPr>
          <p:nvPr/>
        </p:nvSpPr>
        <p:spPr>
          <a:xfrm>
            <a:off x="695325" y="292481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lang="en-US" sz="4800" b="1">
                <a:solidFill>
                  <a:srgbClr val="173F39"/>
                </a:solidFill>
                <a:latin typeface="微软雅黑" panose="020B0503020204020204" charset="-122"/>
                <a:ea typeface="微软雅黑" panose="020B0503020204020204" charset="-122"/>
                <a:cs typeface="微软雅黑" panose="020B0503020204020204" charset="-122"/>
              </a:rPr>
              <a:t>Q&amp;A</a:t>
            </a:r>
            <a:endParaRPr lang="en-US" sz="4800" b="1" dirty="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6" name="C    08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9" name="Questions and discussion: 2 minutes."/>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1" name="Balanced speaking slots: A 1:55, B 1:55, C 2:00."/>
          <p:cNvSpPr>
            <a:spLocks noGrp="1"/>
          </p:cNvSpPr>
          <p:nvPr/>
        </p:nvSpPr>
        <p:spPr>
          <a:xfrm>
            <a:off x="609600" y="5457825"/>
            <a:ext cx="10972800" cy="342900"/>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a:xfrm>
          <a:off x="0" y="0"/>
          <a:ext cx="0" cy="0"/>
          <a:chOff x="0" y="0"/>
          <a:chExt cx="0" cy="0"/>
        </a:xfrm>
      </p:grpSpPr>
      <p:sp>
        <p:nvSpPr>
          <p:cNvPr id="4" name="Evidence ledger and limits"/>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Questionnaire details</a:t>
            </a:r>
          </a:p>
        </p:txBody>
      </p:sp>
      <p:sp>
        <p:nvSpPr>
          <p:cNvPr id="5" name="Appendix 1"/>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1</a:t>
            </a:r>
          </a:p>
        </p:txBody>
      </p:sp>
      <p:sp>
        <p:nvSpPr>
          <p:cNvPr id="6" name="Alert timing preferences (Q5, each event n = 7)"/>
          <p:cNvSpPr>
            <a:spLocks noGrp="1"/>
          </p:cNvSpPr>
          <p:nvPr/>
        </p:nvSpPr>
        <p:spPr>
          <a:xfrm>
            <a:off x="609600" y="1428750"/>
            <a:ext cx="10972800" cy="447675"/>
          </a:xfrm>
          <a:prstGeom prst="rect">
            <a:avLst/>
          </a:prstGeom>
          <a:noFill/>
          <a:ln w="0">
            <a:noFill/>
          </a:ln>
        </p:spPr>
        <p:txBody>
          <a:bodyPr wrap="square" lIns="0" tIns="0" rIns="0" bIns="0" anchor="t">
            <a:noAutofit/>
          </a:bodyPr>
          <a:lstStyle>
            <a:defPPr>
              <a:defRPr sz="21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21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21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21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21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21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21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21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21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21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0">
                <a:solidFill>
                  <a:srgbClr val="617770"/>
                </a:solidFill>
                <a:latin typeface="微软雅黑" panose="020B0503020204020204" charset="-122"/>
                <a:ea typeface="微软雅黑" panose="020B0503020204020204" charset="-122"/>
                <a:cs typeface="微软雅黑" panose="020B0503020204020204" charset="-122"/>
              </a:defRPr>
            </a:pPr>
            <a:r>
              <a:rPr sz="2175" b="0">
                <a:solidFill>
                  <a:srgbClr val="617770"/>
                </a:solidFill>
                <a:latin typeface="微软雅黑" panose="020B0503020204020204" charset="-122"/>
                <a:ea typeface="微软雅黑" panose="020B0503020204020204" charset="-122"/>
                <a:cs typeface="微软雅黑" panose="020B0503020204020204" charset="-122"/>
              </a:rPr>
              <a:t>Alert timing preferences (Q5, each event n = 7)</a:t>
            </a:r>
          </a:p>
        </p:txBody>
      </p:sp>
      <p:graphicFrame>
        <p:nvGraphicFramePr>
          <p:cNvPr id="7" name="表格 6"/>
          <p:cNvGraphicFramePr/>
          <p:nvPr/>
        </p:nvGraphicFramePr>
        <p:xfrm>
          <a:off x="609600" y="2095500"/>
          <a:ext cx="10972800" cy="3276600"/>
        </p:xfrm>
        <a:graphic>
          <a:graphicData uri="http://schemas.openxmlformats.org/drawingml/2006/table">
            <a:tbl>
              <a:tblPr/>
              <a:tblGrid>
                <a:gridCol w="43053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609600">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Event</a:t>
                      </a: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Immediate</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Later</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After meeting</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No need</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extLst>
                  <a:ext uri="{0D108BD9-81ED-4DB2-BD59-A6C34878D82A}">
                    <a16:rowId xmlns:a16="http://schemas.microsoft.com/office/drawing/2014/main" val="10000"/>
                  </a:ext>
                </a:extLst>
              </a:tr>
              <a:tr h="666750">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Decision / opinion needed</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6</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1"/>
                  </a:ext>
                </a:extLst>
              </a:tr>
              <a:tr h="666750">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Direct mention</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6</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extLst>
                  <a:ext uri="{0D108BD9-81ED-4DB2-BD59-A6C34878D82A}">
                    <a16:rowId xmlns:a16="http://schemas.microsoft.com/office/drawing/2014/main" val="10002"/>
                  </a:ext>
                </a:extLst>
              </a:tr>
              <a:tr h="666750">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General progress</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2</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4</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E7EEE7"/>
                    </a:solidFill>
                  </a:tcPr>
                </a:tc>
                <a:extLst>
                  <a:ext uri="{0D108BD9-81ED-4DB2-BD59-A6C34878D82A}">
                    <a16:rowId xmlns:a16="http://schemas.microsoft.com/office/drawing/2014/main" val="10003"/>
                  </a:ext>
                </a:extLst>
              </a:tr>
              <a:tr h="666750">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Low-priority discussion</a:t>
                      </a:r>
                    </a:p>
                  </a:txBody>
                  <a:tcPr marL="152400" marR="152400" marT="95250" marB="95250" anchor="ctr">
                    <a:lnL w="6191">
                      <a:solidFill>
                        <a:srgbClr val="DCE3DA"/>
                      </a:solidFill>
                      <a:prstDash val="soli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5</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tc>
                  <a:txBody>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p>
                  </a:txBody>
                  <a:tcPr marL="152400" marR="152400" marT="95250" marB="95250" anchor="ctr">
                    <a:lnL w="6191" cap="flat" cmpd="sng" algn="ctr">
                      <a:solidFill>
                        <a:srgbClr val="DCE3DA"/>
                      </a:solidFill>
                      <a:prstDash val="solid"/>
                      <a:round/>
                      <a:headEnd type="none" w="med" len="med"/>
                      <a:tailEnd type="none" w="med" len="med"/>
                    </a:lnL>
                    <a:lnR w="6191">
                      <a:solidFill>
                        <a:srgbClr val="DCE3DA"/>
                      </a:solidFill>
                      <a:prstDash val="solid"/>
                    </a:lnR>
                    <a:lnT w="6191" cap="flat" cmpd="sng" algn="ctr">
                      <a:solidFill>
                        <a:srgbClr val="DCE3DA"/>
                      </a:solidFill>
                      <a:prstDash val="solid"/>
                      <a:round/>
                      <a:headEnd type="none" w="med" len="med"/>
                      <a:tailEnd type="none" w="med" len="med"/>
                    </a:lnT>
                    <a:lnB w="6191">
                      <a:solidFill>
                        <a:srgbClr val="DCE3DA"/>
                      </a:solidFill>
                      <a:prstDash val="solid"/>
                    </a:lnB>
                    <a:solidFill>
                      <a:srgbClr val="F5F3EC"/>
                    </a:solidFill>
                  </a:tcPr>
                </a:tc>
                <a:extLst>
                  <a:ext uri="{0D108BD9-81ED-4DB2-BD59-A6C34878D82A}">
                    <a16:rowId xmlns:a16="http://schemas.microsoft.com/office/drawing/2014/main" val="10004"/>
                  </a:ext>
                </a:extLst>
              </a:tr>
            </a:tbl>
          </a:graphicData>
        </a:graphic>
      </p:graphicFrame>
      <p:sp>
        <p:nvSpPr>
          <p:cNvPr id="8" name="Q2: 3/7 reported overlap in the previous six months.&#10;Q9: for"/>
          <p:cNvSpPr>
            <a:spLocks noGrp="1"/>
          </p:cNvSpPr>
          <p:nvPr/>
        </p:nvSpPr>
        <p:spPr>
          <a:xfrm>
            <a:off x="609600" y="5657850"/>
            <a:ext cx="10972800" cy="714375"/>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72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72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72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72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72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72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72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72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Q2: 3/7 reported overlap in the previous six months.</a:t>
            </a:r>
          </a:p>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Q9: for complex issues, 4/7 preferred joining; 0/7 chose AI reply options.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a:xfrm>
          <a:off x="0" y="0"/>
          <a:ext cx="0" cy="0"/>
          <a:chOff x="0" y="0"/>
          <a:chExt cx="0" cy="0"/>
        </a:xfrm>
      </p:grpSpPr>
      <p:sp>
        <p:nvSpPr>
          <p:cNvPr id="15" name="Comparison with ProxyMe"/>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Comparison with ProxyMe</a:t>
            </a:r>
          </a:p>
        </p:txBody>
      </p:sp>
      <p:sp>
        <p:nvSpPr>
          <p:cNvPr id="2" name="Appendix 2"/>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2</a:t>
            </a:r>
          </a:p>
        </p:txBody>
      </p:sp>
      <p:sp>
        <p:nvSpPr>
          <p:cNvPr id="3" name="Original: ProxyMe"/>
          <p:cNvSpPr>
            <a:spLocks noGrp="1"/>
          </p:cNvSpPr>
          <p:nvPr/>
        </p:nvSpPr>
        <p:spPr>
          <a:xfrm>
            <a:off x="609600" y="1714500"/>
            <a:ext cx="5286375" cy="466725"/>
          </a:xfrm>
          <a:prstGeom prst="rect">
            <a:avLst/>
          </a:prstGeom>
          <a:noFill/>
          <a:ln w="0">
            <a:noFill/>
          </a:ln>
        </p:spPr>
        <p:txBody>
          <a:bodyPr wrap="square" lIns="0" tIns="0" rIns="0" bIns="0" anchor="t">
            <a:noAutofit/>
          </a:bodyPr>
          <a:lstStyle>
            <a:defPPr>
              <a:defRPr sz="232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232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232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232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232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232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232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232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232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232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617770"/>
                </a:solidFill>
                <a:latin typeface="微软雅黑" panose="020B0503020204020204" charset="-122"/>
                <a:ea typeface="微软雅黑" panose="020B0503020204020204" charset="-122"/>
                <a:cs typeface="微软雅黑" panose="020B0503020204020204" charset="-122"/>
              </a:defRPr>
            </a:pPr>
            <a:r>
              <a:rPr sz="2325" b="1">
                <a:solidFill>
                  <a:srgbClr val="617770"/>
                </a:solidFill>
                <a:latin typeface="微软雅黑" panose="020B0503020204020204" charset="-122"/>
                <a:ea typeface="微软雅黑" panose="020B0503020204020204" charset="-122"/>
                <a:cs typeface="微软雅黑" panose="020B0503020204020204" charset="-122"/>
              </a:rPr>
              <a:t>Original: ProxyMe</a:t>
            </a:r>
          </a:p>
        </p:txBody>
      </p:sp>
      <p:sp>
        <p:nvSpPr>
          <p:cNvPr id="4" name="Our current extension"/>
          <p:cNvSpPr>
            <a:spLocks noGrp="1"/>
          </p:cNvSpPr>
          <p:nvPr/>
        </p:nvSpPr>
        <p:spPr>
          <a:xfrm>
            <a:off x="6572250" y="1714500"/>
            <a:ext cx="5010150" cy="466725"/>
          </a:xfrm>
          <a:prstGeom prst="rect">
            <a:avLst/>
          </a:prstGeom>
          <a:noFill/>
          <a:ln w="0">
            <a:noFill/>
          </a:ln>
        </p:spPr>
        <p:txBody>
          <a:bodyPr wrap="square" lIns="0" tIns="0" rIns="0" bIns="0" anchor="t">
            <a:noAutofit/>
          </a:bodyPr>
          <a:lstStyle>
            <a:defPPr>
              <a:defRPr sz="2325"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2325"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2325"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2325"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2325"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2325"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2325"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2325"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2325"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232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B5752F"/>
                </a:solidFill>
                <a:latin typeface="微软雅黑" panose="020B0503020204020204" charset="-122"/>
                <a:ea typeface="微软雅黑" panose="020B0503020204020204" charset="-122"/>
                <a:cs typeface="微软雅黑" panose="020B0503020204020204" charset="-122"/>
              </a:defRPr>
            </a:pPr>
            <a:r>
              <a:rPr sz="2325" b="1">
                <a:solidFill>
                  <a:srgbClr val="B5752F"/>
                </a:solidFill>
                <a:latin typeface="微软雅黑" panose="020B0503020204020204" charset="-122"/>
                <a:ea typeface="微软雅黑" panose="020B0503020204020204" charset="-122"/>
                <a:cs typeface="微软雅黑" panose="020B0503020204020204" charset="-122"/>
              </a:rPr>
              <a:t>Our current extension</a:t>
            </a:r>
          </a:p>
        </p:txBody>
      </p:sp>
      <p:sp>
        <p:nvSpPr>
          <p:cNvPr id="5" name="Updates while working elsewhere"/>
          <p:cNvSpPr>
            <a:spLocks noGrp="1"/>
          </p:cNvSpPr>
          <p:nvPr/>
        </p:nvSpPr>
        <p:spPr>
          <a:xfrm>
            <a:off x="609600" y="25717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Updates while working elsewhere</a:t>
            </a:r>
          </a:p>
        </p:txBody>
      </p:sp>
      <p:sp>
        <p:nvSpPr>
          <p:cNvPr id="6" name="Questions and participant replies"/>
          <p:cNvSpPr>
            <a:spLocks noGrp="1"/>
          </p:cNvSpPr>
          <p:nvPr/>
        </p:nvSpPr>
        <p:spPr>
          <a:xfrm>
            <a:off x="609600" y="31813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Questions and participant replies</a:t>
            </a:r>
          </a:p>
        </p:txBody>
      </p:sp>
      <p:sp>
        <p:nvSpPr>
          <p:cNvPr id="7" name="Frequency/detail and response modes"/>
          <p:cNvSpPr>
            <a:spLocks noGrp="1"/>
          </p:cNvSpPr>
          <p:nvPr/>
        </p:nvSpPr>
        <p:spPr>
          <a:xfrm>
            <a:off x="609600" y="37909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Frequency/detail and response modes</a:t>
            </a:r>
          </a:p>
        </p:txBody>
      </p:sp>
      <p:sp>
        <p:nvSpPr>
          <p:cNvPr id="8" name="Trade-offs in a 24-person study"/>
          <p:cNvSpPr>
            <a:spLocks noGrp="1"/>
          </p:cNvSpPr>
          <p:nvPr/>
        </p:nvSpPr>
        <p:spPr>
          <a:xfrm>
            <a:off x="609600" y="44005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Trade-offs in a 24-person study</a:t>
            </a:r>
          </a:p>
        </p:txBody>
      </p:sp>
      <p:sp>
        <p:nvSpPr>
          <p:cNvPr id="9" name="Role and availability in the prompt"/>
          <p:cNvSpPr>
            <a:spLocks noGrp="1"/>
          </p:cNvSpPr>
          <p:nvPr/>
        </p:nvSpPr>
        <p:spPr>
          <a:xfrm>
            <a:off x="6572250" y="25717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Role and availability in the prompt</a:t>
            </a:r>
          </a:p>
        </p:txBody>
      </p:sp>
      <p:sp>
        <p:nvSpPr>
          <p:cNvPr id="10" name="Now / Later / Awareness routing"/>
          <p:cNvSpPr>
            <a:spLocks noGrp="1"/>
          </p:cNvSpPr>
          <p:nvPr/>
        </p:nvSpPr>
        <p:spPr>
          <a:xfrm>
            <a:off x="6572250" y="31813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Now / Later / Awareness routing</a:t>
            </a:r>
          </a:p>
        </p:txBody>
      </p:sp>
      <p:sp>
        <p:nvSpPr>
          <p:cNvPr id="11" name="Inspectable request conditions"/>
          <p:cNvSpPr>
            <a:spLocks noGrp="1"/>
          </p:cNvSpPr>
          <p:nvPr/>
        </p:nvSpPr>
        <p:spPr>
          <a:xfrm>
            <a:off x="6572250" y="37909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Inspectable request conditions</a:t>
            </a:r>
          </a:p>
        </p:txBody>
      </p:sp>
      <p:sp>
        <p:nvSpPr>
          <p:cNvPr id="12" name="Editable, confirmed response flow"/>
          <p:cNvSpPr>
            <a:spLocks noGrp="1"/>
          </p:cNvSpPr>
          <p:nvPr/>
        </p:nvSpPr>
        <p:spPr>
          <a:xfrm>
            <a:off x="6572250" y="44005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Editable, confirmed response flow</a:t>
            </a:r>
          </a:p>
        </p:txBody>
      </p:sp>
      <p:sp>
        <p:nvSpPr>
          <p:cNvPr id="13" name="The research contribution remains a hypothesis&#10;until th"/>
          <p:cNvSpPr>
            <a:spLocks noGrp="1"/>
          </p:cNvSpPr>
          <p:nvPr/>
        </p:nvSpPr>
        <p:spPr>
          <a:xfrm>
            <a:off x="609600" y="5286375"/>
            <a:ext cx="10972800" cy="781050"/>
          </a:xfrm>
          <a:prstGeom prst="rect">
            <a:avLst/>
          </a:prstGeom>
          <a:noFill/>
          <a:ln w="0">
            <a:noFill/>
          </a:ln>
        </p:spPr>
        <p:txBody>
          <a:bodyPr wrap="square" lIns="0" tIns="0" rIns="0" bIns="0" anchor="t">
            <a:noAutofit/>
          </a:bodyPr>
          <a:lstStyle>
            <a:defPPr>
              <a:defRPr sz="21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1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1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1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1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1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1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1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1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1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173F39"/>
                </a:solidFill>
                <a:latin typeface="微软雅黑" panose="020B0503020204020204" charset="-122"/>
                <a:ea typeface="微软雅黑" panose="020B0503020204020204" charset="-122"/>
                <a:cs typeface="微软雅黑" panose="020B0503020204020204" charset="-122"/>
              </a:defRPr>
            </a:pPr>
            <a:r>
              <a:rPr sz="2175" b="1">
                <a:solidFill>
                  <a:srgbClr val="173F39"/>
                </a:solidFill>
                <a:latin typeface="微软雅黑" panose="020B0503020204020204" charset="-122"/>
                <a:ea typeface="微软雅黑" panose="020B0503020204020204" charset="-122"/>
                <a:cs typeface="微软雅黑" panose="020B0503020204020204" charset="-122"/>
              </a:rPr>
              <a:t>The research contribution remains a hypothesis</a:t>
            </a:r>
          </a:p>
          <a:p>
            <a:pPr>
              <a:lnSpc>
                <a:spcPct val="112000"/>
              </a:lnSpc>
              <a:buNone/>
              <a:defRPr sz="2175" b="1">
                <a:solidFill>
                  <a:srgbClr val="173F39"/>
                </a:solidFill>
                <a:latin typeface="微软雅黑" panose="020B0503020204020204" charset="-122"/>
                <a:ea typeface="微软雅黑" panose="020B0503020204020204" charset="-122"/>
                <a:cs typeface="微软雅黑" panose="020B0503020204020204" charset="-122"/>
              </a:defRPr>
            </a:pPr>
            <a:r>
              <a:rPr sz="2175" b="1">
                <a:solidFill>
                  <a:srgbClr val="173F39"/>
                </a:solidFill>
                <a:latin typeface="微软雅黑" panose="020B0503020204020204" charset="-122"/>
                <a:ea typeface="微软雅黑" panose="020B0503020204020204" charset="-122"/>
                <a:cs typeface="微软雅黑" panose="020B0503020204020204" charset="-122"/>
              </a:rPr>
              <a:t>until the routing trade-off is evaluated.</a:t>
            </a:r>
          </a:p>
        </p:txBody>
      </p:sp>
      <p:sp>
        <p:nvSpPr>
          <p:cNvPr id="14" name="Bai, Png &amp; Velloso (2026), Enabling Partial Participati"/>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Bai, Png &amp; Velloso (2026), Enabling Partial Participation in Remote Meetings, CHI 2026.</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a:xfrm>
          <a:off x="0" y="0"/>
          <a:ext cx="0" cy="0"/>
          <a:chOff x="0" y="0"/>
          <a:chExt cx="0" cy="0"/>
        </a:xfrm>
      </p:grpSpPr>
      <p:sp>
        <p:nvSpPr>
          <p:cNvPr id="13" name="Questions to bring to the TA"/>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Questions to bring to the TA</a:t>
            </a:r>
          </a:p>
        </p:txBody>
      </p:sp>
      <p:sp>
        <p:nvSpPr>
          <p:cNvPr id="2" name="Appendix 3"/>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3</a:t>
            </a:r>
          </a:p>
        </p:txBody>
      </p:sp>
      <p:sp>
        <p:nvSpPr>
          <p:cNvPr id="3" name="01"/>
          <p:cNvSpPr>
            <a:spLocks noGrp="1"/>
          </p:cNvSpPr>
          <p:nvPr/>
        </p:nvSpPr>
        <p:spPr>
          <a:xfrm>
            <a:off x="609600" y="1666875"/>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01</a:t>
            </a:r>
          </a:p>
        </p:txBody>
      </p:sp>
      <p:sp>
        <p:nvSpPr>
          <p:cNvPr id="4" name="Is the target decision clear enough?"/>
          <p:cNvSpPr>
            <a:spLocks noGrp="1"/>
          </p:cNvSpPr>
          <p:nvPr/>
        </p:nvSpPr>
        <p:spPr>
          <a:xfrm>
            <a:off x="1809750" y="1685925"/>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Is the target decision clear enough?</a:t>
            </a:r>
          </a:p>
        </p:txBody>
      </p:sp>
      <p:sp>
        <p:nvSpPr>
          <p:cNvPr id="5" name="People with occasional, role-specific input during a pa"/>
          <p:cNvSpPr>
            <a:spLocks noGrp="1"/>
          </p:cNvSpPr>
          <p:nvPr/>
        </p:nvSpPr>
        <p:spPr>
          <a:xfrm>
            <a:off x="1809750" y="2352675"/>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People with occasional, role-specific input during a parallel task.</a:t>
            </a:r>
          </a:p>
        </p:txBody>
      </p:sp>
      <p:sp>
        <p:nvSpPr>
          <p:cNvPr id="6" name="02"/>
          <p:cNvSpPr>
            <a:spLocks noGrp="1"/>
          </p:cNvSpPr>
          <p:nvPr/>
        </p:nvSpPr>
        <p:spPr>
          <a:xfrm>
            <a:off x="609600" y="3124200"/>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02</a:t>
            </a:r>
          </a:p>
        </p:txBody>
      </p:sp>
      <p:sp>
        <p:nvSpPr>
          <p:cNvPr id="7" name="What counts as a valid, timely contribution?"/>
          <p:cNvSpPr>
            <a:spLocks noGrp="1"/>
          </p:cNvSpPr>
          <p:nvPr/>
        </p:nvSpPr>
        <p:spPr>
          <a:xfrm>
            <a:off x="1809750" y="3143250"/>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What counts as a valid, timely contribution?</a:t>
            </a:r>
          </a:p>
        </p:txBody>
      </p:sp>
      <p:sp>
        <p:nvSpPr>
          <p:cNvPr id="8" name="Deadlines, required facts, wrong commitments and missed"/>
          <p:cNvSpPr>
            <a:spLocks noGrp="1"/>
          </p:cNvSpPr>
          <p:nvPr/>
        </p:nvSpPr>
        <p:spPr>
          <a:xfrm>
            <a:off x="1809750" y="3810000"/>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Deadlines, required facts, wrong commitments and missed requests.</a:t>
            </a:r>
          </a:p>
        </p:txBody>
      </p:sp>
      <p:sp>
        <p:nvSpPr>
          <p:cNvPr id="9" name="03"/>
          <p:cNvSpPr>
            <a:spLocks noGrp="1"/>
          </p:cNvSpPr>
          <p:nvPr/>
        </p:nvSpPr>
        <p:spPr>
          <a:xfrm>
            <a:off x="609600" y="4581525"/>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03</a:t>
            </a:r>
          </a:p>
        </p:txBody>
      </p:sp>
      <p:sp>
        <p:nvSpPr>
          <p:cNvPr id="10" name="What evidence matters for the next iteration?"/>
          <p:cNvSpPr>
            <a:spLocks noGrp="1"/>
          </p:cNvSpPr>
          <p:nvPr/>
        </p:nvSpPr>
        <p:spPr>
          <a:xfrm>
            <a:off x="1809750" y="4600575"/>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What evidence matters for the next iteration?</a:t>
            </a:r>
          </a:p>
        </p:txBody>
      </p:sp>
      <p:sp>
        <p:nvSpPr>
          <p:cNvPr id="11" name="Concrete walkthrough failures, then a feasible routing "/>
          <p:cNvSpPr>
            <a:spLocks noGrp="1"/>
          </p:cNvSpPr>
          <p:nvPr/>
        </p:nvSpPr>
        <p:spPr>
          <a:xfrm>
            <a:off x="1809750" y="5267325"/>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Concrete walkthrough failures, then a feasible routing comparison.</a:t>
            </a:r>
          </a:p>
        </p:txBody>
      </p:sp>
      <p:sp>
        <p:nvSpPr>
          <p:cNvPr id="12" name="Ask for feedback on a specific interaction before choos"/>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Ask for feedback on a specific interaction before choosing the next implementation change.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58*274"/>
  <p:tag name="TABLE_ENDDRAG_RECT" val="48*137*858*27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4601</Words>
  <Application>Microsoft Office PowerPoint</Application>
  <PresentationFormat>宽屏</PresentationFormat>
  <Paragraphs>647</Paragraphs>
  <Slides>12</Slides>
  <Notes>12</Notes>
  <HiddenSlides>3</HiddenSlides>
  <MMClips>1</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微软雅黑</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Chi Kit WONG</cp:lastModifiedBy>
  <cp:revision>13</cp:revision>
  <dcterms:created xsi:type="dcterms:W3CDTF">2026-10-23T07:15:51Z</dcterms:created>
  <dcterms:modified xsi:type="dcterms:W3CDTF">2026-10-23T07:29:37Z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96109EFEC9784E7FA6E3485164C99371_12</vt:lpwstr>
  </property>
  <property fmtid="{D5CDD505-2E9C-101B-9397-08002B2CF9AE}" pid="3" name="KSOProductBuildVer">
    <vt:lpwstr>2052-12.1.0.29161</vt:lpwstr>
  </property>
</Properties>
</file>