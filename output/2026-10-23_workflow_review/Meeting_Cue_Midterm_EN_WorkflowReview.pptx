
<file path=[Content_Types].xml><?xml version="1.0" encoding="utf-8"?>
<Types xmlns="http://schemas.openxmlformats.org/package/2006/content-types">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PRESENTATION CLOCK: 0:00-0:25</a:t>
            </a:r>
          </a:p>
          <a:p>
            <a:r>
              <a:t>PRESENTER: A (Chi Kit WONG)</a:t>
            </a:r>
          </a:p>
          <a:p>
            <a:r>
              <a:t>SLIDE 1 / MEETING CUE</a:t>
            </a:r>
          </a:p>
          <a:p>
            <a:r>
              <a:t>Clock: 0:00-0:25. Total slide slot: 25 seconds.</a:t>
            </a:r>
          </a:p>
          <a:p/>
          <a:p>
            <a:r>
              <a:t>Speaker A / Chi Kit WONG / 0:00-0:25</a:t>
            </a:r>
          </a:p>
          <a:p/>
          <a:p>
            <a:r>
              <a:t>Spoken script:</a:t>
            </a:r>
          </a:p>
          <a:p>
            <a:r>
              <a:t>Hello everyone. We are Group Three, and our project is Meeting Cue. It helps people stay available to a remote meeting / while working on another task, without letting AI make commitments for them.</a:t>
            </a:r>
          </a:p>
          <a:p/>
          <a:p/>
          <a:p/>
          <a:p/>
          <a:p>
            <a:r>
              <a:t>SOURCE / EVIDENCE</a:t>
            </a:r>
          </a:p>
          <a:p>
            <a:r>
              <a:t>MIDTERM_PRESENTATION_REQUIREMENTS.txt: group presentation; actual individual contributions; five criteria: slide quality &amp; AI integration, background/context, problem definition/formulation, technical approach/methodology, value/impact. Midterm 20%. Confirmed by the user: 10 minutes per group, comprising 8 minutes of presentation including the demo and 2 minutes of Q&amp;A.</a:t>
            </a:r>
          </a:p>
          <a:p/>
          <a:p>
            <a:r>
              <a:t>VISUAL SOURCE</a:t>
            </a:r>
          </a:p>
          <a:p>
            <a:r>
              <a:t>Conceptual editorial illustration generated with the built-in image_gen tool. Model version was not exposed; GPT Image 2.5 could not be selected or verified. Prompt: Art_Assets/image_prompts.json, cover. Illustration is not a record of participants or an actual meeting.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PRESENTATION CLOCK: 0:25-1:30</a:t>
            </a:r>
          </a:p>
          <a:p>
            <a:r>
              <a:t>PRESENTER: A (Chi Kit WONG)</a:t>
            </a:r>
          </a:p>
          <a:p>
            <a:r>
              <a:t>SLIDE 2 / WHAT THE 43 RECORDS REVEALED</a:t>
            </a:r>
          </a:p>
          <a:p>
            <a:r>
              <a:t>Clock: 0:25-1:30. Total slide slot: 65 seconds.</a:t>
            </a:r>
          </a:p>
          <a:p/>
          <a:p>
            <a:r>
              <a:t>Speaker A / Chi Kit WONG / 0:25-1:30</a:t>
            </a:r>
          </a:p>
          <a:p/>
          <a:p>
            <a:r>
              <a:t>Spoken script:</a:t>
            </a:r>
          </a:p>
          <a:p>
            <a:r>
              <a:t>The paper / Enabling Partial Participation in Remote Meetings introduced ProxyMe, a system for meeting updates and replies. We build on its partial participation problem. Our forty-three records add concrete needs: repeated requests when attention shifts, summaries missing personally relevant details, and a case where missing an important detail leads to a wrong answer. Some records also suggest that existing notes or chat already meet the need, without another tool. These examples motivate selective support. Our question is when to bring someone back, and what context helps them make a correct contribution.</a:t>
            </a:r>
          </a:p>
          <a:p/>
          <a:p/>
          <a:p/>
          <a:p>
            <a:r>
              <a:t>Private source note: original questionnaire N=7. Q4 decision-related concern selected by 7/7; Q5 hypothetical immediate preference: decision 6/7 versus routine progress 1/7. Q2 actual overlapping meetings: 3/7. Do not describe these preferences as experienced-event incidence or population estimates.</a:t>
            </a:r>
          </a:p>
          <a:p/>
          <a:p>
            <a:r>
              <a:t>For a 2:30 video, omit: Some records also suggest that existing notes or chat already meet the need, without another tool.</a:t>
            </a:r>
          </a:p>
          <a:p>
            <a:r>
              <a:t>Use the alternate clock in Timing_and_Demo_Plan_EN.txt.</a:t>
            </a:r>
          </a:p>
          <a:p/>
          <a:p/>
          <a:p>
            <a:r>
              <a:t>SOURCE / EVIDENCE</a:t>
            </a:r>
          </a:p>
          <a:p>
            <a:r>
              <a:t>Bai, Png &amp; Velloso (2026), Enabling Partial Participation in Remote Meetings, CHI 2026. https://doi.org/10.1145/3772318.3790744 . Read local lectures/week 1/papers/Remote meetings.pdf. Abstract: 24 participants; ProxyMe meeting updates and questions; update frequency/detail and response type varied. No universal optimum.</a:t>
            </a:r>
          </a:p>
          <a:p/>
          <a:p>
            <a:r>
              <a:t>VISUAL SOURCE</a:t>
            </a:r>
          </a:p>
          <a:p>
            <a:r>
              <a:t>Conceptual editorial illustration generated with the built-in image_gen tool. Model version not exposed. Prompt: Art_Assets/image_prompts.json, scenario. Not a user-study photograph.</a:t>
            </a:r>
          </a:p>
          <a:p/>
          <a:p>
            <a:r>
              <a:t>VISUAL REVISION</a:t>
            </a:r>
          </a:p>
          <a:p>
            <a:r>
              <a:t>The illustration now depicts a participant using a computer with separate Tencent Meeting and Meeting Cue windows, based on the prototype visual reference. The illustrated button says Confirm &amp; copy, with manual sending in Tencent Meeting. Generated scenario illustration, not a user-study photo or exact product screenshot. Final asset: Art_Assets/meeting-cue-scenario-v2.png. Prompts: Art_Assets/image_prompts_v2.json. The corrected illustration is retained in this revision.</a:t>
            </a:r>
          </a:p>
          <a:p/>
          <a:p>
            <a:r>
              <a:t>FORMATIVE DATA</a:t>
            </a:r>
          </a:p>
          <a:p>
            <a:r>
              <a:t>[</a:t>
            </a:r>
          </a:p>
          <a:p>
            <a:r>
              <a:t>  {</a:t>
            </a:r>
          </a:p>
          <a:p>
            <a:r>
              <a:t>    "id": "F01",</a:t>
            </a:r>
          </a:p>
          <a:p>
            <a:r>
              <a:t>    "question_id": "OLD_Q2",</a:t>
            </a:r>
          </a:p>
          <a:p>
            <a:r>
              <a:t>    "question_text": "2. 过去 6 个月，你是否遇到过“两个会议/课程/任务时间冲突，只能把注意力主要放在其中一个”的情况? / In the past 6 months, have you experienced overlapping meetings/classes/tasks where you could mainly focus on only one?    [单选题]",</a:t>
            </a:r>
          </a:p>
          <a:p>
            <a:r>
              <a:t>    "label": "Experienced overlapping meetings/classes/tasks at least rarely within six months",</a:t>
            </a:r>
          </a:p>
          <a:p>
            <a:r>
              <a:t>    "count": 3,</a:t>
            </a:r>
          </a:p>
          <a:p>
            <a:r>
              <a:t>    "denominator": 7,</a:t>
            </a:r>
          </a:p>
          <a:p>
            <a:r>
              <a:t>    "evidence_kind": "self_report_history",</a:t>
            </a:r>
          </a:p>
          <a:p>
            <a:r>
              <a:t>    "raw_table": [</a:t>
            </a:r>
          </a:p>
          <a:p>
            <a:r>
              <a:t>      [</a:t>
            </a:r>
          </a:p>
          <a:p>
            <a:r>
              <a:t>        "选项",</a:t>
            </a:r>
          </a:p>
          <a:p>
            <a:r>
              <a:t>        "小计",</a:t>
            </a:r>
          </a:p>
          <a:p>
            <a:r>
              <a:t>        "比例"</a:t>
            </a:r>
          </a:p>
          <a:p>
            <a:r>
              <a:t>      ],</a:t>
            </a:r>
          </a:p>
          <a:p>
            <a:r>
              <a:t>      [</a:t>
            </a:r>
          </a:p>
          <a:p>
            <a:r>
              <a:t>        "经常 / Often",</a:t>
            </a:r>
          </a:p>
          <a:p>
            <a:r>
              <a:t>        "0",</a:t>
            </a:r>
          </a:p>
          <a:p>
            <a:r>
              <a:t>        "0%"</a:t>
            </a:r>
          </a:p>
          <a:p>
            <a:r>
              <a:t>      ],</a:t>
            </a:r>
          </a:p>
          <a:p>
            <a:r>
              <a:t>      [</a:t>
            </a:r>
          </a:p>
          <a:p>
            <a:r>
              <a:t>        "偶尔 / Sometimes",</a:t>
            </a:r>
          </a:p>
          <a:p>
            <a:r>
              <a:t>        "2",</a:t>
            </a:r>
          </a:p>
          <a:p>
            <a:r>
              <a:t>        "28.57%"</a:t>
            </a:r>
          </a:p>
          <a:p>
            <a:r>
              <a:t>      ],</a:t>
            </a:r>
          </a:p>
          <a:p>
            <a:r>
              <a:t>      [</a:t>
            </a:r>
          </a:p>
          <a:p>
            <a:r>
              <a:t>        "很少 / Rarely",</a:t>
            </a:r>
          </a:p>
          <a:p>
            <a:r>
              <a:t>        "1",</a:t>
            </a:r>
          </a:p>
          <a:p>
            <a:r>
              <a:t>        "14.29%"</a:t>
            </a:r>
          </a:p>
          <a:p>
            <a:r>
              <a:t>      ],</a:t>
            </a:r>
          </a:p>
          <a:p>
            <a:r>
              <a:t>      [</a:t>
            </a:r>
          </a:p>
          <a:p>
            <a:r>
              <a:t>        "从未 / Never",</a:t>
            </a:r>
          </a:p>
          <a:p>
            <a:r>
              <a:t>        "4",</a:t>
            </a:r>
          </a:p>
          <a:p>
            <a:r>
              <a:t>        "57.14%"</a:t>
            </a:r>
          </a:p>
          <a:p>
            <a:r>
              <a:t>      ],</a:t>
            </a:r>
          </a:p>
          <a:p>
            <a:r>
              <a:t>      [</a:t>
            </a:r>
          </a:p>
          <a:p>
            <a:r>
              <a:t>        "本题有效填写人次",</a:t>
            </a:r>
          </a:p>
          <a:p>
            <a:r>
              <a:t>        "7",</a:t>
            </a:r>
          </a:p>
          <a:p>
            <a:r>
              <a:t>        ""</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2,</a:t>
            </a:r>
          </a:p>
          <a:p>
            <a:r>
              <a:t>    "row_index": null,</a:t>
            </a:r>
          </a:p>
          <a:p>
            <a:r>
              <a:t>    "caveat": "2 sometimes + 1 rarely; 4 never. Do not claim a universal or frequent need."</a:t>
            </a:r>
          </a:p>
          <a:p>
            <a:r>
              <a:t>  },</a:t>
            </a:r>
          </a:p>
          <a:p>
            <a:r>
              <a:t>  {</a:t>
            </a:r>
          </a:p>
          <a:p>
            <a:r>
              <a:t>    "id": "F03",</a:t>
            </a:r>
          </a:p>
          <a:p>
            <a:r>
              <a:t>    "question_id": "OLD_Q4",</a:t>
            </a:r>
          </a:p>
          <a:p>
            <a:r>
              <a:t>    "question_text": "4. 当你无法完整参加次要会议时，最让你焦虑或麻烦的是什么?（最多选 3 项） / What is most difficult when you cannot fully attend a secondary meeting? (Choose up to 3)    [多选题]",</a:t>
            </a:r>
          </a:p>
          <a:p>
            <a:r>
              <a:t>    "label": "Selected concern about missing moments requiring their decision",</a:t>
            </a:r>
          </a:p>
          <a:p>
            <a:r>
              <a:t>    "count": 7,</a:t>
            </a:r>
          </a:p>
          <a:p>
            <a:r>
              <a:t>    "denominator": 7,</a:t>
            </a:r>
          </a:p>
          <a:p>
            <a:r>
              <a:t>    "evidence_kind": "stated_concern",</a:t>
            </a:r>
          </a:p>
          <a:p>
            <a:r>
              <a:t>    "raw_table": [</a:t>
            </a:r>
          </a:p>
          <a:p>
            <a:r>
              <a:t>      [</a:t>
            </a:r>
          </a:p>
          <a:p>
            <a:r>
              <a:t>        "选项",</a:t>
            </a:r>
          </a:p>
          <a:p>
            <a:r>
              <a:t>        "小计",</a:t>
            </a:r>
          </a:p>
          <a:p>
            <a:r>
              <a:t>        "比例"</a:t>
            </a:r>
          </a:p>
          <a:p>
            <a:r>
              <a:t>      ],</a:t>
            </a:r>
          </a:p>
          <a:p>
            <a:r>
              <a:t>      [</a:t>
            </a:r>
          </a:p>
          <a:p>
            <a:r>
              <a:t>        "不知道讨论到了哪里 / Not knowing what has been discussed",</a:t>
            </a:r>
          </a:p>
          <a:p>
            <a:r>
              <a:t>        "0",</a:t>
            </a:r>
          </a:p>
          <a:p>
            <a:r>
              <a:t>        "0%"</a:t>
            </a:r>
          </a:p>
          <a:p>
            <a:r>
              <a:t>      ],</a:t>
            </a:r>
          </a:p>
          <a:p>
            <a:r>
              <a:t>      [</a:t>
            </a:r>
          </a:p>
          <a:p>
            <a:r>
              <a:t>        "担心错过与自己有关的信息 / Missing information relevant to me",</a:t>
            </a:r>
          </a:p>
          <a:p>
            <a:r>
              <a:t>        "7",</a:t>
            </a:r>
          </a:p>
          <a:p>
            <a:r>
              <a:t>        "100%"</a:t>
            </a:r>
          </a:p>
          <a:p>
            <a:r>
              <a:t>      ],</a:t>
            </a:r>
          </a:p>
          <a:p>
            <a:r>
              <a:t>      [</a:t>
            </a:r>
          </a:p>
          <a:p>
            <a:r>
              <a:t>        "担心错过需要我做决定的时刻 / Missing moments that require my decision",</a:t>
            </a:r>
          </a:p>
          <a:p>
            <a:r>
              <a:t>        "7",</a:t>
            </a:r>
          </a:p>
          <a:p>
            <a:r>
              <a:t>        "100%"</a:t>
            </a:r>
          </a:p>
          <a:p>
            <a:r>
              <a:t>      ],</a:t>
            </a:r>
          </a:p>
          <a:p>
            <a:r>
              <a:t>      [</a:t>
            </a:r>
          </a:p>
          <a:p>
            <a:r>
              <a:t>        "频繁切换注意力，影响主要任务 / Attention switching harms my primary task",</a:t>
            </a:r>
          </a:p>
          <a:p>
            <a:r>
              <a:t>        "2",</a:t>
            </a:r>
          </a:p>
          <a:p>
            <a:r>
              <a:t>        "28.57%"</a:t>
            </a:r>
          </a:p>
          <a:p>
            <a:r>
              <a:t>      ],</a:t>
            </a:r>
          </a:p>
          <a:p>
            <a:r>
              <a:t>      [</a:t>
            </a:r>
          </a:p>
          <a:p>
            <a:r>
              <a:t>        "会后补信息成本很高 / Catching up afterwards takes too much time",</a:t>
            </a:r>
          </a:p>
          <a:p>
            <a:r>
              <a:t>        "3",</a:t>
            </a:r>
          </a:p>
          <a:p>
            <a:r>
              <a:t>        "42.86%"</a:t>
            </a:r>
          </a:p>
          <a:p>
            <a:r>
              <a:t>      ],</a:t>
            </a:r>
          </a:p>
          <a:p>
            <a:r>
              <a:t>      [</a:t>
            </a:r>
          </a:p>
          <a:p>
            <a:r>
              <a:t>        "感觉自己“脱离”了团队 / Feeling socially disconnected from the team",</a:t>
            </a:r>
          </a:p>
          <a:p>
            <a:r>
              <a:t>        "1",</a:t>
            </a:r>
          </a:p>
          <a:p>
            <a:r>
              <a:t>        "14.29%"</a:t>
            </a:r>
          </a:p>
          <a:p>
            <a:r>
              <a:t>      ],</a:t>
            </a:r>
          </a:p>
          <a:p>
            <a:r>
              <a:t>      [</a:t>
            </a:r>
          </a:p>
          <a:p>
            <a:r>
              <a:t>        "不知道什么时候值得重新加入 / Not knowing when it is worth rejoining",</a:t>
            </a:r>
          </a:p>
          <a:p>
            <a:r>
              <a:t>        "0",</a:t>
            </a:r>
          </a:p>
          <a:p>
            <a:r>
              <a:t>        "0%"</a:t>
            </a:r>
          </a:p>
          <a:p>
            <a:r>
              <a:t>      ],</a:t>
            </a:r>
          </a:p>
          <a:p>
            <a:r>
              <a:t>      [</a:t>
            </a:r>
          </a:p>
          <a:p>
            <a:r>
              <a:t>        "其他 / Other: ",</a:t>
            </a:r>
          </a:p>
          <a:p>
            <a:r>
              <a:t>        "0",</a:t>
            </a:r>
          </a:p>
          <a:p>
            <a:r>
              <a:t>        "0%"</a:t>
            </a:r>
          </a:p>
          <a:p>
            <a:r>
              <a:t>      ],</a:t>
            </a:r>
          </a:p>
          <a:p>
            <a:r>
              <a:t>      [</a:t>
            </a:r>
          </a:p>
          <a:p>
            <a:r>
              <a:t>        "本题有效填写人次",</a:t>
            </a:r>
          </a:p>
          <a:p>
            <a:r>
              <a:t>        "7",</a:t>
            </a:r>
          </a:p>
          <a:p>
            <a:r>
              <a:t>        ""</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4,</a:t>
            </a:r>
          </a:p>
          <a:p>
            <a:r>
              <a:t>    "row_index": null,</a:t>
            </a:r>
          </a:p>
          <a:p>
            <a:r>
              <a:t>    "caveat": "This is a concern, not seven observed missed decisions. Question allows up to three selections."</a:t>
            </a:r>
          </a:p>
          <a:p>
            <a:r>
              <a:t>  },</a:t>
            </a:r>
          </a:p>
          <a:p>
            <a:r>
              <a:t>  {</a:t>
            </a:r>
          </a:p>
          <a:p>
            <a:r>
              <a:t>    "id": "F05",</a:t>
            </a:r>
          </a:p>
          <a:p>
            <a:r>
              <a:t>    "question_id": "OLD_Q5",</a:t>
            </a:r>
          </a:p>
          <a:p>
            <a:r>
              <a:t>    "question_text": "5. 假设你正在专注于一个主要任务，同时有 AI 帮你监控另一个远程会议。对于下列事件，你希望系统什么时候提醒你? / Suppose you are focused on a primary task while AI monitors a secondary remote meeting. When should the system alert you about each event?    [矩阵单选题]",</a:t>
            </a:r>
          </a:p>
          <a:p>
            <a:r>
              <a:t>    "label": "Wanted immediate alerts when their decision or opinion was required",</a:t>
            </a:r>
          </a:p>
          <a:p>
            <a:r>
              <a:t>    "count": 6,</a:t>
            </a:r>
          </a:p>
          <a:p>
            <a:r>
              <a:t>    "denominator": 7,</a:t>
            </a:r>
          </a:p>
          <a:p>
            <a:r>
              <a:t>    "evidence_kind": "hypothetical_scenario_preference",</a:t>
            </a:r>
          </a:p>
          <a:p>
            <a:r>
              <a:t>    "raw_table": [</a:t>
            </a:r>
          </a:p>
          <a:p>
            <a:r>
              <a:t>      [</a:t>
            </a:r>
          </a:p>
          <a:p>
            <a:r>
              <a:t>        "题目\\选项",</a:t>
            </a:r>
          </a:p>
          <a:p>
            <a:r>
              <a:t>        "立即提醒/Immediate",</a:t>
            </a:r>
          </a:p>
          <a:p>
            <a:r>
              <a:t>        "稍后批量/Batch-later",</a:t>
            </a:r>
          </a:p>
          <a:p>
            <a:r>
              <a:t>        "会后汇总/After-meeting",</a:t>
            </a:r>
          </a:p>
          <a:p>
            <a:r>
              <a:t>        "无需提醒/No-need"</a:t>
            </a:r>
          </a:p>
          <a:p>
            <a:r>
              <a:t>      ],</a:t>
            </a:r>
          </a:p>
          <a:p>
            <a:r>
              <a:t>      [</a:t>
            </a:r>
          </a:p>
          <a:p>
            <a:r>
              <a:t>        "有人直接点名或 @ 你 / Someone directly mentions you",</a:t>
            </a:r>
          </a:p>
          <a:p>
            <a:r>
              <a:t>        "6(85.71%)",</a:t>
            </a:r>
          </a:p>
          <a:p>
            <a:r>
              <a:t>        "0(0%)",</a:t>
            </a:r>
          </a:p>
          <a:p>
            <a:r>
              <a:t>        "1(14.29%)",</a:t>
            </a:r>
          </a:p>
          <a:p>
            <a:r>
              <a:t>        "0(0%)"</a:t>
            </a:r>
          </a:p>
          <a:p>
            <a:r>
              <a:t>      ],</a:t>
            </a:r>
          </a:p>
          <a:p>
            <a:r>
              <a:t>      [</a:t>
            </a:r>
          </a:p>
          <a:p>
            <a:r>
              <a:t>        "需要你做决定或表态 / A decision or opinion from you is required",</a:t>
            </a:r>
          </a:p>
          <a:p>
            <a:r>
              <a:t>        "6(85.71%)",</a:t>
            </a:r>
          </a:p>
          <a:p>
            <a:r>
              <a:t>        "1(14.29%)",</a:t>
            </a:r>
          </a:p>
          <a:p>
            <a:r>
              <a:t>        "0(0%)",</a:t>
            </a:r>
          </a:p>
          <a:p>
            <a:r>
              <a:t>        "0(0%)"</a:t>
            </a:r>
          </a:p>
          <a:p>
            <a:r>
              <a:t>      ],</a:t>
            </a:r>
          </a:p>
          <a:p>
            <a:r>
              <a:t>      [</a:t>
            </a:r>
          </a:p>
          <a:p>
            <a:r>
              <a:t>        "给你分配了新的任务 / A new task is assigned to you",</a:t>
            </a:r>
          </a:p>
          <a:p>
            <a:r>
              <a:t>        "3(42.86%)",</a:t>
            </a:r>
          </a:p>
          <a:p>
            <a:r>
              <a:t>        "2(28.57%)",</a:t>
            </a:r>
          </a:p>
          <a:p>
            <a:r>
              <a:t>        "2(28.57%)",</a:t>
            </a:r>
          </a:p>
          <a:p>
            <a:r>
              <a:t>        "0(0%)"</a:t>
            </a:r>
          </a:p>
          <a:p>
            <a:r>
              <a:t>      ],</a:t>
            </a:r>
          </a:p>
          <a:p>
            <a:r>
              <a:t>      [</a:t>
            </a:r>
          </a:p>
          <a:p>
            <a:r>
              <a:t>        "出现与你负责内容有关的重要变更 / An important change affects your responsibility",</a:t>
            </a:r>
          </a:p>
          <a:p>
            <a:r>
              <a:t>        "4(57.14%)",</a:t>
            </a:r>
          </a:p>
          <a:p>
            <a:r>
              <a:t>        "3(42.86%)",</a:t>
            </a:r>
          </a:p>
          <a:p>
            <a:r>
              <a:t>        "0(0%)",</a:t>
            </a:r>
          </a:p>
          <a:p>
            <a:r>
              <a:t>        "0(0%)"</a:t>
            </a:r>
          </a:p>
          <a:p>
            <a:r>
              <a:t>      ],</a:t>
            </a:r>
          </a:p>
          <a:p>
            <a:r>
              <a:t>      [</a:t>
            </a:r>
          </a:p>
          <a:p>
            <a:r>
              <a:t>        "出现截止日期、时间或安排变化 / A deadline/schedule changes",</a:t>
            </a:r>
          </a:p>
          <a:p>
            <a:r>
              <a:t>        "2(28.57%)",</a:t>
            </a:r>
          </a:p>
          <a:p>
            <a:r>
              <a:t>        "1(14.29%)",</a:t>
            </a:r>
          </a:p>
          <a:p>
            <a:r>
              <a:t>        "4(57.14%)",</a:t>
            </a:r>
          </a:p>
          <a:p>
            <a:r>
              <a:t>        "0(0%)"</a:t>
            </a:r>
          </a:p>
          <a:p>
            <a:r>
              <a:t>      ],</a:t>
            </a:r>
          </a:p>
          <a:p>
            <a:r>
              <a:t>      [</a:t>
            </a:r>
          </a:p>
          <a:p>
            <a:r>
              <a:t>        "会议主题发生较大变化 / The meeting topic changes substantially",</a:t>
            </a:r>
          </a:p>
          <a:p>
            <a:r>
              <a:t>        "2(28.57%)",</a:t>
            </a:r>
          </a:p>
          <a:p>
            <a:r>
              <a:t>        "3(42.86%)",</a:t>
            </a:r>
          </a:p>
          <a:p>
            <a:r>
              <a:t>        "2(28.57%)",</a:t>
            </a:r>
          </a:p>
          <a:p>
            <a:r>
              <a:t>        "0(0%)"</a:t>
            </a:r>
          </a:p>
          <a:p>
            <a:r>
              <a:t>      ],</a:t>
            </a:r>
          </a:p>
          <a:p>
            <a:r>
              <a:t>      [</a:t>
            </a:r>
          </a:p>
          <a:p>
            <a:r>
              <a:t>        "一般性进展更新 / General progress update",</a:t>
            </a:r>
          </a:p>
          <a:p>
            <a:r>
              <a:t>        "1(14.29%)",</a:t>
            </a:r>
          </a:p>
          <a:p>
            <a:r>
              <a:t>        "2(28.57%)",</a:t>
            </a:r>
          </a:p>
          <a:p>
            <a:r>
              <a:t>        "4(57.14%)",</a:t>
            </a:r>
          </a:p>
          <a:p>
            <a:r>
              <a:t>        "0(0%)"</a:t>
            </a:r>
          </a:p>
          <a:p>
            <a:r>
              <a:t>      ],</a:t>
            </a:r>
          </a:p>
          <a:p>
            <a:r>
              <a:t>      [</a:t>
            </a:r>
          </a:p>
          <a:p>
            <a:r>
              <a:t>        "闲聊或低优先级讨论 / Casual / low-priority discussion",</a:t>
            </a:r>
          </a:p>
          <a:p>
            <a:r>
              <a:t>        "1(14.29%)",</a:t>
            </a:r>
          </a:p>
          <a:p>
            <a:r>
              <a:t>        "0(0%)",</a:t>
            </a:r>
          </a:p>
          <a:p>
            <a:r>
              <a:t>        "5(71.43%)",</a:t>
            </a:r>
          </a:p>
          <a:p>
            <a:r>
              <a:t>        "1(14.29%)"</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5,</a:t>
            </a:r>
          </a:p>
          <a:p>
            <a:r>
              <a:t>    "row_index": 2,</a:t>
            </a:r>
          </a:p>
          <a:p>
            <a:r>
              <a:t>    "caveat": "Each matrix row sums to seven. Compare within the same hypothetical question; no causal claim."</a:t>
            </a:r>
          </a:p>
          <a:p>
            <a:r>
              <a:t>  },</a:t>
            </a:r>
          </a:p>
          <a:p>
            <a:r>
              <a:t>  {</a:t>
            </a:r>
          </a:p>
          <a:p>
            <a:r>
              <a:t>    "id": "F06",</a:t>
            </a:r>
          </a:p>
          <a:p>
            <a:r>
              <a:t>    "question_id": "OLD_Q5",</a:t>
            </a:r>
          </a:p>
          <a:p>
            <a:r>
              <a:t>    "question_text": "5. 假设你正在专注于一个主要任务，同时有 AI 帮你监控另一个远程会议。对于下列事件，你希望系统什么时候提醒你? / Suppose you are focused on a primary task while AI monitors a secondary remote meeting. When should the system alert you about each event?    [矩阵单选题]",</a:t>
            </a:r>
          </a:p>
          <a:p>
            <a:r>
              <a:t>    "label": "Wanted immediate alerts for general progress updates",</a:t>
            </a:r>
          </a:p>
          <a:p>
            <a:r>
              <a:t>    "count": 1,</a:t>
            </a:r>
          </a:p>
          <a:p>
            <a:r>
              <a:t>    "denominator": 7,</a:t>
            </a:r>
          </a:p>
          <a:p>
            <a:r>
              <a:t>    "evidence_kind": "hypothetical_scenario_preference",</a:t>
            </a:r>
          </a:p>
          <a:p>
            <a:r>
              <a:t>    "raw_table": [</a:t>
            </a:r>
          </a:p>
          <a:p>
            <a:r>
              <a:t>      [</a:t>
            </a:r>
          </a:p>
          <a:p>
            <a:r>
              <a:t>        "题目\\选项",</a:t>
            </a:r>
          </a:p>
          <a:p>
            <a:r>
              <a:t>        "立即提醒/Immediate",</a:t>
            </a:r>
          </a:p>
          <a:p>
            <a:r>
              <a:t>        "稍后批量/Batch-later",</a:t>
            </a:r>
          </a:p>
          <a:p>
            <a:r>
              <a:t>        "会后汇总/After-meeting",</a:t>
            </a:r>
          </a:p>
          <a:p>
            <a:r>
              <a:t>        "无需提醒/No-need"</a:t>
            </a:r>
          </a:p>
          <a:p>
            <a:r>
              <a:t>      ],</a:t>
            </a:r>
          </a:p>
          <a:p>
            <a:r>
              <a:t>      [</a:t>
            </a:r>
          </a:p>
          <a:p>
            <a:r>
              <a:t>        "有人直接点名或 @ 你 / Someone directly mentions you",</a:t>
            </a:r>
          </a:p>
          <a:p>
            <a:r>
              <a:t>        "6(85.71%)",</a:t>
            </a:r>
          </a:p>
          <a:p>
            <a:r>
              <a:t>        "0(0%)",</a:t>
            </a:r>
          </a:p>
          <a:p>
            <a:r>
              <a:t>        "1(14.29%)",</a:t>
            </a:r>
          </a:p>
          <a:p>
            <a:r>
              <a:t>        "0(0%)"</a:t>
            </a:r>
          </a:p>
          <a:p>
            <a:r>
              <a:t>      ],</a:t>
            </a:r>
          </a:p>
          <a:p>
            <a:r>
              <a:t>      [</a:t>
            </a:r>
          </a:p>
          <a:p>
            <a:r>
              <a:t>        "需要你做决定或表态 / A decision or opinion from you is required",</a:t>
            </a:r>
          </a:p>
          <a:p>
            <a:r>
              <a:t>        "6(85.71%)",</a:t>
            </a:r>
          </a:p>
          <a:p>
            <a:r>
              <a:t>        "1(14.29%)",</a:t>
            </a:r>
          </a:p>
          <a:p>
            <a:r>
              <a:t>        "0(0%)",</a:t>
            </a:r>
          </a:p>
          <a:p>
            <a:r>
              <a:t>        "0(0%)"</a:t>
            </a:r>
          </a:p>
          <a:p>
            <a:r>
              <a:t>      ],</a:t>
            </a:r>
          </a:p>
          <a:p>
            <a:r>
              <a:t>      [</a:t>
            </a:r>
          </a:p>
          <a:p>
            <a:r>
              <a:t>        "给你分配了新的任务 / A new task is assigned to you",</a:t>
            </a:r>
          </a:p>
          <a:p>
            <a:r>
              <a:t>        "3(42.86%)",</a:t>
            </a:r>
          </a:p>
          <a:p>
            <a:r>
              <a:t>        "2(28.57%)",</a:t>
            </a:r>
          </a:p>
          <a:p>
            <a:r>
              <a:t>        "2(28.57%)",</a:t>
            </a:r>
          </a:p>
          <a:p>
            <a:r>
              <a:t>        "0(0%)"</a:t>
            </a:r>
          </a:p>
          <a:p>
            <a:r>
              <a:t>      ],</a:t>
            </a:r>
          </a:p>
          <a:p>
            <a:r>
              <a:t>      [</a:t>
            </a:r>
          </a:p>
          <a:p>
            <a:r>
              <a:t>        "出现与你负责内容有关的重要变更 / An important change affects your responsibility",</a:t>
            </a:r>
          </a:p>
          <a:p>
            <a:r>
              <a:t>        "4(57.14%)",</a:t>
            </a:r>
          </a:p>
          <a:p>
            <a:r>
              <a:t>        "3(42.86%)",</a:t>
            </a:r>
          </a:p>
          <a:p>
            <a:r>
              <a:t>        "0(0%)",</a:t>
            </a:r>
          </a:p>
          <a:p>
            <a:r>
              <a:t>        "0(0%)"</a:t>
            </a:r>
          </a:p>
          <a:p>
            <a:r>
              <a:t>      ],</a:t>
            </a:r>
          </a:p>
          <a:p>
            <a:r>
              <a:t>      [</a:t>
            </a:r>
          </a:p>
          <a:p>
            <a:r>
              <a:t>        "出现截止日期、时间或安排变化 / A deadline/schedule changes",</a:t>
            </a:r>
          </a:p>
          <a:p>
            <a:r>
              <a:t>        "2(28.57%)",</a:t>
            </a:r>
          </a:p>
          <a:p>
            <a:r>
              <a:t>        "1(14.29%)",</a:t>
            </a:r>
          </a:p>
          <a:p>
            <a:r>
              <a:t>        "4(57.14%)",</a:t>
            </a:r>
          </a:p>
          <a:p>
            <a:r>
              <a:t>        "0(0%)"</a:t>
            </a:r>
          </a:p>
          <a:p>
            <a:r>
              <a:t>      ],</a:t>
            </a:r>
          </a:p>
          <a:p>
            <a:r>
              <a:t>      [</a:t>
            </a:r>
          </a:p>
          <a:p>
            <a:r>
              <a:t>        "会议主题发生较大变化 / The meeting topic changes substantially",</a:t>
            </a:r>
          </a:p>
          <a:p>
            <a:r>
              <a:t>        "2(28.57%)",</a:t>
            </a:r>
          </a:p>
          <a:p>
            <a:r>
              <a:t>        "3(42.86%)",</a:t>
            </a:r>
          </a:p>
          <a:p>
            <a:r>
              <a:t>        "2(28.57%)",</a:t>
            </a:r>
          </a:p>
          <a:p>
            <a:r>
              <a:t>        "0(0%)"</a:t>
            </a:r>
          </a:p>
          <a:p>
            <a:r>
              <a:t>      ],</a:t>
            </a:r>
          </a:p>
          <a:p>
            <a:r>
              <a:t>      [</a:t>
            </a:r>
          </a:p>
          <a:p>
            <a:r>
              <a:t>        "一般性进展更新 / General progress update",</a:t>
            </a:r>
          </a:p>
          <a:p>
            <a:r>
              <a:t>        "1(14.29%)",</a:t>
            </a:r>
          </a:p>
          <a:p>
            <a:r>
              <a:t>        "2(28.57%)",</a:t>
            </a:r>
          </a:p>
          <a:p>
            <a:r>
              <a:t>        "4(57.14%)",</a:t>
            </a:r>
          </a:p>
          <a:p>
            <a:r>
              <a:t>        "0(0%)"</a:t>
            </a:r>
          </a:p>
          <a:p>
            <a:r>
              <a:t>      ],</a:t>
            </a:r>
          </a:p>
          <a:p>
            <a:r>
              <a:t>      [</a:t>
            </a:r>
          </a:p>
          <a:p>
            <a:r>
              <a:t>        "闲聊或低优先级讨论 / Casual / low-priority discussion",</a:t>
            </a:r>
          </a:p>
          <a:p>
            <a:r>
              <a:t>        "1(14.29%)",</a:t>
            </a:r>
          </a:p>
          <a:p>
            <a:r>
              <a:t>        "0(0%)",</a:t>
            </a:r>
          </a:p>
          <a:p>
            <a:r>
              <a:t>        "5(71.43%)",</a:t>
            </a:r>
          </a:p>
          <a:p>
            <a:r>
              <a:t>        "1(14.29%)"</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5,</a:t>
            </a:r>
          </a:p>
          <a:p>
            <a:r>
              <a:t>    "row_index": 7,</a:t>
            </a:r>
          </a:p>
          <a:p>
            <a:r>
              <a:t>    "caveat": "The other choices are batch later 2 and after meeting 4."</a:t>
            </a:r>
          </a:p>
          <a:p>
            <a:r>
              <a:t>  }</a:t>
            </a:r>
          </a:p>
          <a:p>
            <a:r>
              <a:t>]</a:t>
            </a:r>
          </a:p>
          <a:p>
            <a:r>
              <a:t>Course reference: lectures/week 2/Formative Study.pdf, pages 8, 17 and 82. The initial questionnaire is exploratory. Q4 records a concern and Q5 records hypothetical preferences, not observed missed-decision rates. Only 3 of 7 reported overlapping meetings/classes/tasks. The scope is people with competing attention who may still need to contribute.</a:t>
            </a:r>
          </a:p>
          <a:p/>
          <a:p>
            <a:r>
              <a:t>43-RECORD FINDINGS</a:t>
            </a:r>
          </a:p>
          <a:p>
            <a:r>
              <a:t>Selected examples from research/combined_research/findings_source_map.json. R13/PU10: public manager narrative of repeated requests. R12/PU09: public account of generic summaries omitting personally relevant details. R36/gemini-3.1-pro__S1__r3: simulated missed-premise scenario, explicitly shown as a scenario. R11/PU08: public account of summaries already supporting an engineer. R39/muse-spark-1.3-high__S1__r3, R40/gemini-4-argon-high__S2__r1 and R41/grok-4.7-high__S2__r1 are simulated cases where existing records suffice. These are qualitative examples and counterexamples, not a frequency count or 43 human interviews. Do not infer prevalence from their recurrence. ProxyMe is the system introduced in the paper Enabling Partial Participation in Remote Meetings, not the title of the paper. We inherit the partial-participation problem and propose evaluating selective re-entry with relevant context and participant-controlled replies.</a:t>
            </a:r>
          </a:p>
          <a:p>
            <a:r>
              <a:t>R36 and R39-R41 are exploratory simulated cases; R11 is a public narrative. Shortened slide wording does not change evidence provenance. No frequency inference from 43 records.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PRESENTATION CLOCK: 1:30-2:50</a:t>
            </a:r>
          </a:p>
          <a:p>
            <a:r>
              <a:t>PRESENTER: A (Chi Kit WONG) / B (Haodong XU)</a:t>
            </a:r>
          </a:p>
          <a:p>
            <a:r>
              <a:t>SLIDE 3 / HOW EVIDENCE SHAPED THE PROTOTYPE</a:t>
            </a:r>
          </a:p>
          <a:p>
            <a:r>
              <a:t>Clock: 1:30-2:50. Total slide slot: 80 seconds.</a:t>
            </a:r>
          </a:p>
          <a:p/>
          <a:p>
            <a:r>
              <a:t>A speaks 1:30-1:55; B speaks 1:55-2:50. Keep the slide displayed.</a:t>
            </a:r>
          </a:p>
          <a:p/>
          <a:p>
            <a:r>
              <a:t>Speaker A / Chi Kit WONG / 1:30-1:55</a:t>
            </a:r>
          </a:p>
          <a:p/>
          <a:p>
            <a:r>
              <a:t>Spoken script:</a:t>
            </a:r>
          </a:p>
          <a:p>
            <a:r>
              <a:t>We grouped the records by requests, missing context, and reply risks, then linked these patterns to three design needs: timely alerts, original context, and human control. The table shows these links. Haodong will explain the features.</a:t>
            </a:r>
          </a:p>
          <a:p/>
          <a:p/>
          <a:p>
            <a:r>
              <a:t>[STAGE CUE: A hands over to B; remain on slide 3.]</a:t>
            </a:r>
          </a:p>
          <a:p/>
          <a:p>
            <a:r>
              <a:t>Speaker B / Haodong XU / 1:55-2:50</a:t>
            </a:r>
          </a:p>
          <a:p/>
          <a:p>
            <a:r>
              <a:t>Spoken script:</a:t>
            </a:r>
          </a:p>
          <a:p>
            <a:r>
              <a:t>One record described a manager repeating feedback requests while someone's attention was elsewhere. Another asked what was discussed, why they were needed, and what to answer. A third stressed checking source wording. These led to priority categories and original excerpts. A scenario illustrated how a missed condition could make an otherwise plausible reply unsuitable. So the participant edits and confirms before copying. In our demo, Alex checks availability before agreeing. This connects each interface choice to a specific need.</a:t>
            </a:r>
          </a:p>
          <a:p/>
          <a:p/>
          <a:p/>
          <a:p>
            <a:r>
              <a:t>Private source note: R13/PU10 repeated feedback requests when attention was elsewhere; R03/HUM_OPEN003 context/why me/what to answer and confirmation preference; R04/PU01 source wording verification; R36 exploratory model scenario: missed premise led to an unsuitable response. Combined 43 records = 3 open comments from the N=7 questionnaire + 14 public narrative fragments + 26 AI simulations. Do not call them 43 human participants.</a:t>
            </a:r>
          </a:p>
          <a:p/>
          <a:p>
            <a:r>
              <a:t>For a 2:30 video, omit: A scenario illustrated how a missed condition could make an otherwise plausible reply unsuitable.</a:t>
            </a:r>
          </a:p>
          <a:p>
            <a:r>
              <a:t>Use the alternate clock in Timing_and_Demo_Plan_EN.txt.</a:t>
            </a:r>
          </a:p>
          <a:p/>
          <a:p/>
          <a:p>
            <a:r>
              <a:t>SOURCE / EVIDENCE</a:t>
            </a:r>
          </a:p>
          <a:p>
            <a:r>
              <a:t>Local evidence: research/combined_research/README.txt; research/combined_research/findings_source_map.json; research/analysis_2026-10-16/project_update_zh.txt. Original questionnaire N=7 includes 3 open comments; 14 public narrative fragments from 8 source groups; 26 valid AI questionnaire responses. The 43-row table is 3+14+26 evidence records, not 43 recruited interviewees. These materials suggest design hypotheses, not prevalence or effectiveness.</a:t>
            </a:r>
          </a:p>
          <a:p/>
          <a:p>
            <a:r>
              <a:t>RECORD-TO-DESIGN TRACE</a:t>
            </a:r>
          </a:p>
          <a:p>
            <a:r>
              <a:t>research/combined_research/findings_source_map.json: R13 / PU10 is a public manager narrative of repeated feedback requests; R03 / HUM_OPEN_003 is a questionnaire preference for background, reason, pending question and confirmation control; R04 / PU01 is a public account of locating and verifying transcript wording; R36 / gemini-3.1-pro__S1__r3 is an AI-generated scenario involving a missed premise and unsuitable data. R36 is explicitly shown as a scenario. The combined 43 records contain 3 open comments, 14 public fragments and 26 model outputs, with different units. No participant prevalence or independent-interview count is calculated from them. The displayed examples are translated/summarized, not verbatim interview quotations. Current source excerpts expose text context, not audio verification. The draft workflow remains a design hypothesis.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PRESENTATION CLOCK: 2:50-3:40</a:t>
            </a:r>
          </a:p>
          <a:p>
            <a:r>
              <a:t>PRESENTER: B (Haodong XU)</a:t>
            </a:r>
          </a:p>
          <a:p>
            <a:r>
              <a:t>SLIDE 4 / HOW AI SUPPORTS THE INTERACTION</a:t>
            </a:r>
          </a:p>
          <a:p>
            <a:r>
              <a:t>Clock: 2:50-3:40. Total slide slot: 50 seconds.</a:t>
            </a:r>
          </a:p>
          <a:p/>
          <a:p>
            <a:r>
              <a:t>Speaker B / Haodong XU / 2:50-3:40</a:t>
            </a:r>
          </a:p>
          <a:p/>
          <a:p>
            <a:r>
              <a:t>Spoken script:</a:t>
            </a:r>
          </a:p>
          <a:p>
            <a:r>
              <a:t>Meeting Cue runs in a browser beside Tencent Meeting. Browser speech recognition produces text. DeepSeek analyzes new text with the participant's role and availability, returning priority, source references, and a draft. The person checks the source, edits and copies the reply, then pastes and sends it in Tencent Meeting. AI can miss context, so checking and confirmation remain essential. Speech recognition and text analysis are separate services.</a:t>
            </a:r>
          </a:p>
          <a:p/>
          <a:p/>
          <a:p/>
          <a:p/>
          <a:p>
            <a:r>
              <a:t>SOURCE / EVIDENCE</a:t>
            </a:r>
          </a:p>
          <a:p>
            <a:r>
              <a:t>Current source: meeting-assistant/public/app.js, public/index.html, server.mjs; Browser speech capture/transcription is distinct from DeepSeek text analysis. Companion runs beside Tencent Meeting, no embedded Tencent SDK. Replies require manual paste/send. Session start/stop, feedback, source excerpts and copy states are implemented.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PRESENTATION CLOCK: 3:40-6:15</a:t>
            </a:r>
          </a:p>
          <a:p>
            <a:r>
              <a:t>PRESENTER: B (Haodong XU) / C (Sida ZHANG)</a:t>
            </a:r>
          </a:p>
          <a:p>
            <a:r>
              <a:t>SLIDE 5 / DEMO: THE REHEARSAL DECISION</a:t>
            </a:r>
          </a:p>
          <a:p>
            <a:r>
              <a:t>Clock: 3:40-6:15. Total slide slot: 155 seconds.</a:t>
            </a:r>
          </a:p>
          <a:p/>
          <a:p>
            <a:r>
              <a:t>B introduces 3:40-3:50; video 3:50-5:50; C debriefs 5:50-6:15.</a:t>
            </a:r>
          </a:p>
          <a:p>
            <a:r>
              <a:t>The complete recording is pending. Use the intro and debrief only after reviewed</a:t>
            </a:r>
          </a:p>
          <a:p>
            <a:r>
              <a:t>footage supports these actions. Nobody speaks over the actual meeting audio.</a:t>
            </a:r>
          </a:p>
          <a:p/>
          <a:p>
            <a:r>
              <a:t>Speaker B / Haodong XU / 3:40-3:50</a:t>
            </a:r>
          </a:p>
          <a:p/>
          <a:p>
            <a:r>
              <a:t>Spoken script:</a:t>
            </a:r>
          </a:p>
          <a:p>
            <a:r>
              <a:t>Watch Alex check a rehearsal request, correct the proposed time, and send the reply.</a:t>
            </a:r>
          </a:p>
          <a:p/>
          <a:p/>
          <a:p>
            <a:r>
              <a:t>[STAGE CUE: B starts the verified 120-second video. Everyone stays silent.</a:t>
            </a:r>
          </a:p>
          <a:p>
            <a:r>
              <a:t>C begins the debrief after it ends, without another spoken handoff.]</a:t>
            </a:r>
          </a:p>
          <a:p/>
          <a:p>
            <a:r>
              <a:t>Speaker C / Sida ZHANG / 5:50-6:15</a:t>
            </a:r>
          </a:p>
          <a:p/>
          <a:p>
            <a:r>
              <a:t>Spoken script:</a:t>
            </a:r>
          </a:p>
          <a:p>
            <a:r>
              <a:t>Alex checked the original request and changed the time to match availability. Alex then sent the message. This demonstrates our three design needs: a timely cue, supporting context, and control over the final commitment.</a:t>
            </a:r>
          </a:p>
          <a:p/>
          <a:p/>
          <a:p/>
          <a:p/>
          <a:p>
            <a:r>
              <a:t>SOURCE / EVIDENCE</a:t>
            </a:r>
          </a:p>
          <a:p>
            <a:r>
              <a:t>Current source: meeting-assistant/public/app.js, public/index.html, server.mjs; Browser speech capture/transcription is distinct from DeepSeek text analysis. Companion runs beside Tencent Meeting, no embedded Tencent SDK. Replies require manual paste/send. Session start/stop, feedback, source excerpts and copy states are implemented.</a:t>
            </a:r>
          </a:p>
          <a:p/>
          <a:p>
            <a:r>
              <a:t>VIDEO INSERTION</a:t>
            </a:r>
          </a:p>
          <a:p>
            <a:r>
              <a:t>The slide reserves an editable 16:9 video rectangle. No video is embedded yet.</a:t>
            </a:r>
          </a:p>
          <a:p>
            <a:r>
              <a:t>Select and delete the rectangle named DEMO VIDEO PLACEHOLDER. Insert the completed recording from your device, then place it at X 4.445 cm, Y 3.546 cm, width 24.977 cm, height 14.049 cm. Keep the aspect ratio locked.</a:t>
            </a:r>
          </a:p>
          <a:p>
            <a:r>
              <a:t>Use on-click playback so Haodong XU can introduce and start the video. Check its sound and playback on the presentation computer. Optional full-screen playback can make the interface easier to read.</a:t>
            </a:r>
          </a:p>
          <a:p>
            <a:r>
              <a:t>Timing stays unchanged: B introduces 3:40–3:50, video 3:50–5:50, C debriefs 5:50–6:15.</a:t>
            </a:r>
          </a:p>
          <a:p/>
          <a:p>
            <a:r>
              <a:t>SCENARIO CONTEXT</a:t>
            </a:r>
          </a:p>
          <a:p>
            <a:r>
              <a:t>The team requests Alex at 10:20. Alex can arrive at 10:30 and rehearse at 10:40. The video should show the request, transcript, automatic DeepSeek analysis, source review, edited reply, manual Tencent chat sending, and acknowledgement.</a:t>
            </a:r>
          </a:p>
          <a:p/>
          <a:p>
            <a:r>
              <a:t>PREVIOUS VISUAL REFERENCE</a:t>
            </a:r>
          </a:p>
          <a:p>
            <a:r>
              <a:t>The earlier text-input screenshot has been removed from the slide to free the video space. It remains available in Art_Assets/prototype-reply-screenshot.png. The video is pending.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PRESENTATION CLOCK: 6:15-6:50</a:t>
            </a:r>
          </a:p>
          <a:p>
            <a:r>
              <a:t>PRESENTER: C (Sida ZHANG)</a:t>
            </a:r>
          </a:p>
          <a:p>
            <a:r>
              <a:t>Spoken script:</a:t>
            </a:r>
          </a:p>
          <a:p>
            <a:r>
              <a:t>We collected thirty-two simulated reviews of the recorded workflow. Twenty-seven supported selective attention, while views on context and control were mixed. All favored use only in some meetings. The strongest fit is working on another task while remaining available for key decisions.</a:t>
            </a:r>
          </a:p>
          <a:p/>
          <a:p>
            <a:r>
              <a:t>SOURCE / EVIDENCE</a:t>
            </a:r>
          </a:p>
          <a:p>
            <a:r>
              <a:t>research/current_use_review_2026-10-23/analysis.json and combined_valid_reviews.json. 32 valid independent new conversations: Cursor 26, Codex 6. Eleven successful configurations, ten with 3 valid repeats and Grok with 2. All evaluated the same actual UI trace E01-E08 plus real DeepSeek outputs with clean fictional text, not just a product description. No reviewer operated the interface. No voice accuracy, meeting delivery, human task performance or population effect was measured. Counts directly tabulate value_assessments: selective_attention 27 supported / 5 mixed; context_for_correct_reply 16 / 16; control_over_commitments 12 / 20. None rated unsupported, but all 32 selected only_in_some_cases for use. Related models and shared trace limit independence. Exact session IDs, input SHA and failure attempts retained in raw/. Unsupported initial Codex models were replaced with Sol/Luna 5.6; Grok third repeat failed twice and was not imputed.</a:t>
            </a:r>
          </a:p>
          <a:p/>
          <a:p>
            <a:r>
              <a:t>Reviews are of the pre-repair workflow; slide 7 technical retests follow the repair. Earlier 43 exploratory records and 29 description reviews are different stages, not pooled as users.</a:t>
            </a:r>
          </a:p>
          <a:p/>
          <a:p>
            <a:r>
              <a:t>PRIOR DESIGN ITERATION</a:t>
            </a:r>
          </a:p>
          <a:p/>
          <a:p>
            <a:r>
              <a:t>research/assistant_feedback_2026-10-20/findings_zh.txt and findings.json, D01, D02, D03. These are 29 valid reviews of a frozen prototype description, generated in independent model conversations; reviewers did not operate the interface or participate in a meeting. D01 references cursor__claude-opus-5-5-high__r1 Q7, cursor__claude-sonnet-5-5-high__r3 Q7 and codex-gpt-5.6-sol__r3 Q7. D02 references cursor__claude-opus-5-5-high__r1 Q7, cursor__gemini-4-argon-high__r1 Q7 and codex-gpt-5.6-sol__r2 Q3. D03 references cursor__gemini-4-argon-high__r1/r3 Q7 and cursor__claude-opus-5-5-high__r2 Q7. State visibility and prompting were changed; no user-effectiveness or addressee-accuracy improvement has been established.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PRESENTATION CLOCK: 6:50-7:45</a:t>
            </a:r>
          </a:p>
          <a:p>
            <a:r>
              <a:t>PRESENTER: C (Sida ZHANG)</a:t>
            </a:r>
          </a:p>
          <a:p>
            <a:r>
              <a:t>Spoken script:</a:t>
            </a:r>
          </a:p>
          <a:p>
            <a:r>
              <a:t>Feedback exposed a real risk: a copied reply could appear already communicated in later summaries. We now keep unsent drafts out of meeting facts and track delivery separately. Two completed retests preserved that distinction; one rejected invalid sources. Our intended impact is fewer interruptions and safer replies. Next, each person will try both alert rules with matched cases and balanced order. We will measure timely correct replies, task performance, missed requests, and false alerts.</a:t>
            </a:r>
          </a:p>
          <a:p/>
          <a:p>
            <a:r>
              <a:t>For a 2:30 video, omit: Next, each person will try both alert rules with matched cases and balanced order.</a:t>
            </a:r>
          </a:p>
          <a:p/>
          <a:p>
            <a:r>
              <a:t>SOURCE / EVIDENCE</a:t>
            </a:r>
          </a:p>
          <a:p>
            <a:r>
              <a:t>Actual UI E05 confirms/copies a reply; E06 edits it; E07 later summary treats the request as handled. Model feedback on E06/E07 flags stale clipboard and unverified sending. Baseline functional_runs.json reproduced handled/shared wording in all 3 runs. Revision: server.mjs excludes unsent confirmedText and supplies delivery_status; deepseek.mjs distinguishes local state, self-reported sending and team agreement. Local draft stays available in the UI.</a:t>
            </a:r>
          </a:p>
          <a:p>
            <a:r>
              <a:t>functional_runs_after.json: same 3 repetitions; 9/9 clear-case routing expectations met. Ambiguous follow-up completed in 2/3 runs, both kept previous reply unsent; third was rejected INVALID_SOURCES. No silent retry or imputation. First completed run still assumed the unknown you meant Alex; redundant reminders also remain possible. This small scripted check does not establish robustness or actual impact. 87 automated tests passed (test_results.txt). Models did not re-review the patched version.</a:t>
            </a:r>
          </a:p>
          <a:p/>
          <a:p>
            <a:r>
              <a:t>NEXT EVALUATION</a:t>
            </a:r>
          </a:p>
          <a:p>
            <a:r>
              <a:t>Compare A: every directed question immediately versus B: role-relevant, decision-critical requests immediately. Same interface, matched cases, parallel task, balanced order. Measure timely correct replies, task accuracy/time, missed requests and false alerts. Include ambiguity, wrong transcripts and misleading summary cases. Source and delivery validation remain important.</a:t>
            </a:r>
          </a:p>
          <a:p/>
          <a:p/>
          <a:p>
            <a:r>
              <a:t>Bai, Png &amp; Velloso (2026), Enabling Partial Participation in Remote Meetings, CHI 2026. https://doi.org/10.1145/3772318.3790744 . Read local lectures/week 1/papers/Remote meetings.pdf. Abstract: 24 participants; ProxyMe meeting updates and questions; update frequency/detail and response type varied. No universal optimum.</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PRESENTATION CLOCK: 7:45-7:50</a:t>
            </a:r>
          </a:p>
          <a:p>
            <a:r>
              <a:t>PRESENTER: C (Sida ZHANG)</a:t>
            </a:r>
          </a:p>
          <a:p>
            <a:r>
              <a:t>SLIDE 8 / TEAM CONTRIBUTIONS</a:t>
            </a:r>
          </a:p>
          <a:p>
            <a:r>
              <a:t>Clock: 7:45-7:50. Total slide slot: 5 seconds.</a:t>
            </a:r>
          </a:p>
          <a:p/>
          <a:p>
            <a:r>
              <a:t>C says the sentence only. Do not read individual contribution rows.</a:t>
            </a:r>
          </a:p>
          <a:p>
            <a:r>
              <a:t>Update planned demo/review tasks only after completion.</a:t>
            </a:r>
          </a:p>
          <a:p/>
          <a:p>
            <a:r>
              <a:t>Speaker C / Sida ZHANG / 7:45-7:50</a:t>
            </a:r>
          </a:p>
          <a:p/>
          <a:p>
            <a:r>
              <a:t>Spoken script:</a:t>
            </a:r>
          </a:p>
          <a:p>
            <a:r>
              <a:t>Here is our contribution.</a:t>
            </a:r>
          </a:p>
          <a:p/>
          <a:p/>
          <a:p>
            <a:r>
              <a:t>[STAGE CUE: Keep the contribution table displayed and pause for questions.</a:t>
            </a:r>
          </a:p>
          <a:p>
            <a:r>
              <a:t>Finish by 7:50; preserve 10 seconds spare and Q&amp;A from 8:00 to 10:00.]</a:t>
            </a:r>
          </a:p>
          <a:p/>
          <a:p/>
          <a:p>
            <a:r>
              <a:t>SOURCE / EVIDENCE</a:t>
            </a:r>
          </a:p>
          <a:p>
            <a:r>
              <a:t>MIDTERM_PRESENTATION_REQUIREMENTS.txt: group presentation; actual individual contributions; five criteria: slide quality &amp; AI integration, background/context, problem definition/formulation, technical approach/methodology, value/impact. Midterm 20%. Confirmed by the user: 10 minutes per group, comprising 8 minutes of presentation including the demo and 2 minutes of Q&amp;A.</a:t>
            </a:r>
          </a:p>
          <a:p>
            <a:r>
              <a:t>User-reported actual work: Chi Kit completed the main project; Haodong helped prepare the questionnaire. Haodong and Sida will join the demo recording later. Proposed remaining tasks are allocations, not claims of completed work. Equal speaking slots do not imply equal completed work.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Q&amp;A ONLY, 08:00–10:00. Hidden appendix. Answer the question directly before opening this page.</a:t>
            </a:r>
          </a:p>
          <a:p/>
          <a:p>
            <a:r>
              <a:t>Local evidence: research/combined_research/README.txt; research/combined_research/findings_source_map.json; research/analysis_2026-10-16/project_update_zh.txt. Original questionnaire N=7 includes 3 open comments; 14 public narrative fragments from 8 source groups; 26 valid AI questionnaire responses. The 43-row table is 3+14+26 evidence records, not 43 recruited interviewees. These materials suggest design hypotheses, not prevalence or effectiveness.</a:t>
            </a:r>
          </a:p>
          <a:p>
            <a:r>
              <a:t>Later reviews: research/assistant_feedback_2026-10-20/findings_zh.txt; 29 valid description-based reviews out of 30 planned runs; no actual interface operation, physical audio or additional human users. Public authors' identities not independently verified. Repeated AI outputs are not independent human samples.</a:t>
            </a:r>
          </a:p>
          <a:p/>
          <a:p>
            <a:r>
              <a:t>QUESTIONNAIRE TRACE</a:t>
            </a:r>
          </a:p>
          <a:p>
            <a:r>
              <a:t>[</a:t>
            </a:r>
          </a:p>
          <a:p>
            <a:r>
              <a:t>  {</a:t>
            </a:r>
          </a:p>
          <a:p>
            <a:r>
              <a:t>    "id": "F01",</a:t>
            </a:r>
          </a:p>
          <a:p>
            <a:r>
              <a:t>    "question_id": "OLD_Q2",</a:t>
            </a:r>
          </a:p>
          <a:p>
            <a:r>
              <a:t>    "question_text": "2. 过去 6 个月，你是否遇到过“两个会议/课程/任务时间冲突，只能把注意力主要放在其中一个”的情况? / In the past 6 months, have you experienced overlapping meetings/classes/tasks where you could mainly focus on only one?    [单选题]",</a:t>
            </a:r>
          </a:p>
          <a:p>
            <a:r>
              <a:t>    "label": "Experienced overlapping meetings/classes/tasks at least rarely within six months",</a:t>
            </a:r>
          </a:p>
          <a:p>
            <a:r>
              <a:t>    "count": 3,</a:t>
            </a:r>
          </a:p>
          <a:p>
            <a:r>
              <a:t>    "denominator": 7,</a:t>
            </a:r>
          </a:p>
          <a:p>
            <a:r>
              <a:t>    "evidence_kind": "self_report_history",</a:t>
            </a:r>
          </a:p>
          <a:p>
            <a:r>
              <a:t>    "raw_table": [</a:t>
            </a:r>
          </a:p>
          <a:p>
            <a:r>
              <a:t>      [</a:t>
            </a:r>
          </a:p>
          <a:p>
            <a:r>
              <a:t>        "选项",</a:t>
            </a:r>
          </a:p>
          <a:p>
            <a:r>
              <a:t>        "小计",</a:t>
            </a:r>
          </a:p>
          <a:p>
            <a:r>
              <a:t>        "比例"</a:t>
            </a:r>
          </a:p>
          <a:p>
            <a:r>
              <a:t>      ],</a:t>
            </a:r>
          </a:p>
          <a:p>
            <a:r>
              <a:t>      [</a:t>
            </a:r>
          </a:p>
          <a:p>
            <a:r>
              <a:t>        "经常 / Often",</a:t>
            </a:r>
          </a:p>
          <a:p>
            <a:r>
              <a:t>        "0",</a:t>
            </a:r>
          </a:p>
          <a:p>
            <a:r>
              <a:t>        "0%"</a:t>
            </a:r>
          </a:p>
          <a:p>
            <a:r>
              <a:t>      ],</a:t>
            </a:r>
          </a:p>
          <a:p>
            <a:r>
              <a:t>      [</a:t>
            </a:r>
          </a:p>
          <a:p>
            <a:r>
              <a:t>        "偶尔 / Sometimes",</a:t>
            </a:r>
          </a:p>
          <a:p>
            <a:r>
              <a:t>        "2",</a:t>
            </a:r>
          </a:p>
          <a:p>
            <a:r>
              <a:t>        "28.57%"</a:t>
            </a:r>
          </a:p>
          <a:p>
            <a:r>
              <a:t>      ],</a:t>
            </a:r>
          </a:p>
          <a:p>
            <a:r>
              <a:t>      [</a:t>
            </a:r>
          </a:p>
          <a:p>
            <a:r>
              <a:t>        "很少 / Rarely",</a:t>
            </a:r>
          </a:p>
          <a:p>
            <a:r>
              <a:t>        "1",</a:t>
            </a:r>
          </a:p>
          <a:p>
            <a:r>
              <a:t>        "14.29%"</a:t>
            </a:r>
          </a:p>
          <a:p>
            <a:r>
              <a:t>      ],</a:t>
            </a:r>
          </a:p>
          <a:p>
            <a:r>
              <a:t>      [</a:t>
            </a:r>
          </a:p>
          <a:p>
            <a:r>
              <a:t>        "从未 / Never",</a:t>
            </a:r>
          </a:p>
          <a:p>
            <a:r>
              <a:t>        "4",</a:t>
            </a:r>
          </a:p>
          <a:p>
            <a:r>
              <a:t>        "57.14%"</a:t>
            </a:r>
          </a:p>
          <a:p>
            <a:r>
              <a:t>      ],</a:t>
            </a:r>
          </a:p>
          <a:p>
            <a:r>
              <a:t>      [</a:t>
            </a:r>
          </a:p>
          <a:p>
            <a:r>
              <a:t>        "本题有效填写人次",</a:t>
            </a:r>
          </a:p>
          <a:p>
            <a:r>
              <a:t>        "7",</a:t>
            </a:r>
          </a:p>
          <a:p>
            <a:r>
              <a:t>        ""</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2,</a:t>
            </a:r>
          </a:p>
          <a:p>
            <a:r>
              <a:t>    "row_index": null,</a:t>
            </a:r>
          </a:p>
          <a:p>
            <a:r>
              <a:t>    "caveat": "2 sometimes + 1 rarely; 4 never. Do not claim a universal or frequent need."</a:t>
            </a:r>
          </a:p>
          <a:p>
            <a:r>
              <a:t>  },</a:t>
            </a:r>
          </a:p>
          <a:p>
            <a:r>
              <a:t>  {</a:t>
            </a:r>
          </a:p>
          <a:p>
            <a:r>
              <a:t>    "id": "F05",</a:t>
            </a:r>
          </a:p>
          <a:p>
            <a:r>
              <a:t>    "question_id": "OLD_Q5",</a:t>
            </a:r>
          </a:p>
          <a:p>
            <a:r>
              <a:t>    "question_text": "5. 假设你正在专注于一个主要任务，同时有 AI 帮你监控另一个远程会议。对于下列事件，你希望系统什么时候提醒你? / Suppose you are focused on a primary task while AI monitors a secondary remote meeting. When should the system alert you about each event?    [矩阵单选题]",</a:t>
            </a:r>
          </a:p>
          <a:p>
            <a:r>
              <a:t>    "label": "Wanted immediate alerts when their decision or opinion was required",</a:t>
            </a:r>
          </a:p>
          <a:p>
            <a:r>
              <a:t>    "count": 6,</a:t>
            </a:r>
          </a:p>
          <a:p>
            <a:r>
              <a:t>    "denominator": 7,</a:t>
            </a:r>
          </a:p>
          <a:p>
            <a:r>
              <a:t>    "evidence_kind": "hypothetical_scenario_preference",</a:t>
            </a:r>
          </a:p>
          <a:p>
            <a:r>
              <a:t>    "raw_table": [</a:t>
            </a:r>
          </a:p>
          <a:p>
            <a:r>
              <a:t>      [</a:t>
            </a:r>
          </a:p>
          <a:p>
            <a:r>
              <a:t>        "题目\\选项",</a:t>
            </a:r>
          </a:p>
          <a:p>
            <a:r>
              <a:t>        "立即提醒/Immediate",</a:t>
            </a:r>
          </a:p>
          <a:p>
            <a:r>
              <a:t>        "稍后批量/Batch-later",</a:t>
            </a:r>
          </a:p>
          <a:p>
            <a:r>
              <a:t>        "会后汇总/After-meeting",</a:t>
            </a:r>
          </a:p>
          <a:p>
            <a:r>
              <a:t>        "无需提醒/No-need"</a:t>
            </a:r>
          </a:p>
          <a:p>
            <a:r>
              <a:t>      ],</a:t>
            </a:r>
          </a:p>
          <a:p>
            <a:r>
              <a:t>      [</a:t>
            </a:r>
          </a:p>
          <a:p>
            <a:r>
              <a:t>        "有人直接点名或 @ 你 / Someone directly mentions you",</a:t>
            </a:r>
          </a:p>
          <a:p>
            <a:r>
              <a:t>        "6(85.71%)",</a:t>
            </a:r>
          </a:p>
          <a:p>
            <a:r>
              <a:t>        "0(0%)",</a:t>
            </a:r>
          </a:p>
          <a:p>
            <a:r>
              <a:t>        "1(14.29%)",</a:t>
            </a:r>
          </a:p>
          <a:p>
            <a:r>
              <a:t>        "0(0%)"</a:t>
            </a:r>
          </a:p>
          <a:p>
            <a:r>
              <a:t>      ],</a:t>
            </a:r>
          </a:p>
          <a:p>
            <a:r>
              <a:t>      [</a:t>
            </a:r>
          </a:p>
          <a:p>
            <a:r>
              <a:t>        "需要你做决定或表态 / A decision or opinion from you is required",</a:t>
            </a:r>
          </a:p>
          <a:p>
            <a:r>
              <a:t>        "6(85.71%)",</a:t>
            </a:r>
          </a:p>
          <a:p>
            <a:r>
              <a:t>        "1(14.29%)",</a:t>
            </a:r>
          </a:p>
          <a:p>
            <a:r>
              <a:t>        "0(0%)",</a:t>
            </a:r>
          </a:p>
          <a:p>
            <a:r>
              <a:t>        "0(0%)"</a:t>
            </a:r>
          </a:p>
          <a:p>
            <a:r>
              <a:t>      ],</a:t>
            </a:r>
          </a:p>
          <a:p>
            <a:r>
              <a:t>      [</a:t>
            </a:r>
          </a:p>
          <a:p>
            <a:r>
              <a:t>        "给你分配了新的任务 / A new task is assigned to you",</a:t>
            </a:r>
          </a:p>
          <a:p>
            <a:r>
              <a:t>        "3(42.86%)",</a:t>
            </a:r>
          </a:p>
          <a:p>
            <a:r>
              <a:t>        "2(28.57%)",</a:t>
            </a:r>
          </a:p>
          <a:p>
            <a:r>
              <a:t>        "2(28.57%)",</a:t>
            </a:r>
          </a:p>
          <a:p>
            <a:r>
              <a:t>        "0(0%)"</a:t>
            </a:r>
          </a:p>
          <a:p>
            <a:r>
              <a:t>      ],</a:t>
            </a:r>
          </a:p>
          <a:p>
            <a:r>
              <a:t>      [</a:t>
            </a:r>
          </a:p>
          <a:p>
            <a:r>
              <a:t>        "出现与你负责内容有关的重要变更 / An important change affects your responsibility",</a:t>
            </a:r>
          </a:p>
          <a:p>
            <a:r>
              <a:t>        "4(57.14%)",</a:t>
            </a:r>
          </a:p>
          <a:p>
            <a:r>
              <a:t>        "3(42.86%)",</a:t>
            </a:r>
          </a:p>
          <a:p>
            <a:r>
              <a:t>        "0(0%)",</a:t>
            </a:r>
          </a:p>
          <a:p>
            <a:r>
              <a:t>        "0(0%)"</a:t>
            </a:r>
          </a:p>
          <a:p>
            <a:r>
              <a:t>      ],</a:t>
            </a:r>
          </a:p>
          <a:p>
            <a:r>
              <a:t>      [</a:t>
            </a:r>
          </a:p>
          <a:p>
            <a:r>
              <a:t>        "出现截止日期、时间或安排变化 / A deadline/schedule changes",</a:t>
            </a:r>
          </a:p>
          <a:p>
            <a:r>
              <a:t>        "2(28.57%)",</a:t>
            </a:r>
          </a:p>
          <a:p>
            <a:r>
              <a:t>        "1(14.29%)",</a:t>
            </a:r>
          </a:p>
          <a:p>
            <a:r>
              <a:t>        "4(57.14%)",</a:t>
            </a:r>
          </a:p>
          <a:p>
            <a:r>
              <a:t>        "0(0%)"</a:t>
            </a:r>
          </a:p>
          <a:p>
            <a:r>
              <a:t>      ],</a:t>
            </a:r>
          </a:p>
          <a:p>
            <a:r>
              <a:t>      [</a:t>
            </a:r>
          </a:p>
          <a:p>
            <a:r>
              <a:t>        "会议主题发生较大变化 / The meeting topic changes substantially",</a:t>
            </a:r>
          </a:p>
          <a:p>
            <a:r>
              <a:t>        "2(28.57%)",</a:t>
            </a:r>
          </a:p>
          <a:p>
            <a:r>
              <a:t>        "3(42.86%)",</a:t>
            </a:r>
          </a:p>
          <a:p>
            <a:r>
              <a:t>        "2(28.57%)",</a:t>
            </a:r>
          </a:p>
          <a:p>
            <a:r>
              <a:t>        "0(0%)"</a:t>
            </a:r>
          </a:p>
          <a:p>
            <a:r>
              <a:t>      ],</a:t>
            </a:r>
          </a:p>
          <a:p>
            <a:r>
              <a:t>      [</a:t>
            </a:r>
          </a:p>
          <a:p>
            <a:r>
              <a:t>        "一般性进展更新 / General progress update",</a:t>
            </a:r>
          </a:p>
          <a:p>
            <a:r>
              <a:t>        "1(14.29%)",</a:t>
            </a:r>
          </a:p>
          <a:p>
            <a:r>
              <a:t>        "2(28.57%)",</a:t>
            </a:r>
          </a:p>
          <a:p>
            <a:r>
              <a:t>        "4(57.14%)",</a:t>
            </a:r>
          </a:p>
          <a:p>
            <a:r>
              <a:t>        "0(0%)"</a:t>
            </a:r>
          </a:p>
          <a:p>
            <a:r>
              <a:t>      ],</a:t>
            </a:r>
          </a:p>
          <a:p>
            <a:r>
              <a:t>      [</a:t>
            </a:r>
          </a:p>
          <a:p>
            <a:r>
              <a:t>        "闲聊或低优先级讨论 / Casual / low-priority discussion",</a:t>
            </a:r>
          </a:p>
          <a:p>
            <a:r>
              <a:t>        "1(14.29%)",</a:t>
            </a:r>
          </a:p>
          <a:p>
            <a:r>
              <a:t>        "0(0%)",</a:t>
            </a:r>
          </a:p>
          <a:p>
            <a:r>
              <a:t>        "5(71.43%)",</a:t>
            </a:r>
          </a:p>
          <a:p>
            <a:r>
              <a:t>        "1(14.29%)"</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5,</a:t>
            </a:r>
          </a:p>
          <a:p>
            <a:r>
              <a:t>    "row_index": 2,</a:t>
            </a:r>
          </a:p>
          <a:p>
            <a:r>
              <a:t>    "caveat": "Each matrix row sums to seven. Compare within the same hypothetical question; no causal claim."</a:t>
            </a:r>
          </a:p>
          <a:p>
            <a:r>
              <a:t>  },</a:t>
            </a:r>
          </a:p>
          <a:p>
            <a:r>
              <a:t>  {</a:t>
            </a:r>
          </a:p>
          <a:p>
            <a:r>
              <a:t>    "id": "F06",</a:t>
            </a:r>
          </a:p>
          <a:p>
            <a:r>
              <a:t>    "question_id": "OLD_Q5",</a:t>
            </a:r>
          </a:p>
          <a:p>
            <a:r>
              <a:t>    "question_text": "5. 假设你正在专注于一个主要任务，同时有 AI 帮你监控另一个远程会议。对于下列事件，你希望系统什么时候提醒你? / Suppose you are focused on a primary task while AI monitors a secondary remote meeting. When should the system alert you about each event?    [矩阵单选题]",</a:t>
            </a:r>
          </a:p>
          <a:p>
            <a:r>
              <a:t>    "label": "Wanted immediate alerts for general progress updates",</a:t>
            </a:r>
          </a:p>
          <a:p>
            <a:r>
              <a:t>    "count": 1,</a:t>
            </a:r>
          </a:p>
          <a:p>
            <a:r>
              <a:t>    "denominator": 7,</a:t>
            </a:r>
          </a:p>
          <a:p>
            <a:r>
              <a:t>    "evidence_kind": "hypothetical_scenario_preference",</a:t>
            </a:r>
          </a:p>
          <a:p>
            <a:r>
              <a:t>    "raw_table": [</a:t>
            </a:r>
          </a:p>
          <a:p>
            <a:r>
              <a:t>      [</a:t>
            </a:r>
          </a:p>
          <a:p>
            <a:r>
              <a:t>        "题目\\选项",</a:t>
            </a:r>
          </a:p>
          <a:p>
            <a:r>
              <a:t>        "立即提醒/Immediate",</a:t>
            </a:r>
          </a:p>
          <a:p>
            <a:r>
              <a:t>        "稍后批量/Batch-later",</a:t>
            </a:r>
          </a:p>
          <a:p>
            <a:r>
              <a:t>        "会后汇总/After-meeting",</a:t>
            </a:r>
          </a:p>
          <a:p>
            <a:r>
              <a:t>        "无需提醒/No-need"</a:t>
            </a:r>
          </a:p>
          <a:p>
            <a:r>
              <a:t>      ],</a:t>
            </a:r>
          </a:p>
          <a:p>
            <a:r>
              <a:t>      [</a:t>
            </a:r>
          </a:p>
          <a:p>
            <a:r>
              <a:t>        "有人直接点名或 @ 你 / Someone directly mentions you",</a:t>
            </a:r>
          </a:p>
          <a:p>
            <a:r>
              <a:t>        "6(85.71%)",</a:t>
            </a:r>
          </a:p>
          <a:p>
            <a:r>
              <a:t>        "0(0%)",</a:t>
            </a:r>
          </a:p>
          <a:p>
            <a:r>
              <a:t>        "1(14.29%)",</a:t>
            </a:r>
          </a:p>
          <a:p>
            <a:r>
              <a:t>        "0(0%)"</a:t>
            </a:r>
          </a:p>
          <a:p>
            <a:r>
              <a:t>      ],</a:t>
            </a:r>
          </a:p>
          <a:p>
            <a:r>
              <a:t>      [</a:t>
            </a:r>
          </a:p>
          <a:p>
            <a:r>
              <a:t>        "需要你做决定或表态 / A decision or opinion from you is required",</a:t>
            </a:r>
          </a:p>
          <a:p>
            <a:r>
              <a:t>        "6(85.71%)",</a:t>
            </a:r>
          </a:p>
          <a:p>
            <a:r>
              <a:t>        "1(14.29%)",</a:t>
            </a:r>
          </a:p>
          <a:p>
            <a:r>
              <a:t>        "0(0%)",</a:t>
            </a:r>
          </a:p>
          <a:p>
            <a:r>
              <a:t>        "0(0%)"</a:t>
            </a:r>
          </a:p>
          <a:p>
            <a:r>
              <a:t>      ],</a:t>
            </a:r>
          </a:p>
          <a:p>
            <a:r>
              <a:t>      [</a:t>
            </a:r>
          </a:p>
          <a:p>
            <a:r>
              <a:t>        "给你分配了新的任务 / A new task is assigned to you",</a:t>
            </a:r>
          </a:p>
          <a:p>
            <a:r>
              <a:t>        "3(42.86%)",</a:t>
            </a:r>
          </a:p>
          <a:p>
            <a:r>
              <a:t>        "2(28.57%)",</a:t>
            </a:r>
          </a:p>
          <a:p>
            <a:r>
              <a:t>        "2(28.57%)",</a:t>
            </a:r>
          </a:p>
          <a:p>
            <a:r>
              <a:t>        "0(0%)"</a:t>
            </a:r>
          </a:p>
          <a:p>
            <a:r>
              <a:t>      ],</a:t>
            </a:r>
          </a:p>
          <a:p>
            <a:r>
              <a:t>      [</a:t>
            </a:r>
          </a:p>
          <a:p>
            <a:r>
              <a:t>        "出现与你负责内容有关的重要变更 / An important change affects your responsibility",</a:t>
            </a:r>
          </a:p>
          <a:p>
            <a:r>
              <a:t>        "4(57.14%)",</a:t>
            </a:r>
          </a:p>
          <a:p>
            <a:r>
              <a:t>        "3(42.86%)",</a:t>
            </a:r>
          </a:p>
          <a:p>
            <a:r>
              <a:t>        "0(0%)",</a:t>
            </a:r>
          </a:p>
          <a:p>
            <a:r>
              <a:t>        "0(0%)"</a:t>
            </a:r>
          </a:p>
          <a:p>
            <a:r>
              <a:t>      ],</a:t>
            </a:r>
          </a:p>
          <a:p>
            <a:r>
              <a:t>      [</a:t>
            </a:r>
          </a:p>
          <a:p>
            <a:r>
              <a:t>        "出现截止日期、时间或安排变化 / A deadline/schedule changes",</a:t>
            </a:r>
          </a:p>
          <a:p>
            <a:r>
              <a:t>        "2(28.57%)",</a:t>
            </a:r>
          </a:p>
          <a:p>
            <a:r>
              <a:t>        "1(14.29%)",</a:t>
            </a:r>
          </a:p>
          <a:p>
            <a:r>
              <a:t>        "4(57.14%)",</a:t>
            </a:r>
          </a:p>
          <a:p>
            <a:r>
              <a:t>        "0(0%)"</a:t>
            </a:r>
          </a:p>
          <a:p>
            <a:r>
              <a:t>      ],</a:t>
            </a:r>
          </a:p>
          <a:p>
            <a:r>
              <a:t>      [</a:t>
            </a:r>
          </a:p>
          <a:p>
            <a:r>
              <a:t>        "会议主题发生较大变化 / The meeting topic changes substantially",</a:t>
            </a:r>
          </a:p>
          <a:p>
            <a:r>
              <a:t>        "2(28.57%)",</a:t>
            </a:r>
          </a:p>
          <a:p>
            <a:r>
              <a:t>        "3(42.86%)",</a:t>
            </a:r>
          </a:p>
          <a:p>
            <a:r>
              <a:t>        "2(28.57%)",</a:t>
            </a:r>
          </a:p>
          <a:p>
            <a:r>
              <a:t>        "0(0%)"</a:t>
            </a:r>
          </a:p>
          <a:p>
            <a:r>
              <a:t>      ],</a:t>
            </a:r>
          </a:p>
          <a:p>
            <a:r>
              <a:t>      [</a:t>
            </a:r>
          </a:p>
          <a:p>
            <a:r>
              <a:t>        "一般性进展更新 / General progress update",</a:t>
            </a:r>
          </a:p>
          <a:p>
            <a:r>
              <a:t>        "1(14.29%)",</a:t>
            </a:r>
          </a:p>
          <a:p>
            <a:r>
              <a:t>        "2(28.57%)",</a:t>
            </a:r>
          </a:p>
          <a:p>
            <a:r>
              <a:t>        "4(57.14%)",</a:t>
            </a:r>
          </a:p>
          <a:p>
            <a:r>
              <a:t>        "0(0%)"</a:t>
            </a:r>
          </a:p>
          <a:p>
            <a:r>
              <a:t>      ],</a:t>
            </a:r>
          </a:p>
          <a:p>
            <a:r>
              <a:t>      [</a:t>
            </a:r>
          </a:p>
          <a:p>
            <a:r>
              <a:t>        "闲聊或低优先级讨论 / Casual / low-priority discussion",</a:t>
            </a:r>
          </a:p>
          <a:p>
            <a:r>
              <a:t>        "1(14.29%)",</a:t>
            </a:r>
          </a:p>
          <a:p>
            <a:r>
              <a:t>        "0(0%)",</a:t>
            </a:r>
          </a:p>
          <a:p>
            <a:r>
              <a:t>        "5(71.43%)",</a:t>
            </a:r>
          </a:p>
          <a:p>
            <a:r>
              <a:t>        "1(14.29%)"</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5,</a:t>
            </a:r>
          </a:p>
          <a:p>
            <a:r>
              <a:t>    "row_index": 7,</a:t>
            </a:r>
          </a:p>
          <a:p>
            <a:r>
              <a:t>    "caveat": "The other choices are batch later 2 and after meeting 4."</a:t>
            </a:r>
          </a:p>
          <a:p>
            <a:r>
              <a:t>  },</a:t>
            </a:r>
          </a:p>
          <a:p>
            <a:r>
              <a:t>  {</a:t>
            </a:r>
          </a:p>
          <a:p>
            <a:r>
              <a:t>    "id": "F07",</a:t>
            </a:r>
          </a:p>
          <a:p>
            <a:r>
              <a:t>    "question_id": "OLD_Q5",</a:t>
            </a:r>
          </a:p>
          <a:p>
            <a:r>
              <a:t>    "question_text": "5. 假设你正在专注于一个主要任务，同时有 AI 帮你监控另一个远程会议。对于下列事件，你希望系统什么时候提醒你? / Suppose you are focused on a primary task while AI monitors a secondary remote meeting. When should the system alert you about each event?    [矩阵单选题]",</a:t>
            </a:r>
          </a:p>
          <a:p>
            <a:r>
              <a:t>    "label": "Wanted immediate alerts when directly mentioned",</a:t>
            </a:r>
          </a:p>
          <a:p>
            <a:r>
              <a:t>    "count": 6,</a:t>
            </a:r>
          </a:p>
          <a:p>
            <a:r>
              <a:t>    "denominator": 7,</a:t>
            </a:r>
          </a:p>
          <a:p>
            <a:r>
              <a:t>    "evidence_kind": "hypothetical_scenario_preference",</a:t>
            </a:r>
          </a:p>
          <a:p>
            <a:r>
              <a:t>    "raw_table": [</a:t>
            </a:r>
          </a:p>
          <a:p>
            <a:r>
              <a:t>      [</a:t>
            </a:r>
          </a:p>
          <a:p>
            <a:r>
              <a:t>        "题目\\选项",</a:t>
            </a:r>
          </a:p>
          <a:p>
            <a:r>
              <a:t>        "立即提醒/Immediate",</a:t>
            </a:r>
          </a:p>
          <a:p>
            <a:r>
              <a:t>        "稍后批量/Batch-later",</a:t>
            </a:r>
          </a:p>
          <a:p>
            <a:r>
              <a:t>        "会后汇总/After-meeting",</a:t>
            </a:r>
          </a:p>
          <a:p>
            <a:r>
              <a:t>        "无需提醒/No-need"</a:t>
            </a:r>
          </a:p>
          <a:p>
            <a:r>
              <a:t>      ],</a:t>
            </a:r>
          </a:p>
          <a:p>
            <a:r>
              <a:t>      [</a:t>
            </a:r>
          </a:p>
          <a:p>
            <a:r>
              <a:t>        "有人直接点名或 @ 你 / Someone directly mentions you",</a:t>
            </a:r>
          </a:p>
          <a:p>
            <a:r>
              <a:t>        "6(85.71%)",</a:t>
            </a:r>
          </a:p>
          <a:p>
            <a:r>
              <a:t>        "0(0%)",</a:t>
            </a:r>
          </a:p>
          <a:p>
            <a:r>
              <a:t>        "1(14.29%)",</a:t>
            </a:r>
          </a:p>
          <a:p>
            <a:r>
              <a:t>        "0(0%)"</a:t>
            </a:r>
          </a:p>
          <a:p>
            <a:r>
              <a:t>      ],</a:t>
            </a:r>
          </a:p>
          <a:p>
            <a:r>
              <a:t>      [</a:t>
            </a:r>
          </a:p>
          <a:p>
            <a:r>
              <a:t>        "需要你做决定或表态 / A decision or opinion from you is required",</a:t>
            </a:r>
          </a:p>
          <a:p>
            <a:r>
              <a:t>        "6(85.71%)",</a:t>
            </a:r>
          </a:p>
          <a:p>
            <a:r>
              <a:t>        "1(14.29%)",</a:t>
            </a:r>
          </a:p>
          <a:p>
            <a:r>
              <a:t>        "0(0%)",</a:t>
            </a:r>
          </a:p>
          <a:p>
            <a:r>
              <a:t>        "0(0%)"</a:t>
            </a:r>
          </a:p>
          <a:p>
            <a:r>
              <a:t>      ],</a:t>
            </a:r>
          </a:p>
          <a:p>
            <a:r>
              <a:t>      [</a:t>
            </a:r>
          </a:p>
          <a:p>
            <a:r>
              <a:t>        "给你分配了新的任务 / A new task is assigned to you",</a:t>
            </a:r>
          </a:p>
          <a:p>
            <a:r>
              <a:t>        "3(42.86%)",</a:t>
            </a:r>
          </a:p>
          <a:p>
            <a:r>
              <a:t>        "2(28.57%)",</a:t>
            </a:r>
          </a:p>
          <a:p>
            <a:r>
              <a:t>        "2(28.57%)",</a:t>
            </a:r>
          </a:p>
          <a:p>
            <a:r>
              <a:t>        "0(0%)"</a:t>
            </a:r>
          </a:p>
          <a:p>
            <a:r>
              <a:t>      ],</a:t>
            </a:r>
          </a:p>
          <a:p>
            <a:r>
              <a:t>      [</a:t>
            </a:r>
          </a:p>
          <a:p>
            <a:r>
              <a:t>        "出现与你负责内容有关的重要变更 / An important change affects your responsibility",</a:t>
            </a:r>
          </a:p>
          <a:p>
            <a:r>
              <a:t>        "4(57.14%)",</a:t>
            </a:r>
          </a:p>
          <a:p>
            <a:r>
              <a:t>        "3(42.86%)",</a:t>
            </a:r>
          </a:p>
          <a:p>
            <a:r>
              <a:t>        "0(0%)",</a:t>
            </a:r>
          </a:p>
          <a:p>
            <a:r>
              <a:t>        "0(0%)"</a:t>
            </a:r>
          </a:p>
          <a:p>
            <a:r>
              <a:t>      ],</a:t>
            </a:r>
          </a:p>
          <a:p>
            <a:r>
              <a:t>      [</a:t>
            </a:r>
          </a:p>
          <a:p>
            <a:r>
              <a:t>        "出现截止日期、时间或安排变化 / A deadline/schedule changes",</a:t>
            </a:r>
          </a:p>
          <a:p>
            <a:r>
              <a:t>        "2(28.57%)",</a:t>
            </a:r>
          </a:p>
          <a:p>
            <a:r>
              <a:t>        "1(14.29%)",</a:t>
            </a:r>
          </a:p>
          <a:p>
            <a:r>
              <a:t>        "4(57.14%)",</a:t>
            </a:r>
          </a:p>
          <a:p>
            <a:r>
              <a:t>        "0(0%)"</a:t>
            </a:r>
          </a:p>
          <a:p>
            <a:r>
              <a:t>      ],</a:t>
            </a:r>
          </a:p>
          <a:p>
            <a:r>
              <a:t>      [</a:t>
            </a:r>
          </a:p>
          <a:p>
            <a:r>
              <a:t>        "会议主题发生较大变化 / The meeting topic changes substantially",</a:t>
            </a:r>
          </a:p>
          <a:p>
            <a:r>
              <a:t>        "2(28.57%)",</a:t>
            </a:r>
          </a:p>
          <a:p>
            <a:r>
              <a:t>        "3(42.86%)",</a:t>
            </a:r>
          </a:p>
          <a:p>
            <a:r>
              <a:t>        "2(28.57%)",</a:t>
            </a:r>
          </a:p>
          <a:p>
            <a:r>
              <a:t>        "0(0%)"</a:t>
            </a:r>
          </a:p>
          <a:p>
            <a:r>
              <a:t>      ],</a:t>
            </a:r>
          </a:p>
          <a:p>
            <a:r>
              <a:t>      [</a:t>
            </a:r>
          </a:p>
          <a:p>
            <a:r>
              <a:t>        "一般性进展更新 / General progress update",</a:t>
            </a:r>
          </a:p>
          <a:p>
            <a:r>
              <a:t>        "1(14.29%)",</a:t>
            </a:r>
          </a:p>
          <a:p>
            <a:r>
              <a:t>        "2(28.57%)",</a:t>
            </a:r>
          </a:p>
          <a:p>
            <a:r>
              <a:t>        "4(57.14%)",</a:t>
            </a:r>
          </a:p>
          <a:p>
            <a:r>
              <a:t>        "0(0%)"</a:t>
            </a:r>
          </a:p>
          <a:p>
            <a:r>
              <a:t>      ],</a:t>
            </a:r>
          </a:p>
          <a:p>
            <a:r>
              <a:t>      [</a:t>
            </a:r>
          </a:p>
          <a:p>
            <a:r>
              <a:t>        "闲聊或低优先级讨论 / Casual / low-priority discussion",</a:t>
            </a:r>
          </a:p>
          <a:p>
            <a:r>
              <a:t>        "1(14.29%)",</a:t>
            </a:r>
          </a:p>
          <a:p>
            <a:r>
              <a:t>        "0(0%)",</a:t>
            </a:r>
          </a:p>
          <a:p>
            <a:r>
              <a:t>        "5(71.43%)",</a:t>
            </a:r>
          </a:p>
          <a:p>
            <a:r>
              <a:t>        "1(14.29%)"</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5,</a:t>
            </a:r>
          </a:p>
          <a:p>
            <a:r>
              <a:t>    "row_index": 1,</a:t>
            </a:r>
          </a:p>
          <a:p>
            <a:r>
              <a:t>    "caveat": "This does not establish that every mention should trigger an alert."</a:t>
            </a:r>
          </a:p>
          <a:p>
            <a:r>
              <a:t>  },</a:t>
            </a:r>
          </a:p>
          <a:p>
            <a:r>
              <a:t>  {</a:t>
            </a:r>
          </a:p>
          <a:p>
            <a:r>
              <a:t>    "id": "F11",</a:t>
            </a:r>
          </a:p>
          <a:p>
            <a:r>
              <a:t>    "question_id": "OLD_Q9",</a:t>
            </a:r>
          </a:p>
          <a:p>
            <a:r>
              <a:t>    "question_text": "9. 当会议确实需要你参与时，你更希望采用哪种方式?每行选一个最合适的选项。 / When the meeting truly needs your input, which method would you prefer? Choose one per scenario.    [矩阵单选题]",</a:t>
            </a:r>
          </a:p>
          <a:p>
            <a:r>
              <a:t>    "label": "Chose AI reply options for complex, sensitive or controversial issues",</a:t>
            </a:r>
          </a:p>
          <a:p>
            <a:r>
              <a:t>    "count": 0,</a:t>
            </a:r>
          </a:p>
          <a:p>
            <a:r>
              <a:t>    "denominator": 7,</a:t>
            </a:r>
          </a:p>
          <a:p>
            <a:r>
              <a:t>    "evidence_kind": "hypothetical_scenario_preference",</a:t>
            </a:r>
          </a:p>
          <a:p>
            <a:r>
              <a:t>    "raw_table": [</a:t>
            </a:r>
          </a:p>
          <a:p>
            <a:r>
              <a:t>      [</a:t>
            </a:r>
          </a:p>
          <a:p>
            <a:r>
              <a:t>        "题目\\选项",</a:t>
            </a:r>
          </a:p>
          <a:p>
            <a:r>
              <a:t>        "只提醒/Alert-only",</a:t>
            </a:r>
          </a:p>
          <a:p>
            <a:r>
              <a:t>        "AI候选答案/AI-options",</a:t>
            </a:r>
          </a:p>
          <a:p>
            <a:r>
              <a:t>        "自己输入/Type-myself",</a:t>
            </a:r>
          </a:p>
          <a:p>
            <a:r>
              <a:t>        "临时加入会议/Join-briefly"</a:t>
            </a:r>
          </a:p>
          <a:p>
            <a:r>
              <a:t>      ],</a:t>
            </a:r>
          </a:p>
          <a:p>
            <a:r>
              <a:t>      [</a:t>
            </a:r>
          </a:p>
          <a:p>
            <a:r>
              <a:t>        "简单确认事实（如“你周二有空吗?”） / Simple factual confirmation, e.g. “Are you free Tuesday?”",</a:t>
            </a:r>
          </a:p>
          <a:p>
            <a:r>
              <a:t>        "1(14.29%)",</a:t>
            </a:r>
          </a:p>
          <a:p>
            <a:r>
              <a:t>        "3(42.86%)",</a:t>
            </a:r>
          </a:p>
          <a:p>
            <a:r>
              <a:t>        "3(42.86%)",</a:t>
            </a:r>
          </a:p>
          <a:p>
            <a:r>
              <a:t>        "0(0%)"</a:t>
            </a:r>
          </a:p>
          <a:p>
            <a:r>
              <a:t>      ],</a:t>
            </a:r>
          </a:p>
          <a:p>
            <a:r>
              <a:t>      [</a:t>
            </a:r>
          </a:p>
          <a:p>
            <a:r>
              <a:t>        "在几个明确方案中选择 / Choose among several clear options",</a:t>
            </a:r>
          </a:p>
          <a:p>
            <a:r>
              <a:t>        "1(14.29%)",</a:t>
            </a:r>
          </a:p>
          <a:p>
            <a:r>
              <a:t>        "3(42.86%)",</a:t>
            </a:r>
          </a:p>
          <a:p>
            <a:r>
              <a:t>        "2(28.57%)",</a:t>
            </a:r>
          </a:p>
          <a:p>
            <a:r>
              <a:t>        "1(14.29%)"</a:t>
            </a:r>
          </a:p>
          <a:p>
            <a:r>
              <a:t>      ],</a:t>
            </a:r>
          </a:p>
          <a:p>
            <a:r>
              <a:t>      [</a:t>
            </a:r>
          </a:p>
          <a:p>
            <a:r>
              <a:t>        "表达个人意见或理由 / Express your personal opinion or reasoning",</a:t>
            </a:r>
          </a:p>
          <a:p>
            <a:r>
              <a:t>        "1(14.29%)",</a:t>
            </a:r>
          </a:p>
          <a:p>
            <a:r>
              <a:t>        "0(0%)",</a:t>
            </a:r>
          </a:p>
          <a:p>
            <a:r>
              <a:t>        "3(42.86%)",</a:t>
            </a:r>
          </a:p>
          <a:p>
            <a:r>
              <a:t>        "3(42.86%)"</a:t>
            </a:r>
          </a:p>
          <a:p>
            <a:r>
              <a:t>      ],</a:t>
            </a:r>
          </a:p>
          <a:p>
            <a:r>
              <a:t>      [</a:t>
            </a:r>
          </a:p>
          <a:p>
            <a:r>
              <a:t>        "讨论复杂、敏感或有争议的问题 / Discuss a complex, sensitive, or controversial issue",</a:t>
            </a:r>
          </a:p>
          <a:p>
            <a:r>
              <a:t>        "1(14.29%)",</a:t>
            </a:r>
          </a:p>
          <a:p>
            <a:r>
              <a:t>        "0(0%)",</a:t>
            </a:r>
          </a:p>
          <a:p>
            <a:r>
              <a:t>        "2(28.57%)",</a:t>
            </a:r>
          </a:p>
          <a:p>
            <a:r>
              <a:t>        "4(57.14%)"</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9,</a:t>
            </a:r>
          </a:p>
          <a:p>
            <a:r>
              <a:t>    "row_index": 4,</a:t>
            </a:r>
          </a:p>
          <a:p>
            <a:r>
              <a:t>    "caveat": "4 chose brief joining, 2 typing themselves, 1 alert only. Supports keeping a route to human discussion."</a:t>
            </a:r>
          </a:p>
          <a:p>
            <a:r>
              <a:t>  },</a:t>
            </a:r>
          </a:p>
          <a:p>
            <a:r>
              <a:t>  {</a:t>
            </a:r>
          </a:p>
          <a:p>
            <a:r>
              <a:t>    "id": "F12",</a:t>
            </a:r>
          </a:p>
          <a:p>
            <a:r>
              <a:t>    "question_id": "OLD_Q9",</a:t>
            </a:r>
          </a:p>
          <a:p>
            <a:r>
              <a:t>    "question_text": "9. 当会议确实需要你参与时，你更希望采用哪种方式?每行选一个最合适的选项。 / When the meeting truly needs your input, which method would you prefer? Choose one per scenario.    [矩阵单选题]",</a:t>
            </a:r>
          </a:p>
          <a:p>
            <a:r>
              <a:t>    "label": "Chose brief joining for complex, sensitive or controversial issues",</a:t>
            </a:r>
          </a:p>
          <a:p>
            <a:r>
              <a:t>    "count": 4,</a:t>
            </a:r>
          </a:p>
          <a:p>
            <a:r>
              <a:t>    "denominator": 7,</a:t>
            </a:r>
          </a:p>
          <a:p>
            <a:r>
              <a:t>    "evidence_kind": "hypothetical_scenario_preference",</a:t>
            </a:r>
          </a:p>
          <a:p>
            <a:r>
              <a:t>    "raw_table": [</a:t>
            </a:r>
          </a:p>
          <a:p>
            <a:r>
              <a:t>      [</a:t>
            </a:r>
          </a:p>
          <a:p>
            <a:r>
              <a:t>        "题目\\选项",</a:t>
            </a:r>
          </a:p>
          <a:p>
            <a:r>
              <a:t>        "只提醒/Alert-only",</a:t>
            </a:r>
          </a:p>
          <a:p>
            <a:r>
              <a:t>        "AI候选答案/AI-options",</a:t>
            </a:r>
          </a:p>
          <a:p>
            <a:r>
              <a:t>        "自己输入/Type-myself",</a:t>
            </a:r>
          </a:p>
          <a:p>
            <a:r>
              <a:t>        "临时加入会议/Join-briefly"</a:t>
            </a:r>
          </a:p>
          <a:p>
            <a:r>
              <a:t>      ],</a:t>
            </a:r>
          </a:p>
          <a:p>
            <a:r>
              <a:t>      [</a:t>
            </a:r>
          </a:p>
          <a:p>
            <a:r>
              <a:t>        "简单确认事实（如“你周二有空吗?”） / Simple factual confirmation, e.g. “Are you free Tuesday?”",</a:t>
            </a:r>
          </a:p>
          <a:p>
            <a:r>
              <a:t>        "1(14.29%)",</a:t>
            </a:r>
          </a:p>
          <a:p>
            <a:r>
              <a:t>        "3(42.86%)",</a:t>
            </a:r>
          </a:p>
          <a:p>
            <a:r>
              <a:t>        "3(42.86%)",</a:t>
            </a:r>
          </a:p>
          <a:p>
            <a:r>
              <a:t>        "0(0%)"</a:t>
            </a:r>
          </a:p>
          <a:p>
            <a:r>
              <a:t>      ],</a:t>
            </a:r>
          </a:p>
          <a:p>
            <a:r>
              <a:t>      [</a:t>
            </a:r>
          </a:p>
          <a:p>
            <a:r>
              <a:t>        "在几个明确方案中选择 / Choose among several clear options",</a:t>
            </a:r>
          </a:p>
          <a:p>
            <a:r>
              <a:t>        "1(14.29%)",</a:t>
            </a:r>
          </a:p>
          <a:p>
            <a:r>
              <a:t>        "3(42.86%)",</a:t>
            </a:r>
          </a:p>
          <a:p>
            <a:r>
              <a:t>        "2(28.57%)",</a:t>
            </a:r>
          </a:p>
          <a:p>
            <a:r>
              <a:t>        "1(14.29%)"</a:t>
            </a:r>
          </a:p>
          <a:p>
            <a:r>
              <a:t>      ],</a:t>
            </a:r>
          </a:p>
          <a:p>
            <a:r>
              <a:t>      [</a:t>
            </a:r>
          </a:p>
          <a:p>
            <a:r>
              <a:t>        "表达个人意见或理由 / Express your personal opinion or reasoning",</a:t>
            </a:r>
          </a:p>
          <a:p>
            <a:r>
              <a:t>        "1(14.29%)",</a:t>
            </a:r>
          </a:p>
          <a:p>
            <a:r>
              <a:t>        "0(0%)",</a:t>
            </a:r>
          </a:p>
          <a:p>
            <a:r>
              <a:t>        "3(42.86%)",</a:t>
            </a:r>
          </a:p>
          <a:p>
            <a:r>
              <a:t>        "3(42.86%)"</a:t>
            </a:r>
          </a:p>
          <a:p>
            <a:r>
              <a:t>      ],</a:t>
            </a:r>
          </a:p>
          <a:p>
            <a:r>
              <a:t>      [</a:t>
            </a:r>
          </a:p>
          <a:p>
            <a:r>
              <a:t>        "讨论复杂、敏感或有争议的问题 / Discuss a complex, sensitive, or controversial issue",</a:t>
            </a:r>
          </a:p>
          <a:p>
            <a:r>
              <a:t>        "1(14.29%)",</a:t>
            </a:r>
          </a:p>
          <a:p>
            <a:r>
              <a:t>        "0(0%)",</a:t>
            </a:r>
          </a:p>
          <a:p>
            <a:r>
              <a:t>        "2(28.57%)",</a:t>
            </a:r>
          </a:p>
          <a:p>
            <a:r>
              <a:t>        "4(57.14%)"</a:t>
            </a:r>
          </a:p>
          <a:p>
            <a:r>
              <a:t>      ]</a:t>
            </a:r>
          </a:p>
          <a:p>
            <a:r>
              <a:t>    ],</a:t>
            </a:r>
          </a:p>
          <a:p>
            <a:r>
              <a:t>    "source_path": "D:/Users/chikitwong/Desktop/Class/AIAA4435(L01)-Interactive_AI_Systems_Design_&amp;_Implementation/lectures/问卷/远程会议“部分参与”需求调查问卷（广泛分发版）  Broad Survey on Partial Participation in Remote Meetings－默认报告.docx",</a:t>
            </a:r>
          </a:p>
          <a:p>
            <a:r>
              <a:t>    "source_table_index": 9,</a:t>
            </a:r>
          </a:p>
          <a:p>
            <a:r>
              <a:t>    "row_index": 4,</a:t>
            </a:r>
          </a:p>
          <a:p>
            <a:r>
              <a:t>    "caveat": "Same matrix row as F11; not a separate sample."</a:t>
            </a:r>
          </a:p>
          <a:p>
            <a:r>
              <a:t>  }</a:t>
            </a:r>
          </a:p>
          <a:p>
            <a:r>
              <a: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Q&amp;A ONLY, 08:00–10:00. Hidden appendix. Answer the question directly before opening this page.</a:t>
            </a:r>
          </a:p>
          <a:p/>
          <a:p>
            <a:r>
              <a:t>Bai, Png &amp; Velloso (2026), Enabling Partial Participation in Remote Meetings, CHI 2026. https://doi.org/10.1145/3772318.3790744 . Read local lectures/week 1/papers/Remote meetings.pdf. Abstract: 24 participants; ProxyMe meeting updates and questions; update frequency/detail and response type varied. No universal optimum.</a:t>
            </a:r>
          </a:p>
          <a:p>
            <a:r>
              <a:t>Do not claim that reminders, questions, summaries, or replies themselves are novel. The present deliverable is a scoped working prototype plus a proposed evaluation of role/decision-based routing. Added interface controls are design responses, not established scientific contributions.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Q&amp;A ONLY, 08:00–10:00. Hidden appendix. Answer the question directly before opening this page.</a:t>
            </a:r>
          </a:p>
          <a:p/>
          <a:p>
            <a:r>
              <a:t>Ask these after showing the actual flow. Do not frame a model API connection as sufficient research; it implements the intervention. Research needs a testable participation trade-off, credible measures and failure analysis. The complete meeting recording is pending. Use only an actual completed recording after it has been reviewed.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2.png"/><Relationship Id="rId2" Type="http://schemas.microsoft.com/office/2007/relationships/media" Target="../media/media1.mp4"/><Relationship Id="rId1" Type="http://schemas.openxmlformats.org/officeDocument/2006/relationships/video" Target="../media/media1.mp4"/></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p:pic>
        <p:nvPicPr>
          <p:cNvPr id="7" name="图片 6"/>
          <p:cNvPicPr>
            <a:picLocks noChangeAspect="1"/>
          </p:cNvPicPr>
          <p:nvPr/>
        </p:nvPicPr>
        <p:blipFill>
          <a:blip r:embed="rId1"/>
          <a:srcRect l="27" r="27"/>
          <a:stretch>
            <a:fillRect/>
          </a:stretch>
        </p:blipFill>
        <p:spPr>
          <a:xfrm>
            <a:off x="0" y="0"/>
            <a:ext cx="12192000" cy="6858000"/>
          </a:xfrm>
          <a:prstGeom prst="rect">
            <a:avLst/>
          </a:prstGeom>
        </p:spPr>
      </p:pic>
      <p:sp>
        <p:nvSpPr>
          <p:cNvPr id="2" name="Meeting&#10;Cue"/>
          <p:cNvSpPr>
            <a:spLocks noGrp="1"/>
          </p:cNvSpPr>
          <p:nvPr/>
        </p:nvSpPr>
        <p:spPr>
          <a:xfrm>
            <a:off x="638175" y="548640"/>
            <a:ext cx="4953000" cy="1905000"/>
          </a:xfrm>
          <a:prstGeom prst="rect">
            <a:avLst/>
          </a:prstGeom>
          <a:noFill/>
          <a:ln w="0">
            <a:noFill/>
          </a:ln>
        </p:spPr>
        <p:txBody>
          <a:bodyPr wrap="square" lIns="0" tIns="0" rIns="0" bIns="0" anchor="t">
            <a:noAutofit/>
          </a:bodyPr>
          <a:lstStyle>
            <a:defPPr>
              <a:defRPr sz="615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615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615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615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615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615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615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615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615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615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6150" b="1">
                <a:solidFill>
                  <a:srgbClr val="173F39"/>
                </a:solidFill>
                <a:latin typeface="微软雅黑" panose="020B0503020204020204" charset="-122"/>
                <a:ea typeface="微软雅黑" panose="020B0503020204020204" charset="-122"/>
                <a:cs typeface="微软雅黑" panose="020B0503020204020204" charset="-122"/>
              </a:defRPr>
            </a:pPr>
            <a:r>
              <a:rPr sz="6150" b="1">
                <a:solidFill>
                  <a:srgbClr val="173F39"/>
                </a:solidFill>
                <a:latin typeface="微软雅黑" panose="020B0503020204020204" charset="-122"/>
                <a:ea typeface="微软雅黑" panose="020B0503020204020204" charset="-122"/>
                <a:cs typeface="微软雅黑" panose="020B0503020204020204" charset="-122"/>
              </a:rPr>
              <a:t>Meeting</a:t>
            </a:r>
            <a:endParaRPr sz="6150" b="1">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6150" b="1">
                <a:solidFill>
                  <a:srgbClr val="173F39"/>
                </a:solidFill>
                <a:latin typeface="微软雅黑" panose="020B0503020204020204" charset="-122"/>
                <a:ea typeface="微软雅黑" panose="020B0503020204020204" charset="-122"/>
                <a:cs typeface="微软雅黑" panose="020B0503020204020204" charset="-122"/>
              </a:defRPr>
            </a:pPr>
            <a:r>
              <a:rPr sz="6150" b="1">
                <a:solidFill>
                  <a:srgbClr val="173F39"/>
                </a:solidFill>
                <a:latin typeface="微软雅黑" panose="020B0503020204020204" charset="-122"/>
                <a:ea typeface="微软雅黑" panose="020B0503020204020204" charset="-122"/>
                <a:cs typeface="微软雅黑" panose="020B0503020204020204" charset="-122"/>
              </a:rPr>
              <a:t>Cue</a:t>
            </a:r>
            <a:endParaRPr sz="615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3" name="Return when your&#10;input matters."/>
          <p:cNvSpPr>
            <a:spLocks noGrp="1"/>
          </p:cNvSpPr>
          <p:nvPr/>
        </p:nvSpPr>
        <p:spPr>
          <a:xfrm>
            <a:off x="623570" y="2708910"/>
            <a:ext cx="4572000" cy="952500"/>
          </a:xfrm>
          <a:prstGeom prst="rect">
            <a:avLst/>
          </a:prstGeom>
          <a:noFill/>
          <a:ln w="0">
            <a:noFill/>
          </a:ln>
        </p:spPr>
        <p:txBody>
          <a:bodyPr wrap="square" lIns="0" tIns="0" rIns="0" bIns="0" anchor="t">
            <a:noAutofit/>
          </a:bodyPr>
          <a:lstStyle>
            <a:defPPr>
              <a:defRPr sz="27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7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7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7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7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7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7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7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7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7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775" b="1">
                <a:solidFill>
                  <a:srgbClr val="173F39"/>
                </a:solidFill>
                <a:latin typeface="微软雅黑" panose="020B0503020204020204" charset="-122"/>
                <a:ea typeface="微软雅黑" panose="020B0503020204020204" charset="-122"/>
                <a:cs typeface="微软雅黑" panose="020B0503020204020204" charset="-122"/>
              </a:defRPr>
            </a:pPr>
            <a:r>
              <a:rPr sz="2775" b="1">
                <a:solidFill>
                  <a:srgbClr val="173F39"/>
                </a:solidFill>
                <a:latin typeface="微软雅黑" panose="020B0503020204020204" charset="-122"/>
                <a:ea typeface="微软雅黑" panose="020B0503020204020204" charset="-122"/>
                <a:cs typeface="微软雅黑" panose="020B0503020204020204" charset="-122"/>
              </a:rPr>
              <a:t>Return when your</a:t>
            </a:r>
            <a:endParaRPr sz="2775" b="1">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2775" b="1">
                <a:solidFill>
                  <a:srgbClr val="173F39"/>
                </a:solidFill>
                <a:latin typeface="微软雅黑" panose="020B0503020204020204" charset="-122"/>
                <a:ea typeface="微软雅黑" panose="020B0503020204020204" charset="-122"/>
                <a:cs typeface="微软雅黑" panose="020B0503020204020204" charset="-122"/>
              </a:defRPr>
            </a:pPr>
            <a:r>
              <a:rPr sz="2775" b="1">
                <a:solidFill>
                  <a:srgbClr val="173F39"/>
                </a:solidFill>
                <a:latin typeface="微软雅黑" panose="020B0503020204020204" charset="-122"/>
                <a:ea typeface="微软雅黑" panose="020B0503020204020204" charset="-122"/>
                <a:cs typeface="微软雅黑" panose="020B0503020204020204" charset="-122"/>
              </a:rPr>
              <a:t>input matters.</a:t>
            </a:r>
            <a:endParaRPr sz="277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4" name="Role-aware support for partial participation&#10;in remote "/>
          <p:cNvSpPr>
            <a:spLocks noGrp="1"/>
          </p:cNvSpPr>
          <p:nvPr/>
        </p:nvSpPr>
        <p:spPr>
          <a:xfrm>
            <a:off x="638175" y="4004945"/>
            <a:ext cx="4667250" cy="704850"/>
          </a:xfrm>
          <a:prstGeom prst="rect">
            <a:avLst/>
          </a:prstGeom>
          <a:noFill/>
          <a:ln w="0">
            <a:noFill/>
          </a:ln>
        </p:spPr>
        <p:txBody>
          <a:bodyPr wrap="square" lIns="0" tIns="0" rIns="0" bIns="0" anchor="t">
            <a:noAutofit/>
          </a:bodyPr>
          <a:lstStyle>
            <a:defPPr>
              <a:defRPr sz="172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72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72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72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72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72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72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72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72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72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Role-aware support for partial participation</a:t>
            </a:r>
            <a:endParaRPr sz="1725" b="0">
              <a:solidFill>
                <a:srgbClr val="617770"/>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in remote meetings</a:t>
            </a:r>
            <a:endParaRPr sz="172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5" name="AIAA4435  /  MIDTERM PRESENTATION&#10;23 October 2026    8 "/>
          <p:cNvSpPr>
            <a:spLocks noGrp="1"/>
          </p:cNvSpPr>
          <p:nvPr/>
        </p:nvSpPr>
        <p:spPr>
          <a:xfrm>
            <a:off x="638175" y="6076950"/>
            <a:ext cx="5953125" cy="50482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AIAA4435  /  MIDTERM PRESENTATION</a:t>
            </a:r>
            <a:endParaRPr sz="1275" b="0">
              <a:solidFill>
                <a:srgbClr val="617770"/>
              </a:solidFill>
              <a:latin typeface="微软雅黑" panose="020B0503020204020204" charset="-122"/>
              <a:ea typeface="微软雅黑" panose="020B0503020204020204" charset="-122"/>
              <a:cs typeface="微软雅黑" panose="020B0503020204020204" charset="-122"/>
            </a:endParaRPr>
          </a:p>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23 October 2026    8 min + 2 min Q&amp;A</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6" name="A    01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2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2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2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2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2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2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2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2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2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F5F3EC"/>
                </a:solidFill>
                <a:latin typeface="微软雅黑" panose="020B0503020204020204" charset="-122"/>
                <a:ea typeface="微软雅黑" panose="020B0503020204020204" charset="-122"/>
                <a:cs typeface="微软雅黑" panose="020B0503020204020204" charset="-122"/>
              </a:defRPr>
            </a:pPr>
            <a:r>
              <a:rPr sz="1275" b="0">
                <a:solidFill>
                  <a:srgbClr val="F5F3EC"/>
                </a:solidFill>
                <a:latin typeface="微软雅黑" panose="020B0503020204020204" charset="-122"/>
                <a:ea typeface="微软雅黑" panose="020B0503020204020204" charset="-122"/>
                <a:cs typeface="微软雅黑" panose="020B0503020204020204" charset="-122"/>
              </a:rPr>
              <a:t>A    01 / 08</a:t>
            </a:r>
            <a:endParaRPr sz="1275" b="0">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8" name="Return when your&#10;input matters."/>
          <p:cNvSpPr>
            <a:spLocks noGrp="1"/>
          </p:cNvSpPr>
          <p:nvPr/>
        </p:nvSpPr>
        <p:spPr>
          <a:xfrm>
            <a:off x="609600" y="4940935"/>
            <a:ext cx="4572000" cy="952500"/>
          </a:xfrm>
          <a:prstGeom prst="rect">
            <a:avLst/>
          </a:prstGeom>
          <a:noFill/>
          <a:ln w="0">
            <a:noFill/>
          </a:ln>
        </p:spPr>
        <p:txBody>
          <a:bodyPr wrap="square" lIns="0" tIns="0" rIns="0" bIns="0" anchor="t">
            <a:noAutofit/>
          </a:bodyPr>
          <a:lstStyle>
            <a:defPPr>
              <a:defRPr sz="27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7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7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7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7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7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7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7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7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7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775" b="1">
                <a:solidFill>
                  <a:srgbClr val="173F39"/>
                </a:solidFill>
                <a:latin typeface="微软雅黑" panose="020B0503020204020204" charset="-122"/>
                <a:ea typeface="微软雅黑" panose="020B0503020204020204" charset="-122"/>
                <a:cs typeface="微软雅黑" panose="020B0503020204020204" charset="-122"/>
              </a:defRPr>
            </a:pPr>
            <a:r>
              <a:rPr sz="1600" b="1">
                <a:solidFill>
                  <a:srgbClr val="173F39"/>
                </a:solidFill>
                <a:latin typeface="微软雅黑" panose="020B0503020204020204" charset="-122"/>
                <a:ea typeface="微软雅黑" panose="020B0503020204020204" charset="-122"/>
                <a:cs typeface="微软雅黑" panose="020B0503020204020204" charset="-122"/>
              </a:rPr>
              <a:t>Group 3:</a:t>
            </a:r>
            <a:endParaRPr sz="1600" b="1">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2775" b="1">
                <a:solidFill>
                  <a:srgbClr val="173F39"/>
                </a:solidFill>
                <a:latin typeface="微软雅黑" panose="020B0503020204020204" charset="-122"/>
                <a:ea typeface="微软雅黑" panose="020B0503020204020204" charset="-122"/>
                <a:cs typeface="微软雅黑" panose="020B0503020204020204" charset="-122"/>
              </a:defRPr>
            </a:pPr>
            <a:r>
              <a:rPr sz="1600" b="1">
                <a:solidFill>
                  <a:srgbClr val="173F39"/>
                </a:solidFill>
                <a:latin typeface="微软雅黑" panose="020B0503020204020204" charset="-122"/>
                <a:ea typeface="微软雅黑" panose="020B0503020204020204" charset="-122"/>
                <a:cs typeface="微软雅黑" panose="020B0503020204020204" charset="-122"/>
              </a:rPr>
              <a:t>Chi Kit WONG, Haodong XU, Sida ZHANG</a:t>
            </a:r>
            <a:endParaRPr sz="1600" b="1">
              <a:solidFill>
                <a:srgbClr val="173F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p:sp>
        <p:nvSpPr>
          <p:cNvPr id="10" name="The participation problem"/>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What the 43 records revealed</a:t>
            </a:r>
            <a:endParaRPr sz="35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 name="A    02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    02 / 08</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11" name="Starting paper: Enabling Partial Participation in Remote Mee"/>
          <p:cNvSpPr>
            <a:spLocks noGrp="1"/>
          </p:cNvSpPr>
          <p:nvPr/>
        </p:nvSpPr>
        <p:spPr>
          <a:xfrm>
            <a:off x="609600" y="1333500"/>
            <a:ext cx="10972800" cy="342900"/>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8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8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8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8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8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8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8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8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r>
              <a:rPr sz="1875" b="1">
                <a:solidFill>
                  <a:srgbClr val="173F39"/>
                </a:solidFill>
                <a:latin typeface="微软雅黑" panose="020B0503020204020204" charset="-122"/>
                <a:ea typeface="微软雅黑" panose="020B0503020204020204" charset="-122"/>
                <a:cs typeface="微软雅黑" panose="020B0503020204020204" charset="-122"/>
              </a:rPr>
              <a:t>Starting paper: Enabling Partial Participation in Remote Meetings</a:t>
            </a:r>
            <a:endParaRPr sz="187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2" name="ProxyMe, its system, supports meeting updates and participan"/>
          <p:cNvSpPr>
            <a:spLocks noGrp="1"/>
          </p:cNvSpPr>
          <p:nvPr/>
        </p:nvSpPr>
        <p:spPr>
          <a:xfrm>
            <a:off x="609600" y="1724025"/>
            <a:ext cx="10972800" cy="323850"/>
          </a:xfrm>
          <a:prstGeom prst="rect">
            <a:avLst/>
          </a:prstGeom>
          <a:noFill/>
          <a:ln w="0">
            <a:noFill/>
          </a:ln>
        </p:spPr>
        <p:txBody>
          <a:bodyPr wrap="square" lIns="0" tIns="0" rIns="0" bIns="0" anchor="t">
            <a:noAutofit/>
          </a:bodyPr>
          <a:lstStyle>
            <a:defPPr>
              <a:defRPr sz="180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80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80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80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80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80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80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80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80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8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00" b="0">
                <a:solidFill>
                  <a:srgbClr val="617770"/>
                </a:solidFill>
                <a:latin typeface="微软雅黑" panose="020B0503020204020204" charset="-122"/>
                <a:ea typeface="微软雅黑" panose="020B0503020204020204" charset="-122"/>
                <a:cs typeface="微软雅黑" panose="020B0503020204020204" charset="-122"/>
              </a:defRPr>
            </a:pPr>
            <a:r>
              <a:rPr sz="1800" b="0">
                <a:solidFill>
                  <a:srgbClr val="617770"/>
                </a:solidFill>
                <a:latin typeface="微软雅黑" panose="020B0503020204020204" charset="-122"/>
                <a:ea typeface="微软雅黑" panose="020B0503020204020204" charset="-122"/>
                <a:cs typeface="微软雅黑" panose="020B0503020204020204" charset="-122"/>
              </a:rPr>
              <a:t>ProxyMe, its system, supports meeting updates and participant replies.</a:t>
            </a:r>
            <a:endParaRPr sz="1800"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13" name="Examples in the records"/>
          <p:cNvSpPr>
            <a:spLocks noGrp="1"/>
          </p:cNvSpPr>
          <p:nvPr/>
        </p:nvSpPr>
        <p:spPr>
          <a:xfrm>
            <a:off x="723900" y="2114550"/>
            <a:ext cx="6191250" cy="276225"/>
          </a:xfrm>
          <a:prstGeom prst="rect">
            <a:avLst/>
          </a:prstGeom>
          <a:noFill/>
          <a:ln w="0">
            <a:noFill/>
          </a:ln>
        </p:spPr>
        <p:txBody>
          <a:bodyPr wrap="square" lIns="0" tIns="0" rIns="0" bIns="0" anchor="t">
            <a:noAutofit/>
          </a:bodyPr>
          <a:lstStyle>
            <a:defPPr>
              <a:defRPr sz="1575" b="1">
                <a:solidFill>
                  <a:srgbClr val="617770"/>
                </a:solidFill>
                <a:latin typeface="微软雅黑" panose="020B0503020204020204" charset="-122"/>
                <a:ea typeface="微软雅黑" panose="020B0503020204020204" charset="-122"/>
                <a:cs typeface="微软雅黑" panose="020B0503020204020204" charset="-122"/>
              </a:defRPr>
            </a:defPPr>
            <a:lvl1pPr>
              <a:buNone/>
              <a:defRPr sz="1575" b="1">
                <a:solidFill>
                  <a:srgbClr val="617770"/>
                </a:solidFill>
                <a:latin typeface="微软雅黑" panose="020B0503020204020204" charset="-122"/>
                <a:ea typeface="微软雅黑" panose="020B0503020204020204" charset="-122"/>
                <a:cs typeface="微软雅黑" panose="020B0503020204020204" charset="-122"/>
              </a:defRPr>
            </a:lvl1pPr>
            <a:lvl2pPr>
              <a:buNone/>
              <a:defRPr sz="1575" b="1">
                <a:solidFill>
                  <a:srgbClr val="617770"/>
                </a:solidFill>
                <a:latin typeface="微软雅黑" panose="020B0503020204020204" charset="-122"/>
                <a:ea typeface="微软雅黑" panose="020B0503020204020204" charset="-122"/>
                <a:cs typeface="微软雅黑" panose="020B0503020204020204" charset="-122"/>
              </a:defRPr>
            </a:lvl2pPr>
            <a:lvl3pPr>
              <a:buNone/>
              <a:defRPr sz="1575" b="1">
                <a:solidFill>
                  <a:srgbClr val="617770"/>
                </a:solidFill>
                <a:latin typeface="微软雅黑" panose="020B0503020204020204" charset="-122"/>
                <a:ea typeface="微软雅黑" panose="020B0503020204020204" charset="-122"/>
                <a:cs typeface="微软雅黑" panose="020B0503020204020204" charset="-122"/>
              </a:defRPr>
            </a:lvl3pPr>
            <a:lvl4pPr>
              <a:buNone/>
              <a:defRPr sz="1575" b="1">
                <a:solidFill>
                  <a:srgbClr val="617770"/>
                </a:solidFill>
                <a:latin typeface="微软雅黑" panose="020B0503020204020204" charset="-122"/>
                <a:ea typeface="微软雅黑" panose="020B0503020204020204" charset="-122"/>
                <a:cs typeface="微软雅黑" panose="020B0503020204020204" charset="-122"/>
              </a:defRPr>
            </a:lvl4pPr>
            <a:lvl5pPr>
              <a:buNone/>
              <a:defRPr sz="1575" b="1">
                <a:solidFill>
                  <a:srgbClr val="617770"/>
                </a:solidFill>
                <a:latin typeface="微软雅黑" panose="020B0503020204020204" charset="-122"/>
                <a:ea typeface="微软雅黑" panose="020B0503020204020204" charset="-122"/>
                <a:cs typeface="微软雅黑" panose="020B0503020204020204" charset="-122"/>
              </a:defRPr>
            </a:lvl5pPr>
            <a:lvl6pPr>
              <a:buNone/>
              <a:defRPr sz="1575" b="1">
                <a:solidFill>
                  <a:srgbClr val="617770"/>
                </a:solidFill>
                <a:latin typeface="微软雅黑" panose="020B0503020204020204" charset="-122"/>
                <a:ea typeface="微软雅黑" panose="020B0503020204020204" charset="-122"/>
                <a:cs typeface="微软雅黑" panose="020B0503020204020204" charset="-122"/>
              </a:defRPr>
            </a:lvl6pPr>
            <a:lvl7pPr>
              <a:buNone/>
              <a:defRPr sz="1575" b="1">
                <a:solidFill>
                  <a:srgbClr val="617770"/>
                </a:solidFill>
                <a:latin typeface="微软雅黑" panose="020B0503020204020204" charset="-122"/>
                <a:ea typeface="微软雅黑" panose="020B0503020204020204" charset="-122"/>
                <a:cs typeface="微软雅黑" panose="020B0503020204020204" charset="-122"/>
              </a:defRPr>
            </a:lvl7pPr>
            <a:lvl8pPr>
              <a:buNone/>
              <a:defRPr sz="1575" b="1">
                <a:solidFill>
                  <a:srgbClr val="617770"/>
                </a:solidFill>
                <a:latin typeface="微软雅黑" panose="020B0503020204020204" charset="-122"/>
                <a:ea typeface="微软雅黑" panose="020B0503020204020204" charset="-122"/>
                <a:cs typeface="微软雅黑" panose="020B0503020204020204" charset="-122"/>
              </a:defRPr>
            </a:lvl8pPr>
            <a:lvl9pPr>
              <a:buNone/>
              <a:defRPr sz="1575"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617770"/>
                </a:solidFill>
                <a:latin typeface="微软雅黑" panose="020B0503020204020204" charset="-122"/>
                <a:ea typeface="微软雅黑" panose="020B0503020204020204" charset="-122"/>
                <a:cs typeface="微软雅黑" panose="020B0503020204020204" charset="-122"/>
              </a:defRPr>
            </a:pPr>
            <a:r>
              <a:rPr sz="1575" b="1">
                <a:solidFill>
                  <a:srgbClr val="617770"/>
                </a:solidFill>
                <a:latin typeface="微软雅黑" panose="020B0503020204020204" charset="-122"/>
                <a:ea typeface="微软雅黑" panose="020B0503020204020204" charset="-122"/>
                <a:cs typeface="微软雅黑" panose="020B0503020204020204" charset="-122"/>
              </a:rPr>
              <a:t>Examples in the records</a:t>
            </a:r>
            <a:endParaRPr sz="1575" b="1">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14" name="Design implication"/>
          <p:cNvSpPr>
            <a:spLocks noGrp="1"/>
          </p:cNvSpPr>
          <p:nvPr/>
        </p:nvSpPr>
        <p:spPr>
          <a:xfrm>
            <a:off x="7639050" y="2114550"/>
            <a:ext cx="3733800" cy="276225"/>
          </a:xfrm>
          <a:prstGeom prst="rect">
            <a:avLst/>
          </a:prstGeom>
          <a:noFill/>
          <a:ln w="0">
            <a:noFill/>
          </a:ln>
        </p:spPr>
        <p:txBody>
          <a:bodyPr wrap="square" lIns="0" tIns="0" rIns="0" bIns="0" anchor="t">
            <a:noAutofit/>
          </a:bodyPr>
          <a:lstStyle>
            <a:defPPr>
              <a:defRPr sz="1575" b="1">
                <a:solidFill>
                  <a:srgbClr val="617770"/>
                </a:solidFill>
                <a:latin typeface="微软雅黑" panose="020B0503020204020204" charset="-122"/>
                <a:ea typeface="微软雅黑" panose="020B0503020204020204" charset="-122"/>
                <a:cs typeface="微软雅黑" panose="020B0503020204020204" charset="-122"/>
              </a:defRPr>
            </a:defPPr>
            <a:lvl1pPr>
              <a:buNone/>
              <a:defRPr sz="1575" b="1">
                <a:solidFill>
                  <a:srgbClr val="617770"/>
                </a:solidFill>
                <a:latin typeface="微软雅黑" panose="020B0503020204020204" charset="-122"/>
                <a:ea typeface="微软雅黑" panose="020B0503020204020204" charset="-122"/>
                <a:cs typeface="微软雅黑" panose="020B0503020204020204" charset="-122"/>
              </a:defRPr>
            </a:lvl1pPr>
            <a:lvl2pPr>
              <a:buNone/>
              <a:defRPr sz="1575" b="1">
                <a:solidFill>
                  <a:srgbClr val="617770"/>
                </a:solidFill>
                <a:latin typeface="微软雅黑" panose="020B0503020204020204" charset="-122"/>
                <a:ea typeface="微软雅黑" panose="020B0503020204020204" charset="-122"/>
                <a:cs typeface="微软雅黑" panose="020B0503020204020204" charset="-122"/>
              </a:defRPr>
            </a:lvl2pPr>
            <a:lvl3pPr>
              <a:buNone/>
              <a:defRPr sz="1575" b="1">
                <a:solidFill>
                  <a:srgbClr val="617770"/>
                </a:solidFill>
                <a:latin typeface="微软雅黑" panose="020B0503020204020204" charset="-122"/>
                <a:ea typeface="微软雅黑" panose="020B0503020204020204" charset="-122"/>
                <a:cs typeface="微软雅黑" panose="020B0503020204020204" charset="-122"/>
              </a:defRPr>
            </a:lvl3pPr>
            <a:lvl4pPr>
              <a:buNone/>
              <a:defRPr sz="1575" b="1">
                <a:solidFill>
                  <a:srgbClr val="617770"/>
                </a:solidFill>
                <a:latin typeface="微软雅黑" panose="020B0503020204020204" charset="-122"/>
                <a:ea typeface="微软雅黑" panose="020B0503020204020204" charset="-122"/>
                <a:cs typeface="微软雅黑" panose="020B0503020204020204" charset="-122"/>
              </a:defRPr>
            </a:lvl4pPr>
            <a:lvl5pPr>
              <a:buNone/>
              <a:defRPr sz="1575" b="1">
                <a:solidFill>
                  <a:srgbClr val="617770"/>
                </a:solidFill>
                <a:latin typeface="微软雅黑" panose="020B0503020204020204" charset="-122"/>
                <a:ea typeface="微软雅黑" panose="020B0503020204020204" charset="-122"/>
                <a:cs typeface="微软雅黑" panose="020B0503020204020204" charset="-122"/>
              </a:defRPr>
            </a:lvl5pPr>
            <a:lvl6pPr>
              <a:buNone/>
              <a:defRPr sz="1575" b="1">
                <a:solidFill>
                  <a:srgbClr val="617770"/>
                </a:solidFill>
                <a:latin typeface="微软雅黑" panose="020B0503020204020204" charset="-122"/>
                <a:ea typeface="微软雅黑" panose="020B0503020204020204" charset="-122"/>
                <a:cs typeface="微软雅黑" panose="020B0503020204020204" charset="-122"/>
              </a:defRPr>
            </a:lvl6pPr>
            <a:lvl7pPr>
              <a:buNone/>
              <a:defRPr sz="1575" b="1">
                <a:solidFill>
                  <a:srgbClr val="617770"/>
                </a:solidFill>
                <a:latin typeface="微软雅黑" panose="020B0503020204020204" charset="-122"/>
                <a:ea typeface="微软雅黑" panose="020B0503020204020204" charset="-122"/>
                <a:cs typeface="微软雅黑" panose="020B0503020204020204" charset="-122"/>
              </a:defRPr>
            </a:lvl7pPr>
            <a:lvl8pPr>
              <a:buNone/>
              <a:defRPr sz="1575" b="1">
                <a:solidFill>
                  <a:srgbClr val="617770"/>
                </a:solidFill>
                <a:latin typeface="微软雅黑" panose="020B0503020204020204" charset="-122"/>
                <a:ea typeface="微软雅黑" panose="020B0503020204020204" charset="-122"/>
                <a:cs typeface="微软雅黑" panose="020B0503020204020204" charset="-122"/>
              </a:defRPr>
            </a:lvl8pPr>
            <a:lvl9pPr>
              <a:buNone/>
              <a:defRPr sz="1575"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617770"/>
                </a:solidFill>
                <a:latin typeface="微软雅黑" panose="020B0503020204020204" charset="-122"/>
                <a:ea typeface="微软雅黑" panose="020B0503020204020204" charset="-122"/>
                <a:cs typeface="微软雅黑" panose="020B0503020204020204" charset="-122"/>
              </a:defRPr>
            </a:pPr>
            <a:r>
              <a:rPr sz="1575" b="1">
                <a:solidFill>
                  <a:srgbClr val="617770"/>
                </a:solidFill>
                <a:latin typeface="微软雅黑" panose="020B0503020204020204" charset="-122"/>
                <a:ea typeface="微软雅黑" panose="020B0503020204020204" charset="-122"/>
                <a:cs typeface="微软雅黑" panose="020B0503020204020204" charset="-122"/>
              </a:rPr>
              <a:t>Design implication</a:t>
            </a:r>
            <a:endParaRPr sz="1575" b="1">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15" name="Evidence row 0"/>
          <p:cNvSpPr>
            <a:spLocks noGrp="1"/>
          </p:cNvSpPr>
          <p:nvPr/>
        </p:nvSpPr>
        <p:spPr>
          <a:xfrm>
            <a:off x="609600" y="2428875"/>
            <a:ext cx="10972800" cy="638175"/>
          </a:xfrm>
          <a:prstGeom prst="rect">
            <a:avLst/>
          </a:prstGeom>
          <a:solidFill>
            <a:srgbClr val="E7EEE7"/>
          </a:solidFill>
          <a:ln w="0">
            <a:noFill/>
          </a:ln>
        </p:spPr>
      </p:sp>
      <p:sp>
        <p:nvSpPr>
          <p:cNvPr id="16" name="R13: Requests were repeated when&#10;attention moved elsewhere."/>
          <p:cNvSpPr>
            <a:spLocks noGrp="1"/>
          </p:cNvSpPr>
          <p:nvPr/>
        </p:nvSpPr>
        <p:spPr>
          <a:xfrm>
            <a:off x="723900" y="2476500"/>
            <a:ext cx="65722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R13: Requests were repeated when</a:t>
            </a:r>
            <a:endParaRPr sz="172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attention moved elsewhere.</a:t>
            </a:r>
            <a:endParaRPr sz="17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7" name="Catch requests that&#10;need a reply now"/>
          <p:cNvSpPr>
            <a:spLocks noGrp="1"/>
          </p:cNvSpPr>
          <p:nvPr/>
        </p:nvSpPr>
        <p:spPr>
          <a:xfrm>
            <a:off x="7639050" y="2476500"/>
            <a:ext cx="38290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Catch requests that</a:t>
            </a:r>
            <a:endParaRPr sz="172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need a reply now</a:t>
            </a:r>
            <a:endParaRPr sz="17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8" name="Evidence row 1"/>
          <p:cNvSpPr>
            <a:spLocks noGrp="1"/>
          </p:cNvSpPr>
          <p:nvPr/>
        </p:nvSpPr>
        <p:spPr>
          <a:xfrm>
            <a:off x="609600" y="3133725"/>
            <a:ext cx="10972800" cy="638175"/>
          </a:xfrm>
          <a:prstGeom prst="rect">
            <a:avLst/>
          </a:prstGeom>
          <a:solidFill>
            <a:srgbClr val="F5F3EC"/>
          </a:solidFill>
          <a:ln w="0">
            <a:noFill/>
          </a:ln>
        </p:spPr>
      </p:sp>
      <p:sp>
        <p:nvSpPr>
          <p:cNvPr id="19" name="R12: Summaries missed details&#10;the reader needed."/>
          <p:cNvSpPr>
            <a:spLocks noGrp="1"/>
          </p:cNvSpPr>
          <p:nvPr/>
        </p:nvSpPr>
        <p:spPr>
          <a:xfrm>
            <a:off x="723900" y="3181350"/>
            <a:ext cx="65722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R12: Summaries missed details</a:t>
            </a:r>
            <a:endParaRPr sz="172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the reader needed.</a:t>
            </a:r>
            <a:endParaRPr sz="17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0" name="Show personally&#10;relevant context"/>
          <p:cNvSpPr>
            <a:spLocks noGrp="1"/>
          </p:cNvSpPr>
          <p:nvPr/>
        </p:nvSpPr>
        <p:spPr>
          <a:xfrm>
            <a:off x="7639050" y="3181350"/>
            <a:ext cx="38290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Show personally</a:t>
            </a:r>
            <a:endParaRPr sz="172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relevant context</a:t>
            </a:r>
            <a:endParaRPr sz="17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1" name="Evidence row 2"/>
          <p:cNvSpPr>
            <a:spLocks noGrp="1"/>
          </p:cNvSpPr>
          <p:nvPr/>
        </p:nvSpPr>
        <p:spPr>
          <a:xfrm>
            <a:off x="609600" y="3838575"/>
            <a:ext cx="10972800" cy="638175"/>
          </a:xfrm>
          <a:prstGeom prst="rect">
            <a:avLst/>
          </a:prstGeom>
          <a:solidFill>
            <a:srgbClr val="E7EEE7"/>
          </a:solidFill>
          <a:ln w="0">
            <a:noFill/>
          </a:ln>
        </p:spPr>
      </p:sp>
      <p:sp>
        <p:nvSpPr>
          <p:cNvPr id="22" name="R36 case: A missing detail led&#10;to an unsuitable answer."/>
          <p:cNvSpPr>
            <a:spLocks noGrp="1"/>
          </p:cNvSpPr>
          <p:nvPr/>
        </p:nvSpPr>
        <p:spPr>
          <a:xfrm>
            <a:off x="723900" y="3886200"/>
            <a:ext cx="65722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R36 case: A missing detail led</a:t>
            </a:r>
            <a:endParaRPr sz="172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to an unsuitable answer.</a:t>
            </a:r>
            <a:endParaRPr sz="17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3" name="Check context&#10;before agreeing"/>
          <p:cNvSpPr>
            <a:spLocks noGrp="1"/>
          </p:cNvSpPr>
          <p:nvPr/>
        </p:nvSpPr>
        <p:spPr>
          <a:xfrm>
            <a:off x="7639050" y="3886200"/>
            <a:ext cx="38290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Check context</a:t>
            </a:r>
            <a:endParaRPr sz="172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before agreeing</a:t>
            </a:r>
            <a:endParaRPr sz="17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4" name="Evidence row 3"/>
          <p:cNvSpPr>
            <a:spLocks noGrp="1"/>
          </p:cNvSpPr>
          <p:nvPr/>
        </p:nvSpPr>
        <p:spPr>
          <a:xfrm>
            <a:off x="609600" y="4543425"/>
            <a:ext cx="10972800" cy="638175"/>
          </a:xfrm>
          <a:prstGeom prst="rect">
            <a:avLst/>
          </a:prstGeom>
          <a:solidFill>
            <a:srgbClr val="F5F3EC"/>
          </a:solidFill>
          <a:ln w="0">
            <a:noFill/>
          </a:ln>
        </p:spPr>
      </p:sp>
      <p:sp>
        <p:nvSpPr>
          <p:cNvPr id="25" name="R11, R39-R41: Summaries, notes&#10;or chat could already be enou"/>
          <p:cNvSpPr>
            <a:spLocks noGrp="1"/>
          </p:cNvSpPr>
          <p:nvPr/>
        </p:nvSpPr>
        <p:spPr>
          <a:xfrm>
            <a:off x="723900" y="4591050"/>
            <a:ext cx="65722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R11, R39-R41: Summaries, notes</a:t>
            </a:r>
            <a:endParaRPr sz="172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or chat could already be enough.</a:t>
            </a:r>
            <a:endParaRPr sz="17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6" name="Let updates wait&#10;when no action is needed"/>
          <p:cNvSpPr>
            <a:spLocks noGrp="1"/>
          </p:cNvSpPr>
          <p:nvPr/>
        </p:nvSpPr>
        <p:spPr>
          <a:xfrm>
            <a:off x="7639050" y="4591050"/>
            <a:ext cx="3829050" cy="59055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17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17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17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17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17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17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17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17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Let updates wait</a:t>
            </a:r>
            <a:endParaRPr sz="172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when no action is needed</a:t>
            </a:r>
            <a:endParaRPr sz="17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7" name="Our question"/>
          <p:cNvSpPr>
            <a:spLocks noGrp="1"/>
          </p:cNvSpPr>
          <p:nvPr/>
        </p:nvSpPr>
        <p:spPr>
          <a:xfrm>
            <a:off x="609600" y="5467350"/>
            <a:ext cx="10972800" cy="285750"/>
          </a:xfrm>
          <a:prstGeom prst="rect">
            <a:avLst/>
          </a:prstGeom>
          <a:noFill/>
          <a:ln w="0">
            <a:noFill/>
          </a:ln>
        </p:spPr>
        <p:txBody>
          <a:bodyPr wrap="square" lIns="0" tIns="0" rIns="0" bIns="0" anchor="t">
            <a:noAutofit/>
          </a:bodyPr>
          <a:lstStyle>
            <a:defPPr>
              <a:defRPr sz="1650" b="1">
                <a:solidFill>
                  <a:srgbClr val="617770"/>
                </a:solidFill>
                <a:latin typeface="微软雅黑" panose="020B0503020204020204" charset="-122"/>
                <a:ea typeface="微软雅黑" panose="020B0503020204020204" charset="-122"/>
                <a:cs typeface="微软雅黑" panose="020B0503020204020204" charset="-122"/>
              </a:defRPr>
            </a:defPPr>
            <a:lvl1pPr>
              <a:buNone/>
              <a:defRPr sz="1650" b="1">
                <a:solidFill>
                  <a:srgbClr val="617770"/>
                </a:solidFill>
                <a:latin typeface="微软雅黑" panose="020B0503020204020204" charset="-122"/>
                <a:ea typeface="微软雅黑" panose="020B0503020204020204" charset="-122"/>
                <a:cs typeface="微软雅黑" panose="020B0503020204020204" charset="-122"/>
              </a:defRPr>
            </a:lvl1pPr>
            <a:lvl2pPr>
              <a:buNone/>
              <a:defRPr sz="1650" b="1">
                <a:solidFill>
                  <a:srgbClr val="617770"/>
                </a:solidFill>
                <a:latin typeface="微软雅黑" panose="020B0503020204020204" charset="-122"/>
                <a:ea typeface="微软雅黑" panose="020B0503020204020204" charset="-122"/>
                <a:cs typeface="微软雅黑" panose="020B0503020204020204" charset="-122"/>
              </a:defRPr>
            </a:lvl2pPr>
            <a:lvl3pPr>
              <a:buNone/>
              <a:defRPr sz="1650" b="1">
                <a:solidFill>
                  <a:srgbClr val="617770"/>
                </a:solidFill>
                <a:latin typeface="微软雅黑" panose="020B0503020204020204" charset="-122"/>
                <a:ea typeface="微软雅黑" panose="020B0503020204020204" charset="-122"/>
                <a:cs typeface="微软雅黑" panose="020B0503020204020204" charset="-122"/>
              </a:defRPr>
            </a:lvl3pPr>
            <a:lvl4pPr>
              <a:buNone/>
              <a:defRPr sz="1650" b="1">
                <a:solidFill>
                  <a:srgbClr val="617770"/>
                </a:solidFill>
                <a:latin typeface="微软雅黑" panose="020B0503020204020204" charset="-122"/>
                <a:ea typeface="微软雅黑" panose="020B0503020204020204" charset="-122"/>
                <a:cs typeface="微软雅黑" panose="020B0503020204020204" charset="-122"/>
              </a:defRPr>
            </a:lvl4pPr>
            <a:lvl5pPr>
              <a:buNone/>
              <a:defRPr sz="1650" b="1">
                <a:solidFill>
                  <a:srgbClr val="617770"/>
                </a:solidFill>
                <a:latin typeface="微软雅黑" panose="020B0503020204020204" charset="-122"/>
                <a:ea typeface="微软雅黑" panose="020B0503020204020204" charset="-122"/>
                <a:cs typeface="微软雅黑" panose="020B0503020204020204" charset="-122"/>
              </a:defRPr>
            </a:lvl5pPr>
            <a:lvl6pPr>
              <a:buNone/>
              <a:defRPr sz="1650" b="1">
                <a:solidFill>
                  <a:srgbClr val="617770"/>
                </a:solidFill>
                <a:latin typeface="微软雅黑" panose="020B0503020204020204" charset="-122"/>
                <a:ea typeface="微软雅黑" panose="020B0503020204020204" charset="-122"/>
                <a:cs typeface="微软雅黑" panose="020B0503020204020204" charset="-122"/>
              </a:defRPr>
            </a:lvl6pPr>
            <a:lvl7pPr>
              <a:buNone/>
              <a:defRPr sz="1650" b="1">
                <a:solidFill>
                  <a:srgbClr val="617770"/>
                </a:solidFill>
                <a:latin typeface="微软雅黑" panose="020B0503020204020204" charset="-122"/>
                <a:ea typeface="微软雅黑" panose="020B0503020204020204" charset="-122"/>
                <a:cs typeface="微软雅黑" panose="020B0503020204020204" charset="-122"/>
              </a:defRPr>
            </a:lvl7pPr>
            <a:lvl8pPr>
              <a:buNone/>
              <a:defRPr sz="1650" b="1">
                <a:solidFill>
                  <a:srgbClr val="617770"/>
                </a:solidFill>
                <a:latin typeface="微软雅黑" panose="020B0503020204020204" charset="-122"/>
                <a:ea typeface="微软雅黑" panose="020B0503020204020204" charset="-122"/>
                <a:cs typeface="微软雅黑" panose="020B0503020204020204" charset="-122"/>
              </a:defRPr>
            </a:lvl8pPr>
            <a:lvl9pPr>
              <a:buNone/>
              <a:defRPr sz="1650"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650" b="1">
                <a:solidFill>
                  <a:srgbClr val="617770"/>
                </a:solidFill>
                <a:latin typeface="微软雅黑" panose="020B0503020204020204" charset="-122"/>
                <a:ea typeface="微软雅黑" panose="020B0503020204020204" charset="-122"/>
                <a:cs typeface="微软雅黑" panose="020B0503020204020204" charset="-122"/>
              </a:defRPr>
            </a:pPr>
            <a:r>
              <a:rPr sz="1650" b="1">
                <a:solidFill>
                  <a:srgbClr val="617770"/>
                </a:solidFill>
                <a:latin typeface="微软雅黑" panose="020B0503020204020204" charset="-122"/>
                <a:ea typeface="微软雅黑" panose="020B0503020204020204" charset="-122"/>
                <a:cs typeface="微软雅黑" panose="020B0503020204020204" charset="-122"/>
              </a:rPr>
              <a:t>Our question</a:t>
            </a:r>
            <a:endParaRPr sz="1650" b="1">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28" name="When should someone return, and what do they need to answer "/>
          <p:cNvSpPr>
            <a:spLocks noGrp="1"/>
          </p:cNvSpPr>
          <p:nvPr/>
        </p:nvSpPr>
        <p:spPr>
          <a:xfrm>
            <a:off x="609600" y="5848350"/>
            <a:ext cx="10972800" cy="371475"/>
          </a:xfrm>
          <a:prstGeom prst="rect">
            <a:avLst/>
          </a:prstGeom>
          <a:noFill/>
          <a:ln w="0">
            <a:noFill/>
          </a:ln>
        </p:spPr>
        <p:txBody>
          <a:bodyPr wrap="square" lIns="0" tIns="0" rIns="0" bIns="0" anchor="t">
            <a:noAutofit/>
          </a:bodyPr>
          <a:lstStyle>
            <a:defPPr>
              <a:defRPr sz="195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95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95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95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95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95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95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95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95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95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950" b="1">
                <a:solidFill>
                  <a:srgbClr val="173F39"/>
                </a:solidFill>
                <a:latin typeface="微软雅黑" panose="020B0503020204020204" charset="-122"/>
                <a:ea typeface="微软雅黑" panose="020B0503020204020204" charset="-122"/>
                <a:cs typeface="微软雅黑" panose="020B0503020204020204" charset="-122"/>
              </a:defRPr>
            </a:pPr>
            <a:r>
              <a:rPr sz="1950" b="1">
                <a:solidFill>
                  <a:srgbClr val="173F39"/>
                </a:solidFill>
                <a:latin typeface="微软雅黑" panose="020B0503020204020204" charset="-122"/>
                <a:ea typeface="微软雅黑" panose="020B0503020204020204" charset="-122"/>
                <a:cs typeface="微软雅黑" panose="020B0503020204020204" charset="-122"/>
              </a:rPr>
              <a:t>When should someone return, and what do they need to answer well?</a:t>
            </a:r>
            <a:endParaRPr sz="195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9" name="Paraphrased examples. Bai, Png &amp; Velloso, CHI 2026. Sources "/>
          <p:cNvSpPr>
            <a:spLocks noGrp="1"/>
          </p:cNvSpPr>
          <p:nvPr/>
        </p:nvSpPr>
        <p:spPr>
          <a:xfrm>
            <a:off x="609600" y="6419850"/>
            <a:ext cx="9525000" cy="23812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Paraphrased examples. Bai, Png &amp; Velloso, CHI 2026. Sources in notes / appendix.</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p:sp>
        <p:nvSpPr>
          <p:cNvPr id="5" name="Formative evidence and design choices"/>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How evidence shaped the prototype</a:t>
            </a:r>
            <a:endParaRPr sz="35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 name="B    03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A/B   03 / 08</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609600" y="1695450"/>
          <a:ext cx="10972800" cy="4286250"/>
        </p:xfrm>
        <a:graphic>
          <a:graphicData uri="http://schemas.openxmlformats.org/drawingml/2006/table">
            <a:tbl>
              <a:tblPr/>
              <a:tblGrid>
                <a:gridCol w="4305300"/>
                <a:gridCol w="2667000"/>
                <a:gridCol w="4000500"/>
              </a:tblGrid>
              <a:tr h="571500">
                <a:tc>
                  <a:txBody>
                    <a:bodyPr wrap="square">
                      <a:spAutoFit/>
                    </a:bodyPr>
                    <a:lstStyle/>
                    <a:p>
                      <a:pPr>
                        <a:lnSpc>
                          <a:spcPct val="110000"/>
                        </a:lnSpc>
                        <a:buNone/>
                      </a:pPr>
                      <a:r>
                        <a:rPr sz="1800" b="1">
                          <a:solidFill>
                            <a:srgbClr val="F5F3EC"/>
                          </a:solidFill>
                          <a:latin typeface="微软雅黑" panose="020B0503020204020204" charset="-122"/>
                          <a:ea typeface="微软雅黑" panose="020B0503020204020204" charset="-122"/>
                          <a:cs typeface="微软雅黑" panose="020B0503020204020204" charset="-122"/>
                        </a:rPr>
                        <a:t>Evidence from the records</a:t>
                      </a:r>
                      <a:endParaRPr sz="1800"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wrap="square">
                      <a:spAutoFit/>
                    </a:bodyPr>
                    <a:lstStyle/>
                    <a:p>
                      <a:pPr>
                        <a:lnSpc>
                          <a:spcPct val="110000"/>
                        </a:lnSpc>
                        <a:buNone/>
                      </a:pPr>
                      <a:r>
                        <a:rPr sz="1800" b="1">
                          <a:solidFill>
                            <a:srgbClr val="F5F3EC"/>
                          </a:solidFill>
                          <a:latin typeface="微软雅黑" panose="020B0503020204020204" charset="-122"/>
                          <a:ea typeface="微软雅黑" panose="020B0503020204020204" charset="-122"/>
                          <a:cs typeface="微软雅黑" panose="020B0503020204020204" charset="-122"/>
                        </a:rPr>
                        <a:t>Design need</a:t>
                      </a:r>
                      <a:endParaRPr sz="1800"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wrap="square">
                      <a:spAutoFit/>
                    </a:bodyPr>
                    <a:lstStyle/>
                    <a:p>
                      <a:pPr>
                        <a:lnSpc>
                          <a:spcPct val="110000"/>
                        </a:lnSpc>
                        <a:buNone/>
                      </a:pPr>
                      <a:r>
                        <a:rPr sz="1800" b="1">
                          <a:solidFill>
                            <a:srgbClr val="F5F3EC"/>
                          </a:solidFill>
                          <a:latin typeface="微软雅黑" panose="020B0503020204020204" charset="-122"/>
                          <a:ea typeface="微软雅黑" panose="020B0503020204020204" charset="-122"/>
                          <a:cs typeface="微软雅黑" panose="020B0503020204020204" charset="-122"/>
                        </a:rPr>
                        <a:t>Demo function</a:t>
                      </a:r>
                      <a:endParaRPr sz="1800"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r>
              <a:tr h="1238250">
                <a:tc>
                  <a:txBody>
                    <a:bodyPr wrap="square">
                      <a:spAutoFit/>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R13: Feedback requests needed</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repeating when attention shifted.</a:t>
                      </a:r>
                      <a:endParaRPr sz="1800"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Return when input</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is needed</a:t>
                      </a:r>
                      <a:endParaRPr sz="1800"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Respond now / Later /</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For awareness</a:t>
                      </a:r>
                      <a:endParaRPr sz="1800"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r>
              <a:tr h="1238250">
                <a:tc>
                  <a:txBody>
                    <a:bodyPr wrap="square">
                      <a:spAutoFit/>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R03: What happened? Why me?</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What must I answer?</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R04: Check original wording.</a:t>
                      </a:r>
                      <a:endParaRPr sz="1800"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Recover relevant</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context</a:t>
                      </a:r>
                      <a:endParaRPr sz="1800"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Reason for the request</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and original excerpts</a:t>
                      </a:r>
                      <a:endParaRPr sz="1800"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r>
              <a:tr h="1238250">
                <a:tc>
                  <a:txBody>
                    <a:bodyPr wrap="square">
                      <a:spAutoFit/>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R36 case: A missing detail</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led to an unsuitable answer.</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R03: Keep reply confirmation.</a:t>
                      </a:r>
                      <a:endParaRPr sz="1800"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Check before</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committing</a:t>
                      </a:r>
                      <a:endParaRPr sz="1800"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Edit and confirm/copy,</a:t>
                      </a:r>
                      <a:endParaRPr sz="18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00" b="0">
                          <a:solidFill>
                            <a:srgbClr val="173F39"/>
                          </a:solidFill>
                          <a:latin typeface="微软雅黑" panose="020B0503020204020204" charset="-122"/>
                          <a:ea typeface="微软雅黑" panose="020B0503020204020204" charset="-122"/>
                          <a:cs typeface="微软雅黑" panose="020B0503020204020204" charset="-122"/>
                        </a:rPr>
                        <a:t>then send in Tencent Meeting</a:t>
                      </a:r>
                      <a:endParaRPr sz="1800"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r>
            </a:tbl>
          </a:graphicData>
        </a:graphic>
      </p:graphicFrame>
      <p:sp>
        <p:nvSpPr>
          <p:cNvPr id="7" name="43 exploratory records reviewed for requests, missing contex"/>
          <p:cNvSpPr>
            <a:spLocks noGrp="1"/>
          </p:cNvSpPr>
          <p:nvPr/>
        </p:nvSpPr>
        <p:spPr>
          <a:xfrm>
            <a:off x="609600" y="6115050"/>
            <a:ext cx="9525000" cy="514350"/>
          </a:xfrm>
          <a:prstGeom prst="rect">
            <a:avLst/>
          </a:prstGeom>
          <a:noFill/>
          <a:ln w="0">
            <a:noFill/>
          </a:ln>
        </p:spPr>
        <p:txBody>
          <a:bodyPr wrap="square" lIns="0" tIns="0" rIns="0" bIns="0" anchor="t">
            <a:noAutofit/>
          </a:bodyPr>
          <a:lstStyle>
            <a:defPPr>
              <a:defRPr sz="1350"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350"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350"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350"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350"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350"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350"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350"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350"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35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350" b="0">
                <a:solidFill>
                  <a:srgbClr val="617770"/>
                </a:solidFill>
                <a:latin typeface="微软雅黑" panose="020B0503020204020204" charset="-122"/>
                <a:ea typeface="微软雅黑" panose="020B0503020204020204" charset="-122"/>
                <a:cs typeface="微软雅黑" panose="020B0503020204020204" charset="-122"/>
              </a:defRPr>
            </a:pPr>
            <a:r>
              <a:rPr sz="1350" b="0">
                <a:solidFill>
                  <a:srgbClr val="617770"/>
                </a:solidFill>
                <a:latin typeface="微软雅黑" panose="020B0503020204020204" charset="-122"/>
                <a:ea typeface="微软雅黑" panose="020B0503020204020204" charset="-122"/>
                <a:cs typeface="微软雅黑" panose="020B0503020204020204" charset="-122"/>
              </a:rPr>
              <a:t>Method: group requests, missing context and reply risks, then map patterns to needs.</a:t>
            </a:r>
            <a:endParaRPr sz="1350" b="0">
              <a:solidFill>
                <a:srgbClr val="617770"/>
              </a:solidFill>
              <a:latin typeface="微软雅黑" panose="020B0503020204020204" charset="-122"/>
              <a:ea typeface="微软雅黑" panose="020B0503020204020204" charset="-122"/>
              <a:cs typeface="微软雅黑" panose="020B0503020204020204" charset="-122"/>
            </a:endParaRPr>
          </a:p>
          <a:p>
            <a:pPr>
              <a:lnSpc>
                <a:spcPct val="112000"/>
              </a:lnSpc>
              <a:buNone/>
              <a:defRPr sz="1350" b="0">
                <a:solidFill>
                  <a:srgbClr val="617770"/>
                </a:solidFill>
                <a:latin typeface="微软雅黑" panose="020B0503020204020204" charset="-122"/>
                <a:ea typeface="微软雅黑" panose="020B0503020204020204" charset="-122"/>
                <a:cs typeface="微软雅黑" panose="020B0503020204020204" charset="-122"/>
              </a:defRPr>
            </a:pPr>
            <a:r>
              <a:rPr sz="1350" b="0">
                <a:solidFill>
                  <a:srgbClr val="617770"/>
                </a:solidFill>
                <a:latin typeface="微软雅黑" panose="020B0503020204020204" charset="-122"/>
                <a:ea typeface="微软雅黑" panose="020B0503020204020204" charset="-122"/>
                <a:cs typeface="微软雅黑" panose="020B0503020204020204" charset="-122"/>
              </a:rPr>
              <a:t>Examples are paraphrased; record IDs connect to the evidence notes.</a:t>
            </a:r>
            <a:endParaRPr sz="1350" b="0">
              <a:solidFill>
                <a:srgbClr val="61777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3F39"/>
        </a:solidFill>
        <a:effectLst/>
      </p:bgPr>
    </p:bg>
    <p:spTree>
      <p:nvGrpSpPr>
        <p:cNvPr id="1" name=""/>
        <p:cNvGrpSpPr/>
        <p:nvPr/>
      </p:nvGrpSpPr>
      <p:grpSpPr/>
      <p:sp>
        <p:nvSpPr>
          <p:cNvPr id="17" name="How AI supports the interaction"/>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352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352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352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352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352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352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352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352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352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F5F3EC"/>
                </a:solidFill>
                <a:latin typeface="微软雅黑" panose="020B0503020204020204" charset="-122"/>
                <a:ea typeface="微软雅黑" panose="020B0503020204020204" charset="-122"/>
                <a:cs typeface="微软雅黑" panose="020B0503020204020204" charset="-122"/>
              </a:defRPr>
            </a:pPr>
            <a:r>
              <a:rPr sz="3525" b="1">
                <a:solidFill>
                  <a:srgbClr val="F5F3EC"/>
                </a:solidFill>
                <a:latin typeface="微软雅黑" panose="020B0503020204020204" charset="-122"/>
                <a:ea typeface="微软雅黑" panose="020B0503020204020204" charset="-122"/>
                <a:cs typeface="微软雅黑" panose="020B0503020204020204" charset="-122"/>
              </a:rPr>
              <a:t>How AI supports the interaction</a:t>
            </a:r>
            <a:endParaRPr sz="3525" b="1">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2" name="B    04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1275"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1275"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1275"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1275"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1275"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1275"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1275"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1275"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1275"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AEC9BC"/>
                </a:solidFill>
                <a:latin typeface="微软雅黑" panose="020B0503020204020204" charset="-122"/>
                <a:ea typeface="微软雅黑" panose="020B0503020204020204" charset="-122"/>
                <a:cs typeface="微软雅黑" panose="020B0503020204020204" charset="-122"/>
              </a:defRPr>
            </a:pPr>
            <a:r>
              <a:rPr sz="1275" b="0">
                <a:solidFill>
                  <a:srgbClr val="AEC9BC"/>
                </a:solidFill>
                <a:latin typeface="微软雅黑" panose="020B0503020204020204" charset="-122"/>
                <a:ea typeface="微软雅黑" panose="020B0503020204020204" charset="-122"/>
                <a:cs typeface="微软雅黑" panose="020B0503020204020204" charset="-122"/>
              </a:rPr>
              <a:t>B    04 / 08</a:t>
            </a:r>
            <a:endParaRPr sz="1275" b="0">
              <a:solidFill>
                <a:srgbClr val="AEC9BC"/>
              </a:solidFill>
              <a:latin typeface="微软雅黑" panose="020B0503020204020204" charset="-122"/>
              <a:ea typeface="微软雅黑" panose="020B0503020204020204" charset="-122"/>
              <a:cs typeface="微软雅黑" panose="020B0503020204020204" charset="-122"/>
            </a:endParaRPr>
          </a:p>
        </p:txBody>
      </p:sp>
      <p:sp>
        <p:nvSpPr>
          <p:cNvPr id="3" name="01"/>
          <p:cNvSpPr>
            <a:spLocks noGrp="1"/>
          </p:cNvSpPr>
          <p:nvPr/>
        </p:nvSpPr>
        <p:spPr>
          <a:xfrm>
            <a:off x="609600" y="1809750"/>
            <a:ext cx="2362200" cy="904875"/>
          </a:xfrm>
          <a:prstGeom prst="rect">
            <a:avLst/>
          </a:prstGeom>
          <a:noFill/>
          <a:ln w="0">
            <a:noFill/>
          </a:ln>
        </p:spPr>
        <p:txBody>
          <a:bodyPr wrap="square" lIns="0" tIns="0" rIns="0" bIns="0" anchor="t">
            <a:noAutofit/>
          </a:bodyPr>
          <a:lstStyle>
            <a:defPPr>
              <a:defRPr sz="5550"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5550"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5550"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5550"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5550"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5550"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5550"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5550"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5550"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5550"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5550" b="0">
                <a:solidFill>
                  <a:srgbClr val="AEC9BC"/>
                </a:solidFill>
                <a:latin typeface="微软雅黑" panose="020B0503020204020204" charset="-122"/>
                <a:ea typeface="微软雅黑" panose="020B0503020204020204" charset="-122"/>
                <a:cs typeface="微软雅黑" panose="020B0503020204020204" charset="-122"/>
              </a:defRPr>
            </a:pPr>
            <a:r>
              <a:rPr sz="5550" b="0">
                <a:solidFill>
                  <a:srgbClr val="AEC9BC"/>
                </a:solidFill>
                <a:latin typeface="微软雅黑" panose="020B0503020204020204" charset="-122"/>
                <a:ea typeface="微软雅黑" panose="020B0503020204020204" charset="-122"/>
                <a:cs typeface="微软雅黑" panose="020B0503020204020204" charset="-122"/>
              </a:rPr>
              <a:t>01</a:t>
            </a:r>
            <a:endParaRPr sz="5550" b="0">
              <a:solidFill>
                <a:srgbClr val="AEC9BC"/>
              </a:solidFill>
              <a:latin typeface="微软雅黑" panose="020B0503020204020204" charset="-122"/>
              <a:ea typeface="微软雅黑" panose="020B0503020204020204" charset="-122"/>
              <a:cs typeface="微软雅黑" panose="020B0503020204020204" charset="-122"/>
            </a:endParaRPr>
          </a:p>
        </p:txBody>
      </p:sp>
      <p:sp>
        <p:nvSpPr>
          <p:cNvPr id="4" name="Capture / input"/>
          <p:cNvSpPr>
            <a:spLocks noGrp="1"/>
          </p:cNvSpPr>
          <p:nvPr/>
        </p:nvSpPr>
        <p:spPr>
          <a:xfrm>
            <a:off x="609600" y="2933700"/>
            <a:ext cx="2362200" cy="571500"/>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Capture / input</a:t>
            </a:r>
            <a:endParaRPr sz="2175" b="1">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5" name="Meeting audio or text&#10;Browser speech service"/>
          <p:cNvSpPr>
            <a:spLocks noGrp="1"/>
          </p:cNvSpPr>
          <p:nvPr/>
        </p:nvSpPr>
        <p:spPr>
          <a:xfrm>
            <a:off x="609600" y="3743325"/>
            <a:ext cx="2381250" cy="1095375"/>
          </a:xfrm>
          <a:prstGeom prst="rect">
            <a:avLst/>
          </a:prstGeom>
          <a:noFill/>
          <a:ln w="0">
            <a:noFill/>
          </a:ln>
        </p:spPr>
        <p:txBody>
          <a:bodyPr wrap="square" lIns="0" tIns="0" rIns="0" bIns="0" anchor="t">
            <a:noAutofit/>
          </a:bodyPr>
          <a:lstStyle>
            <a:defPPr>
              <a:defRPr sz="18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8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8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8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8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8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8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8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8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8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Meeting audio or text</a:t>
            </a:r>
            <a:endParaRPr sz="1875" b="0">
              <a:solidFill>
                <a:srgbClr val="F5F3EC"/>
              </a:solidFill>
              <a:latin typeface="微软雅黑" panose="020B0503020204020204" charset="-122"/>
              <a:ea typeface="微软雅黑" panose="020B0503020204020204" charset="-122"/>
              <a:cs typeface="微软雅黑" panose="020B0503020204020204" charset="-122"/>
            </a:endParaRPr>
          </a:p>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Browser speech service</a:t>
            </a:r>
            <a:endParaRPr sz="1875" b="0">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6" name="02"/>
          <p:cNvSpPr>
            <a:spLocks noGrp="1"/>
          </p:cNvSpPr>
          <p:nvPr/>
        </p:nvSpPr>
        <p:spPr>
          <a:xfrm>
            <a:off x="3429000" y="1809750"/>
            <a:ext cx="2362200" cy="904875"/>
          </a:xfrm>
          <a:prstGeom prst="rect">
            <a:avLst/>
          </a:prstGeom>
          <a:noFill/>
          <a:ln w="0">
            <a:noFill/>
          </a:ln>
        </p:spPr>
        <p:txBody>
          <a:bodyPr wrap="square" lIns="0" tIns="0" rIns="0" bIns="0" anchor="t">
            <a:noAutofit/>
          </a:bodyPr>
          <a:lstStyle>
            <a:defPPr>
              <a:defRPr sz="5550"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5550"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5550"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5550"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5550"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5550"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5550"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5550"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5550"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5550"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5550" b="0">
                <a:solidFill>
                  <a:srgbClr val="AEC9BC"/>
                </a:solidFill>
                <a:latin typeface="微软雅黑" panose="020B0503020204020204" charset="-122"/>
                <a:ea typeface="微软雅黑" panose="020B0503020204020204" charset="-122"/>
                <a:cs typeface="微软雅黑" panose="020B0503020204020204" charset="-122"/>
              </a:defRPr>
            </a:pPr>
            <a:r>
              <a:rPr sz="5550" b="0">
                <a:solidFill>
                  <a:srgbClr val="AEC9BC"/>
                </a:solidFill>
                <a:latin typeface="微软雅黑" panose="020B0503020204020204" charset="-122"/>
                <a:ea typeface="微软雅黑" panose="020B0503020204020204" charset="-122"/>
                <a:cs typeface="微软雅黑" panose="020B0503020204020204" charset="-122"/>
              </a:rPr>
              <a:t>02</a:t>
            </a:r>
            <a:endParaRPr sz="5550" b="0">
              <a:solidFill>
                <a:srgbClr val="AEC9BC"/>
              </a:solidFill>
              <a:latin typeface="微软雅黑" panose="020B0503020204020204" charset="-122"/>
              <a:ea typeface="微软雅黑" panose="020B0503020204020204" charset="-122"/>
              <a:cs typeface="微软雅黑" panose="020B0503020204020204" charset="-122"/>
            </a:endParaRPr>
          </a:p>
        </p:txBody>
      </p:sp>
      <p:sp>
        <p:nvSpPr>
          <p:cNvPr id="7" name="Interpret"/>
          <p:cNvSpPr>
            <a:spLocks noGrp="1"/>
          </p:cNvSpPr>
          <p:nvPr/>
        </p:nvSpPr>
        <p:spPr>
          <a:xfrm>
            <a:off x="3429000" y="2933700"/>
            <a:ext cx="2362200" cy="571500"/>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Interpret</a:t>
            </a:r>
            <a:endParaRPr sz="2175" b="1">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8" name="Role and constraints&#10;Recent transcript"/>
          <p:cNvSpPr>
            <a:spLocks noGrp="1"/>
          </p:cNvSpPr>
          <p:nvPr/>
        </p:nvSpPr>
        <p:spPr>
          <a:xfrm>
            <a:off x="3429000" y="3743325"/>
            <a:ext cx="2381250" cy="1095375"/>
          </a:xfrm>
          <a:prstGeom prst="rect">
            <a:avLst/>
          </a:prstGeom>
          <a:noFill/>
          <a:ln w="0">
            <a:noFill/>
          </a:ln>
        </p:spPr>
        <p:txBody>
          <a:bodyPr wrap="square" lIns="0" tIns="0" rIns="0" bIns="0" anchor="t">
            <a:noAutofit/>
          </a:bodyPr>
          <a:lstStyle>
            <a:defPPr>
              <a:defRPr sz="18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8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8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8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8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8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8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8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8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8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Role and constraints</a:t>
            </a:r>
            <a:endParaRPr sz="1875" b="0">
              <a:solidFill>
                <a:srgbClr val="F5F3EC"/>
              </a:solidFill>
              <a:latin typeface="微软雅黑" panose="020B0503020204020204" charset="-122"/>
              <a:ea typeface="微软雅黑" panose="020B0503020204020204" charset="-122"/>
              <a:cs typeface="微软雅黑" panose="020B0503020204020204" charset="-122"/>
            </a:endParaRPr>
          </a:p>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Recent transcript</a:t>
            </a:r>
            <a:endParaRPr sz="1875" b="0">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9" name="03"/>
          <p:cNvSpPr>
            <a:spLocks noGrp="1"/>
          </p:cNvSpPr>
          <p:nvPr/>
        </p:nvSpPr>
        <p:spPr>
          <a:xfrm>
            <a:off x="6248400" y="1809750"/>
            <a:ext cx="2362200" cy="904875"/>
          </a:xfrm>
          <a:prstGeom prst="rect">
            <a:avLst/>
          </a:prstGeom>
          <a:noFill/>
          <a:ln w="0">
            <a:noFill/>
          </a:ln>
        </p:spPr>
        <p:txBody>
          <a:bodyPr wrap="square" lIns="0" tIns="0" rIns="0" bIns="0" anchor="t">
            <a:noAutofit/>
          </a:bodyPr>
          <a:lstStyle>
            <a:defPPr>
              <a:defRPr sz="5550"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5550"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5550"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5550"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5550"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5550"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5550"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5550"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5550"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5550"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5550" b="0">
                <a:solidFill>
                  <a:srgbClr val="AEC9BC"/>
                </a:solidFill>
                <a:latin typeface="微软雅黑" panose="020B0503020204020204" charset="-122"/>
                <a:ea typeface="微软雅黑" panose="020B0503020204020204" charset="-122"/>
                <a:cs typeface="微软雅黑" panose="020B0503020204020204" charset="-122"/>
              </a:defRPr>
            </a:pPr>
            <a:r>
              <a:rPr sz="5550" b="0">
                <a:solidFill>
                  <a:srgbClr val="AEC9BC"/>
                </a:solidFill>
                <a:latin typeface="微软雅黑" panose="020B0503020204020204" charset="-122"/>
                <a:ea typeface="微软雅黑" panose="020B0503020204020204" charset="-122"/>
                <a:cs typeface="微软雅黑" panose="020B0503020204020204" charset="-122"/>
              </a:rPr>
              <a:t>03</a:t>
            </a:r>
            <a:endParaRPr sz="5550" b="0">
              <a:solidFill>
                <a:srgbClr val="AEC9BC"/>
              </a:solidFill>
              <a:latin typeface="微软雅黑" panose="020B0503020204020204" charset="-122"/>
              <a:ea typeface="微软雅黑" panose="020B0503020204020204" charset="-122"/>
              <a:cs typeface="微软雅黑" panose="020B0503020204020204" charset="-122"/>
            </a:endParaRPr>
          </a:p>
        </p:txBody>
      </p:sp>
      <p:sp>
        <p:nvSpPr>
          <p:cNvPr id="10" name="DeepSeek"/>
          <p:cNvSpPr>
            <a:spLocks noGrp="1"/>
          </p:cNvSpPr>
          <p:nvPr/>
        </p:nvSpPr>
        <p:spPr>
          <a:xfrm>
            <a:off x="6248400" y="2933700"/>
            <a:ext cx="2362200" cy="571500"/>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DeepSeek</a:t>
            </a:r>
            <a:endParaRPr sz="2175" b="1">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11" name="Priority and rationale&#10;Source IDs and draft"/>
          <p:cNvSpPr>
            <a:spLocks noGrp="1"/>
          </p:cNvSpPr>
          <p:nvPr/>
        </p:nvSpPr>
        <p:spPr>
          <a:xfrm>
            <a:off x="6248400" y="3743325"/>
            <a:ext cx="2381250" cy="1095375"/>
          </a:xfrm>
          <a:prstGeom prst="rect">
            <a:avLst/>
          </a:prstGeom>
          <a:noFill/>
          <a:ln w="0">
            <a:noFill/>
          </a:ln>
        </p:spPr>
        <p:txBody>
          <a:bodyPr wrap="square" lIns="0" tIns="0" rIns="0" bIns="0" anchor="t">
            <a:noAutofit/>
          </a:bodyPr>
          <a:lstStyle>
            <a:defPPr>
              <a:defRPr sz="18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8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8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8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8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8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8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8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8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8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Priority and rationale</a:t>
            </a:r>
            <a:endParaRPr sz="1875" b="0">
              <a:solidFill>
                <a:srgbClr val="F5F3EC"/>
              </a:solidFill>
              <a:latin typeface="微软雅黑" panose="020B0503020204020204" charset="-122"/>
              <a:ea typeface="微软雅黑" panose="020B0503020204020204" charset="-122"/>
              <a:cs typeface="微软雅黑" panose="020B0503020204020204" charset="-122"/>
            </a:endParaRPr>
          </a:p>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Source IDs and draft</a:t>
            </a:r>
            <a:endParaRPr sz="1875" b="0">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12" name="04"/>
          <p:cNvSpPr>
            <a:spLocks noGrp="1"/>
          </p:cNvSpPr>
          <p:nvPr/>
        </p:nvSpPr>
        <p:spPr>
          <a:xfrm>
            <a:off x="9067800" y="1809750"/>
            <a:ext cx="2362200" cy="904875"/>
          </a:xfrm>
          <a:prstGeom prst="rect">
            <a:avLst/>
          </a:prstGeom>
          <a:noFill/>
          <a:ln w="0">
            <a:noFill/>
          </a:ln>
        </p:spPr>
        <p:txBody>
          <a:bodyPr wrap="square" lIns="0" tIns="0" rIns="0" bIns="0" anchor="t">
            <a:noAutofit/>
          </a:bodyPr>
          <a:lstStyle>
            <a:defPPr>
              <a:defRPr sz="5550"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5550"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5550"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5550"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5550"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5550"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5550"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5550"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5550"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5550"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5550" b="0">
                <a:solidFill>
                  <a:srgbClr val="AEC9BC"/>
                </a:solidFill>
                <a:latin typeface="微软雅黑" panose="020B0503020204020204" charset="-122"/>
                <a:ea typeface="微软雅黑" panose="020B0503020204020204" charset="-122"/>
                <a:cs typeface="微软雅黑" panose="020B0503020204020204" charset="-122"/>
              </a:defRPr>
            </a:pPr>
            <a:r>
              <a:rPr sz="5550" b="0">
                <a:solidFill>
                  <a:srgbClr val="AEC9BC"/>
                </a:solidFill>
                <a:latin typeface="微软雅黑" panose="020B0503020204020204" charset="-122"/>
                <a:ea typeface="微软雅黑" panose="020B0503020204020204" charset="-122"/>
                <a:cs typeface="微软雅黑" panose="020B0503020204020204" charset="-122"/>
              </a:rPr>
              <a:t>04</a:t>
            </a:r>
            <a:endParaRPr sz="5550" b="0">
              <a:solidFill>
                <a:srgbClr val="AEC9BC"/>
              </a:solidFill>
              <a:latin typeface="微软雅黑" panose="020B0503020204020204" charset="-122"/>
              <a:ea typeface="微软雅黑" panose="020B0503020204020204" charset="-122"/>
              <a:cs typeface="微软雅黑" panose="020B0503020204020204" charset="-122"/>
            </a:endParaRPr>
          </a:p>
        </p:txBody>
      </p:sp>
      <p:sp>
        <p:nvSpPr>
          <p:cNvPr id="13" name="Participant"/>
          <p:cNvSpPr>
            <a:spLocks noGrp="1"/>
          </p:cNvSpPr>
          <p:nvPr/>
        </p:nvSpPr>
        <p:spPr>
          <a:xfrm>
            <a:off x="9067800" y="2933700"/>
            <a:ext cx="2362200" cy="571500"/>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Participant</a:t>
            </a:r>
            <a:endParaRPr sz="2175" b="1">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14" name="Review and edit&#10;Copy, then send in chat"/>
          <p:cNvSpPr>
            <a:spLocks noGrp="1"/>
          </p:cNvSpPr>
          <p:nvPr/>
        </p:nvSpPr>
        <p:spPr>
          <a:xfrm>
            <a:off x="9067800" y="3743325"/>
            <a:ext cx="2381250" cy="1095375"/>
          </a:xfrm>
          <a:prstGeom prst="rect">
            <a:avLst/>
          </a:prstGeom>
          <a:noFill/>
          <a:ln w="0">
            <a:noFill/>
          </a:ln>
        </p:spPr>
        <p:txBody>
          <a:bodyPr wrap="square" lIns="0" tIns="0" rIns="0" bIns="0" anchor="t">
            <a:noAutofit/>
          </a:bodyPr>
          <a:lstStyle>
            <a:defPPr>
              <a:defRPr sz="1875" b="0">
                <a:solidFill>
                  <a:srgbClr val="F5F3EC"/>
                </a:solidFill>
                <a:latin typeface="微软雅黑" panose="020B0503020204020204" charset="-122"/>
                <a:ea typeface="微软雅黑" panose="020B0503020204020204" charset="-122"/>
                <a:cs typeface="微软雅黑" panose="020B0503020204020204" charset="-122"/>
              </a:defRPr>
            </a:defPPr>
            <a:lvl1pPr>
              <a:buNone/>
              <a:defRPr sz="1875" b="0">
                <a:solidFill>
                  <a:srgbClr val="F5F3EC"/>
                </a:solidFill>
                <a:latin typeface="微软雅黑" panose="020B0503020204020204" charset="-122"/>
                <a:ea typeface="微软雅黑" panose="020B0503020204020204" charset="-122"/>
                <a:cs typeface="微软雅黑" panose="020B0503020204020204" charset="-122"/>
              </a:defRPr>
            </a:lvl1pPr>
            <a:lvl2pPr>
              <a:buNone/>
              <a:defRPr sz="1875" b="0">
                <a:solidFill>
                  <a:srgbClr val="F5F3EC"/>
                </a:solidFill>
                <a:latin typeface="微软雅黑" panose="020B0503020204020204" charset="-122"/>
                <a:ea typeface="微软雅黑" panose="020B0503020204020204" charset="-122"/>
                <a:cs typeface="微软雅黑" panose="020B0503020204020204" charset="-122"/>
              </a:defRPr>
            </a:lvl2pPr>
            <a:lvl3pPr>
              <a:buNone/>
              <a:defRPr sz="1875" b="0">
                <a:solidFill>
                  <a:srgbClr val="F5F3EC"/>
                </a:solidFill>
                <a:latin typeface="微软雅黑" panose="020B0503020204020204" charset="-122"/>
                <a:ea typeface="微软雅黑" panose="020B0503020204020204" charset="-122"/>
                <a:cs typeface="微软雅黑" panose="020B0503020204020204" charset="-122"/>
              </a:defRPr>
            </a:lvl3pPr>
            <a:lvl4pPr>
              <a:buNone/>
              <a:defRPr sz="1875" b="0">
                <a:solidFill>
                  <a:srgbClr val="F5F3EC"/>
                </a:solidFill>
                <a:latin typeface="微软雅黑" panose="020B0503020204020204" charset="-122"/>
                <a:ea typeface="微软雅黑" panose="020B0503020204020204" charset="-122"/>
                <a:cs typeface="微软雅黑" panose="020B0503020204020204" charset="-122"/>
              </a:defRPr>
            </a:lvl4pPr>
            <a:lvl5pPr>
              <a:buNone/>
              <a:defRPr sz="1875" b="0">
                <a:solidFill>
                  <a:srgbClr val="F5F3EC"/>
                </a:solidFill>
                <a:latin typeface="微软雅黑" panose="020B0503020204020204" charset="-122"/>
                <a:ea typeface="微软雅黑" panose="020B0503020204020204" charset="-122"/>
                <a:cs typeface="微软雅黑" panose="020B0503020204020204" charset="-122"/>
              </a:defRPr>
            </a:lvl5pPr>
            <a:lvl6pPr>
              <a:buNone/>
              <a:defRPr sz="1875" b="0">
                <a:solidFill>
                  <a:srgbClr val="F5F3EC"/>
                </a:solidFill>
                <a:latin typeface="微软雅黑" panose="020B0503020204020204" charset="-122"/>
                <a:ea typeface="微软雅黑" panose="020B0503020204020204" charset="-122"/>
                <a:cs typeface="微软雅黑" panose="020B0503020204020204" charset="-122"/>
              </a:defRPr>
            </a:lvl6pPr>
            <a:lvl7pPr>
              <a:buNone/>
              <a:defRPr sz="1875" b="0">
                <a:solidFill>
                  <a:srgbClr val="F5F3EC"/>
                </a:solidFill>
                <a:latin typeface="微软雅黑" panose="020B0503020204020204" charset="-122"/>
                <a:ea typeface="微软雅黑" panose="020B0503020204020204" charset="-122"/>
                <a:cs typeface="微软雅黑" panose="020B0503020204020204" charset="-122"/>
              </a:defRPr>
            </a:lvl7pPr>
            <a:lvl8pPr>
              <a:buNone/>
              <a:defRPr sz="1875" b="0">
                <a:solidFill>
                  <a:srgbClr val="F5F3EC"/>
                </a:solidFill>
                <a:latin typeface="微软雅黑" panose="020B0503020204020204" charset="-122"/>
                <a:ea typeface="微软雅黑" panose="020B0503020204020204" charset="-122"/>
                <a:cs typeface="微软雅黑" panose="020B0503020204020204" charset="-122"/>
              </a:defRPr>
            </a:lvl8pPr>
            <a:lvl9pPr>
              <a:buNone/>
              <a:defRPr sz="1875" b="0">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Review and edit</a:t>
            </a:r>
            <a:endParaRPr sz="1875" b="0">
              <a:solidFill>
                <a:srgbClr val="F5F3EC"/>
              </a:solidFill>
              <a:latin typeface="微软雅黑" panose="020B0503020204020204" charset="-122"/>
              <a:ea typeface="微软雅黑" panose="020B0503020204020204" charset="-122"/>
              <a:cs typeface="微软雅黑" panose="020B0503020204020204" charset="-122"/>
            </a:endParaRPr>
          </a:p>
          <a:p>
            <a:pPr>
              <a:lnSpc>
                <a:spcPct val="112000"/>
              </a:lnSpc>
              <a:buNone/>
              <a:defRPr sz="1875" b="0">
                <a:solidFill>
                  <a:srgbClr val="F5F3EC"/>
                </a:solidFill>
                <a:latin typeface="微软雅黑" panose="020B0503020204020204" charset="-122"/>
                <a:ea typeface="微软雅黑" panose="020B0503020204020204" charset="-122"/>
                <a:cs typeface="微软雅黑" panose="020B0503020204020204" charset="-122"/>
              </a:defRPr>
            </a:pPr>
            <a:r>
              <a:rPr sz="1875" b="0">
                <a:solidFill>
                  <a:srgbClr val="F5F3EC"/>
                </a:solidFill>
                <a:latin typeface="微软雅黑" panose="020B0503020204020204" charset="-122"/>
                <a:ea typeface="微软雅黑" panose="020B0503020204020204" charset="-122"/>
                <a:cs typeface="微软雅黑" panose="020B0503020204020204" charset="-122"/>
              </a:rPr>
              <a:t>Copy, then send in chat</a:t>
            </a:r>
            <a:endParaRPr sz="1875" b="0">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15" name="Automatic analysis follows a short pause in new text."/>
          <p:cNvSpPr>
            <a:spLocks noGrp="1"/>
          </p:cNvSpPr>
          <p:nvPr/>
        </p:nvSpPr>
        <p:spPr>
          <a:xfrm>
            <a:off x="609600" y="5286375"/>
            <a:ext cx="10972800" cy="485775"/>
          </a:xfrm>
          <a:prstGeom prst="rect">
            <a:avLst/>
          </a:prstGeom>
          <a:noFill/>
          <a:ln w="0">
            <a:noFill/>
          </a:ln>
        </p:spPr>
        <p:txBody>
          <a:bodyPr wrap="square" lIns="0" tIns="0" rIns="0" bIns="0" anchor="t">
            <a:noAutofit/>
          </a:bodyPr>
          <a:lstStyle>
            <a:defPPr>
              <a:defRPr sz="2175" b="1">
                <a:solidFill>
                  <a:srgbClr val="F5F3EC"/>
                </a:solidFill>
                <a:latin typeface="微软雅黑" panose="020B0503020204020204" charset="-122"/>
                <a:ea typeface="微软雅黑" panose="020B0503020204020204" charset="-122"/>
                <a:cs typeface="微软雅黑" panose="020B0503020204020204" charset="-122"/>
              </a:defRPr>
            </a:defPPr>
            <a:lvl1pPr>
              <a:buNone/>
              <a:defRPr sz="2175" b="1">
                <a:solidFill>
                  <a:srgbClr val="F5F3EC"/>
                </a:solidFill>
                <a:latin typeface="微软雅黑" panose="020B0503020204020204" charset="-122"/>
                <a:ea typeface="微软雅黑" panose="020B0503020204020204" charset="-122"/>
                <a:cs typeface="微软雅黑" panose="020B0503020204020204" charset="-122"/>
              </a:defRPr>
            </a:lvl1pPr>
            <a:lvl2pPr>
              <a:buNone/>
              <a:defRPr sz="2175" b="1">
                <a:solidFill>
                  <a:srgbClr val="F5F3EC"/>
                </a:solidFill>
                <a:latin typeface="微软雅黑" panose="020B0503020204020204" charset="-122"/>
                <a:ea typeface="微软雅黑" panose="020B0503020204020204" charset="-122"/>
                <a:cs typeface="微软雅黑" panose="020B0503020204020204" charset="-122"/>
              </a:defRPr>
            </a:lvl2pPr>
            <a:lvl3pPr>
              <a:buNone/>
              <a:defRPr sz="2175" b="1">
                <a:solidFill>
                  <a:srgbClr val="F5F3EC"/>
                </a:solidFill>
                <a:latin typeface="微软雅黑" panose="020B0503020204020204" charset="-122"/>
                <a:ea typeface="微软雅黑" panose="020B0503020204020204" charset="-122"/>
                <a:cs typeface="微软雅黑" panose="020B0503020204020204" charset="-122"/>
              </a:defRPr>
            </a:lvl3pPr>
            <a:lvl4pPr>
              <a:buNone/>
              <a:defRPr sz="2175" b="1">
                <a:solidFill>
                  <a:srgbClr val="F5F3EC"/>
                </a:solidFill>
                <a:latin typeface="微软雅黑" panose="020B0503020204020204" charset="-122"/>
                <a:ea typeface="微软雅黑" panose="020B0503020204020204" charset="-122"/>
                <a:cs typeface="微软雅黑" panose="020B0503020204020204" charset="-122"/>
              </a:defRPr>
            </a:lvl4pPr>
            <a:lvl5pPr>
              <a:buNone/>
              <a:defRPr sz="2175" b="1">
                <a:solidFill>
                  <a:srgbClr val="F5F3EC"/>
                </a:solidFill>
                <a:latin typeface="微软雅黑" panose="020B0503020204020204" charset="-122"/>
                <a:ea typeface="微软雅黑" panose="020B0503020204020204" charset="-122"/>
                <a:cs typeface="微软雅黑" panose="020B0503020204020204" charset="-122"/>
              </a:defRPr>
            </a:lvl5pPr>
            <a:lvl6pPr>
              <a:buNone/>
              <a:defRPr sz="2175" b="1">
                <a:solidFill>
                  <a:srgbClr val="F5F3EC"/>
                </a:solidFill>
                <a:latin typeface="微软雅黑" panose="020B0503020204020204" charset="-122"/>
                <a:ea typeface="微软雅黑" panose="020B0503020204020204" charset="-122"/>
                <a:cs typeface="微软雅黑" panose="020B0503020204020204" charset="-122"/>
              </a:defRPr>
            </a:lvl6pPr>
            <a:lvl7pPr>
              <a:buNone/>
              <a:defRPr sz="2175" b="1">
                <a:solidFill>
                  <a:srgbClr val="F5F3EC"/>
                </a:solidFill>
                <a:latin typeface="微软雅黑" panose="020B0503020204020204" charset="-122"/>
                <a:ea typeface="微软雅黑" panose="020B0503020204020204" charset="-122"/>
                <a:cs typeface="微软雅黑" panose="020B0503020204020204" charset="-122"/>
              </a:defRPr>
            </a:lvl7pPr>
            <a:lvl8pPr>
              <a:buNone/>
              <a:defRPr sz="2175" b="1">
                <a:solidFill>
                  <a:srgbClr val="F5F3EC"/>
                </a:solidFill>
                <a:latin typeface="微软雅黑" panose="020B0503020204020204" charset="-122"/>
                <a:ea typeface="微软雅黑" panose="020B0503020204020204" charset="-122"/>
                <a:cs typeface="微软雅黑" panose="020B0503020204020204" charset="-122"/>
              </a:defRPr>
            </a:lvl8pPr>
            <a:lvl9pPr>
              <a:buNone/>
              <a:defRPr sz="2175" b="1">
                <a:solidFill>
                  <a:srgbClr val="F5F3E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F5F3EC"/>
                </a:solidFill>
                <a:latin typeface="微软雅黑" panose="020B0503020204020204" charset="-122"/>
                <a:ea typeface="微软雅黑" panose="020B0503020204020204" charset="-122"/>
                <a:cs typeface="微软雅黑" panose="020B0503020204020204" charset="-122"/>
              </a:defRPr>
            </a:pPr>
            <a:r>
              <a:rPr sz="2175" b="1">
                <a:solidFill>
                  <a:srgbClr val="F5F3EC"/>
                </a:solidFill>
                <a:latin typeface="微软雅黑" panose="020B0503020204020204" charset="-122"/>
                <a:ea typeface="微软雅黑" panose="020B0503020204020204" charset="-122"/>
                <a:cs typeface="微软雅黑" panose="020B0503020204020204" charset="-122"/>
              </a:rPr>
              <a:t>New text triggers analysis. People check and confirm replies.</a:t>
            </a:r>
            <a:endParaRPr sz="2175" b="1">
              <a:solidFill>
                <a:srgbClr val="F5F3EC"/>
              </a:solidFill>
              <a:latin typeface="微软雅黑" panose="020B0503020204020204" charset="-122"/>
              <a:ea typeface="微软雅黑" panose="020B0503020204020204" charset="-122"/>
              <a:cs typeface="微软雅黑" panose="020B0503020204020204" charset="-122"/>
            </a:endParaRPr>
          </a:p>
        </p:txBody>
      </p:sp>
      <p:sp>
        <p:nvSpPr>
          <p:cNvPr id="16" name="Local Node companion beside Tencent Meeting. Meeting te"/>
          <p:cNvSpPr>
            <a:spLocks noGrp="1"/>
          </p:cNvSpPr>
          <p:nvPr/>
        </p:nvSpPr>
        <p:spPr>
          <a:xfrm>
            <a:off x="609600" y="6115050"/>
            <a:ext cx="9525000" cy="523875"/>
          </a:xfrm>
          <a:prstGeom prst="rect">
            <a:avLst/>
          </a:prstGeom>
          <a:noFill/>
          <a:ln w="0">
            <a:noFill/>
          </a:ln>
        </p:spPr>
        <p:txBody>
          <a:bodyPr wrap="square" lIns="0" tIns="0" rIns="0" bIns="0" anchor="t">
            <a:noAutofit/>
          </a:bodyPr>
          <a:lstStyle>
            <a:defPPr>
              <a:defRPr sz="1275" b="0">
                <a:solidFill>
                  <a:srgbClr val="AEC9BC"/>
                </a:solidFill>
                <a:latin typeface="微软雅黑" panose="020B0503020204020204" charset="-122"/>
                <a:ea typeface="微软雅黑" panose="020B0503020204020204" charset="-122"/>
                <a:cs typeface="微软雅黑" panose="020B0503020204020204" charset="-122"/>
              </a:defRPr>
            </a:defPPr>
            <a:lvl1pPr>
              <a:buNone/>
              <a:defRPr sz="1275" b="0">
                <a:solidFill>
                  <a:srgbClr val="AEC9BC"/>
                </a:solidFill>
                <a:latin typeface="微软雅黑" panose="020B0503020204020204" charset="-122"/>
                <a:ea typeface="微软雅黑" panose="020B0503020204020204" charset="-122"/>
                <a:cs typeface="微软雅黑" panose="020B0503020204020204" charset="-122"/>
              </a:defRPr>
            </a:lvl1pPr>
            <a:lvl2pPr>
              <a:buNone/>
              <a:defRPr sz="1275" b="0">
                <a:solidFill>
                  <a:srgbClr val="AEC9BC"/>
                </a:solidFill>
                <a:latin typeface="微软雅黑" panose="020B0503020204020204" charset="-122"/>
                <a:ea typeface="微软雅黑" panose="020B0503020204020204" charset="-122"/>
                <a:cs typeface="微软雅黑" panose="020B0503020204020204" charset="-122"/>
              </a:defRPr>
            </a:lvl2pPr>
            <a:lvl3pPr>
              <a:buNone/>
              <a:defRPr sz="1275" b="0">
                <a:solidFill>
                  <a:srgbClr val="AEC9BC"/>
                </a:solidFill>
                <a:latin typeface="微软雅黑" panose="020B0503020204020204" charset="-122"/>
                <a:ea typeface="微软雅黑" panose="020B0503020204020204" charset="-122"/>
                <a:cs typeface="微软雅黑" panose="020B0503020204020204" charset="-122"/>
              </a:defRPr>
            </a:lvl3pPr>
            <a:lvl4pPr>
              <a:buNone/>
              <a:defRPr sz="1275" b="0">
                <a:solidFill>
                  <a:srgbClr val="AEC9BC"/>
                </a:solidFill>
                <a:latin typeface="微软雅黑" panose="020B0503020204020204" charset="-122"/>
                <a:ea typeface="微软雅黑" panose="020B0503020204020204" charset="-122"/>
                <a:cs typeface="微软雅黑" panose="020B0503020204020204" charset="-122"/>
              </a:defRPr>
            </a:lvl4pPr>
            <a:lvl5pPr>
              <a:buNone/>
              <a:defRPr sz="1275" b="0">
                <a:solidFill>
                  <a:srgbClr val="AEC9BC"/>
                </a:solidFill>
                <a:latin typeface="微软雅黑" panose="020B0503020204020204" charset="-122"/>
                <a:ea typeface="微软雅黑" panose="020B0503020204020204" charset="-122"/>
                <a:cs typeface="微软雅黑" panose="020B0503020204020204" charset="-122"/>
              </a:defRPr>
            </a:lvl5pPr>
            <a:lvl6pPr>
              <a:buNone/>
              <a:defRPr sz="1275" b="0">
                <a:solidFill>
                  <a:srgbClr val="AEC9BC"/>
                </a:solidFill>
                <a:latin typeface="微软雅黑" panose="020B0503020204020204" charset="-122"/>
                <a:ea typeface="微软雅黑" panose="020B0503020204020204" charset="-122"/>
                <a:cs typeface="微软雅黑" panose="020B0503020204020204" charset="-122"/>
              </a:defRPr>
            </a:lvl6pPr>
            <a:lvl7pPr>
              <a:buNone/>
              <a:defRPr sz="1275" b="0">
                <a:solidFill>
                  <a:srgbClr val="AEC9BC"/>
                </a:solidFill>
                <a:latin typeface="微软雅黑" panose="020B0503020204020204" charset="-122"/>
                <a:ea typeface="微软雅黑" panose="020B0503020204020204" charset="-122"/>
                <a:cs typeface="微软雅黑" panose="020B0503020204020204" charset="-122"/>
              </a:defRPr>
            </a:lvl7pPr>
            <a:lvl8pPr>
              <a:buNone/>
              <a:defRPr sz="1275" b="0">
                <a:solidFill>
                  <a:srgbClr val="AEC9BC"/>
                </a:solidFill>
                <a:latin typeface="微软雅黑" panose="020B0503020204020204" charset="-122"/>
                <a:ea typeface="微软雅黑" panose="020B0503020204020204" charset="-122"/>
                <a:cs typeface="微软雅黑" panose="020B0503020204020204" charset="-122"/>
              </a:defRPr>
            </a:lvl8pPr>
            <a:lvl9pPr>
              <a:buNone/>
              <a:defRPr sz="1275" b="0">
                <a:solidFill>
                  <a:srgbClr val="AEC9BC"/>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AEC9BC"/>
                </a:solidFill>
                <a:latin typeface="微软雅黑" panose="020B0503020204020204" charset="-122"/>
                <a:ea typeface="微软雅黑" panose="020B0503020204020204" charset="-122"/>
                <a:cs typeface="微软雅黑" panose="020B0503020204020204" charset="-122"/>
              </a:defRPr>
            </a:pPr>
            <a:r>
              <a:rPr sz="1275" b="0">
                <a:solidFill>
                  <a:srgbClr val="AEC9BC"/>
                </a:solidFill>
                <a:latin typeface="微软雅黑" panose="020B0503020204020204" charset="-122"/>
                <a:ea typeface="微软雅黑" panose="020B0503020204020204" charset="-122"/>
                <a:cs typeface="微软雅黑" panose="020B0503020204020204" charset="-122"/>
              </a:rPr>
              <a:t>Local Node companion beside Tencent Meeting. Meeting text and the profile go to DeepSeek.</a:t>
            </a:r>
            <a:endParaRPr sz="1275" b="0">
              <a:solidFill>
                <a:srgbClr val="AEC9BC"/>
              </a:solidFill>
              <a:latin typeface="微软雅黑" panose="020B0503020204020204" charset="-122"/>
              <a:ea typeface="微软雅黑" panose="020B0503020204020204" charset="-122"/>
              <a:cs typeface="微软雅黑" panose="020B0503020204020204" charset="-122"/>
            </a:endParaRPr>
          </a:p>
          <a:p>
            <a:pPr>
              <a:lnSpc>
                <a:spcPct val="112000"/>
              </a:lnSpc>
              <a:buNone/>
              <a:defRPr sz="1275" b="0">
                <a:solidFill>
                  <a:srgbClr val="AEC9BC"/>
                </a:solidFill>
                <a:latin typeface="微软雅黑" panose="020B0503020204020204" charset="-122"/>
                <a:ea typeface="微软雅黑" panose="020B0503020204020204" charset="-122"/>
                <a:cs typeface="微软雅黑" panose="020B0503020204020204" charset="-122"/>
              </a:defRPr>
            </a:pPr>
            <a:r>
              <a:rPr sz="1275" b="0">
                <a:solidFill>
                  <a:srgbClr val="AEC9BC"/>
                </a:solidFill>
                <a:latin typeface="微软雅黑" panose="020B0503020204020204" charset="-122"/>
                <a:ea typeface="微软雅黑" panose="020B0503020204020204" charset="-122"/>
                <a:cs typeface="微软雅黑" panose="020B0503020204020204" charset="-122"/>
              </a:rPr>
              <a:t>AI can miss context. Speech recognition and text analysis are separate services.</a:t>
            </a:r>
            <a:endParaRPr sz="1275" b="0">
              <a:solidFill>
                <a:srgbClr val="AEC9B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p:sp>
        <p:nvSpPr>
          <p:cNvPr id="10" name="Demo: the rehearsal decision"/>
          <p:cNvSpPr>
            <a:spLocks noGrp="1"/>
          </p:cNvSpPr>
          <p:nvPr/>
        </p:nvSpPr>
        <p:spPr>
          <a:xfrm>
            <a:off x="609600" y="457200"/>
            <a:ext cx="10972800" cy="6286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Demo: the rehearsal decision</a:t>
            </a:r>
            <a:endParaRPr sz="35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 name="C    05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B/C   05 / 08</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pic>
        <p:nvPicPr>
          <p:cNvPr id="3" name="demo">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1776095" y="1196340"/>
            <a:ext cx="8193405" cy="558927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p:sp>
        <p:nvSpPr>
          <p:cNvPr id="2" name="C    06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C    06 / 08</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3" name="Workflow review: value and limits"/>
          <p:cNvSpPr>
            <a:spLocks noGrp="1"/>
          </p:cNvSpPr>
          <p:nvPr/>
        </p:nvSpPr>
        <p:spPr>
          <a:xfrm>
            <a:off x="609600" y="457200"/>
            <a:ext cx="10972800" cy="742950"/>
          </a:xfrm>
          <a:prstGeom prst="rect">
            <a:avLst/>
          </a:prstGeom>
          <a:noFill/>
          <a:ln w="0">
            <a:noFill/>
          </a:ln>
        </p:spPr>
        <p:txBody>
          <a:bodyPr wrap="square" lIns="0" tIns="0" rIns="0" bIns="0" anchor="t">
            <a:noAutofit/>
          </a:bodyPr>
          <a:lstStyle>
            <a:defPPr>
              <a:defRPr sz="3300" b="1">
                <a:solidFill>
                  <a:srgbClr val="173F39"/>
                </a:solidFill>
                <a:latin typeface="微软雅黑" panose="020B0503020204020204" charset="-122"/>
                <a:ea typeface="微软雅黑" panose="020B0503020204020204" charset="-122"/>
                <a:cs typeface="微软雅黑" panose="020B0503020204020204" charset="-122"/>
              </a:defRPr>
            </a:defPPr>
            <a:lvl1pPr>
              <a:defRPr sz="3300" b="1">
                <a:solidFill>
                  <a:srgbClr val="173F39"/>
                </a:solidFill>
                <a:latin typeface="微软雅黑" panose="020B0503020204020204" charset="-122"/>
                <a:ea typeface="微软雅黑" panose="020B0503020204020204" charset="-122"/>
                <a:cs typeface="微软雅黑" panose="020B0503020204020204" charset="-122"/>
              </a:defRPr>
            </a:lvl1pPr>
            <a:lvl2pPr>
              <a:defRPr sz="3300" b="1">
                <a:solidFill>
                  <a:srgbClr val="173F39"/>
                </a:solidFill>
                <a:latin typeface="微软雅黑" panose="020B0503020204020204" charset="-122"/>
                <a:ea typeface="微软雅黑" panose="020B0503020204020204" charset="-122"/>
                <a:cs typeface="微软雅黑" panose="020B0503020204020204" charset="-122"/>
              </a:defRPr>
            </a:lvl2pPr>
            <a:lvl3pPr>
              <a:defRPr sz="3300" b="1">
                <a:solidFill>
                  <a:srgbClr val="173F39"/>
                </a:solidFill>
                <a:latin typeface="微软雅黑" panose="020B0503020204020204" charset="-122"/>
                <a:ea typeface="微软雅黑" panose="020B0503020204020204" charset="-122"/>
                <a:cs typeface="微软雅黑" panose="020B0503020204020204" charset="-122"/>
              </a:defRPr>
            </a:lvl3pPr>
            <a:lvl4pPr>
              <a:defRPr sz="3300" b="1">
                <a:solidFill>
                  <a:srgbClr val="173F39"/>
                </a:solidFill>
                <a:latin typeface="微软雅黑" panose="020B0503020204020204" charset="-122"/>
                <a:ea typeface="微软雅黑" panose="020B0503020204020204" charset="-122"/>
                <a:cs typeface="微软雅黑" panose="020B0503020204020204" charset="-122"/>
              </a:defRPr>
            </a:lvl4pPr>
            <a:lvl5pPr>
              <a:defRPr sz="3300" b="1">
                <a:solidFill>
                  <a:srgbClr val="173F39"/>
                </a:solidFill>
                <a:latin typeface="微软雅黑" panose="020B0503020204020204" charset="-122"/>
                <a:ea typeface="微软雅黑" panose="020B0503020204020204" charset="-122"/>
                <a:cs typeface="微软雅黑" panose="020B0503020204020204" charset="-122"/>
              </a:defRPr>
            </a:lvl5pPr>
            <a:lvl6pPr>
              <a:defRPr sz="3300" b="1">
                <a:solidFill>
                  <a:srgbClr val="173F39"/>
                </a:solidFill>
                <a:latin typeface="微软雅黑" panose="020B0503020204020204" charset="-122"/>
                <a:ea typeface="微软雅黑" panose="020B0503020204020204" charset="-122"/>
                <a:cs typeface="微软雅黑" panose="020B0503020204020204" charset="-122"/>
              </a:defRPr>
            </a:lvl6pPr>
            <a:lvl7pPr>
              <a:defRPr sz="3300" b="1">
                <a:solidFill>
                  <a:srgbClr val="173F39"/>
                </a:solidFill>
                <a:latin typeface="微软雅黑" panose="020B0503020204020204" charset="-122"/>
                <a:ea typeface="微软雅黑" panose="020B0503020204020204" charset="-122"/>
                <a:cs typeface="微软雅黑" panose="020B0503020204020204" charset="-122"/>
              </a:defRPr>
            </a:lvl7pPr>
            <a:lvl8pPr>
              <a:defRPr sz="3300" b="1">
                <a:solidFill>
                  <a:srgbClr val="173F39"/>
                </a:solidFill>
                <a:latin typeface="微软雅黑" panose="020B0503020204020204" charset="-122"/>
                <a:ea typeface="微软雅黑" panose="020B0503020204020204" charset="-122"/>
                <a:cs typeface="微软雅黑" panose="020B0503020204020204" charset="-122"/>
              </a:defRPr>
            </a:lvl8pPr>
            <a:lvl9pPr>
              <a:defRPr sz="33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300" b="1">
                <a:solidFill>
                  <a:srgbClr val="173F39"/>
                </a:solidFill>
                <a:latin typeface="微软雅黑" panose="020B0503020204020204" charset="-122"/>
                <a:ea typeface="微软雅黑" panose="020B0503020204020204" charset="-122"/>
                <a:cs typeface="微软雅黑" panose="020B0503020204020204" charset="-122"/>
              </a:defRPr>
            </a:pPr>
            <a:r>
              <a:rPr sz="3300" b="1">
                <a:solidFill>
                  <a:srgbClr val="173F39"/>
                </a:solidFill>
                <a:latin typeface="微软雅黑" panose="020B0503020204020204" charset="-122"/>
                <a:ea typeface="微软雅黑" panose="020B0503020204020204" charset="-122"/>
                <a:cs typeface="微软雅黑" panose="020B0503020204020204" charset="-122"/>
              </a:rPr>
              <a:t>Workflow review: value and limits</a:t>
            </a:r>
            <a:endParaRPr sz="330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4" name="32 simulated reviews of one recorded workflow"/>
          <p:cNvSpPr>
            <a:spLocks noGrp="1"/>
          </p:cNvSpPr>
          <p:nvPr/>
        </p:nvSpPr>
        <p:spPr>
          <a:xfrm>
            <a:off x="609600" y="1381125"/>
            <a:ext cx="10972800" cy="409575"/>
          </a:xfrm>
          <a:prstGeom prst="rect">
            <a:avLst/>
          </a:prstGeom>
          <a:noFill/>
          <a:ln w="0">
            <a:noFill/>
          </a:ln>
        </p:spPr>
        <p:txBody>
          <a:bodyPr wrap="square" lIns="0" tIns="0" rIns="0" bIns="0" anchor="t">
            <a:noAutofit/>
          </a:bodyPr>
          <a:lstStyle>
            <a:defPPr>
              <a:defRPr sz="2100" b="0">
                <a:solidFill>
                  <a:srgbClr val="617770"/>
                </a:solidFill>
                <a:latin typeface="微软雅黑" panose="020B0503020204020204" charset="-122"/>
                <a:ea typeface="微软雅黑" panose="020B0503020204020204" charset="-122"/>
                <a:cs typeface="微软雅黑" panose="020B0503020204020204" charset="-122"/>
              </a:defRPr>
            </a:defPPr>
            <a:lvl1pPr>
              <a:defRPr sz="2100" b="0">
                <a:solidFill>
                  <a:srgbClr val="617770"/>
                </a:solidFill>
                <a:latin typeface="微软雅黑" panose="020B0503020204020204" charset="-122"/>
                <a:ea typeface="微软雅黑" panose="020B0503020204020204" charset="-122"/>
                <a:cs typeface="微软雅黑" panose="020B0503020204020204" charset="-122"/>
              </a:defRPr>
            </a:lvl1pPr>
            <a:lvl2pPr>
              <a:defRPr sz="2100" b="0">
                <a:solidFill>
                  <a:srgbClr val="617770"/>
                </a:solidFill>
                <a:latin typeface="微软雅黑" panose="020B0503020204020204" charset="-122"/>
                <a:ea typeface="微软雅黑" panose="020B0503020204020204" charset="-122"/>
                <a:cs typeface="微软雅黑" panose="020B0503020204020204" charset="-122"/>
              </a:defRPr>
            </a:lvl2pPr>
            <a:lvl3pPr>
              <a:defRPr sz="2100" b="0">
                <a:solidFill>
                  <a:srgbClr val="617770"/>
                </a:solidFill>
                <a:latin typeface="微软雅黑" panose="020B0503020204020204" charset="-122"/>
                <a:ea typeface="微软雅黑" panose="020B0503020204020204" charset="-122"/>
                <a:cs typeface="微软雅黑" panose="020B0503020204020204" charset="-122"/>
              </a:defRPr>
            </a:lvl3pPr>
            <a:lvl4pPr>
              <a:defRPr sz="2100" b="0">
                <a:solidFill>
                  <a:srgbClr val="617770"/>
                </a:solidFill>
                <a:latin typeface="微软雅黑" panose="020B0503020204020204" charset="-122"/>
                <a:ea typeface="微软雅黑" panose="020B0503020204020204" charset="-122"/>
                <a:cs typeface="微软雅黑" panose="020B0503020204020204" charset="-122"/>
              </a:defRPr>
            </a:lvl4pPr>
            <a:lvl5pPr>
              <a:defRPr sz="2100" b="0">
                <a:solidFill>
                  <a:srgbClr val="617770"/>
                </a:solidFill>
                <a:latin typeface="微软雅黑" panose="020B0503020204020204" charset="-122"/>
                <a:ea typeface="微软雅黑" panose="020B0503020204020204" charset="-122"/>
                <a:cs typeface="微软雅黑" panose="020B0503020204020204" charset="-122"/>
              </a:defRPr>
            </a:lvl5pPr>
            <a:lvl6pPr>
              <a:defRPr sz="2100" b="0">
                <a:solidFill>
                  <a:srgbClr val="617770"/>
                </a:solidFill>
                <a:latin typeface="微软雅黑" panose="020B0503020204020204" charset="-122"/>
                <a:ea typeface="微软雅黑" panose="020B0503020204020204" charset="-122"/>
                <a:cs typeface="微软雅黑" panose="020B0503020204020204" charset="-122"/>
              </a:defRPr>
            </a:lvl6pPr>
            <a:lvl7pPr>
              <a:defRPr sz="2100" b="0">
                <a:solidFill>
                  <a:srgbClr val="617770"/>
                </a:solidFill>
                <a:latin typeface="微软雅黑" panose="020B0503020204020204" charset="-122"/>
                <a:ea typeface="微软雅黑" panose="020B0503020204020204" charset="-122"/>
                <a:cs typeface="微软雅黑" panose="020B0503020204020204" charset="-122"/>
              </a:defRPr>
            </a:lvl7pPr>
            <a:lvl8pPr>
              <a:defRPr sz="2100" b="0">
                <a:solidFill>
                  <a:srgbClr val="617770"/>
                </a:solidFill>
                <a:latin typeface="微软雅黑" panose="020B0503020204020204" charset="-122"/>
                <a:ea typeface="微软雅黑" panose="020B0503020204020204" charset="-122"/>
                <a:cs typeface="微软雅黑" panose="020B0503020204020204" charset="-122"/>
              </a:defRPr>
            </a:lvl8pPr>
            <a:lvl9pPr>
              <a:defRPr sz="21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00" b="0">
                <a:solidFill>
                  <a:srgbClr val="617770"/>
                </a:solidFill>
                <a:latin typeface="微软雅黑" panose="020B0503020204020204" charset="-122"/>
                <a:ea typeface="微软雅黑" panose="020B0503020204020204" charset="-122"/>
                <a:cs typeface="微软雅黑" panose="020B0503020204020204" charset="-122"/>
              </a:defRPr>
            </a:pPr>
            <a:r>
              <a:rPr sz="2100" b="0">
                <a:solidFill>
                  <a:srgbClr val="617770"/>
                </a:solidFill>
                <a:latin typeface="微软雅黑" panose="020B0503020204020204" charset="-122"/>
                <a:ea typeface="微软雅黑" panose="020B0503020204020204" charset="-122"/>
                <a:cs typeface="微软雅黑" panose="020B0503020204020204" charset="-122"/>
              </a:rPr>
              <a:t>32 simulated reviews of one recorded workflow</a:t>
            </a:r>
            <a:endParaRPr sz="2100"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5" name="Value review card 0"/>
          <p:cNvSpPr>
            <a:spLocks noGrp="1"/>
          </p:cNvSpPr>
          <p:nvPr/>
        </p:nvSpPr>
        <p:spPr>
          <a:xfrm>
            <a:off x="609600" y="2076450"/>
            <a:ext cx="3505200" cy="2724150"/>
          </a:xfrm>
          <a:prstGeom prst="rect">
            <a:avLst/>
          </a:prstGeom>
          <a:solidFill>
            <a:srgbClr val="E7EEE7"/>
          </a:solidFill>
          <a:ln w="0">
            <a:noFill/>
          </a:ln>
        </p:spPr>
      </p:sp>
      <p:sp>
        <p:nvSpPr>
          <p:cNvPr id="6" name="27 / 32"/>
          <p:cNvSpPr>
            <a:spLocks noGrp="1"/>
          </p:cNvSpPr>
          <p:nvPr/>
        </p:nvSpPr>
        <p:spPr>
          <a:xfrm>
            <a:off x="819150" y="2247900"/>
            <a:ext cx="3086100" cy="714375"/>
          </a:xfrm>
          <a:prstGeom prst="rect">
            <a:avLst/>
          </a:prstGeom>
          <a:noFill/>
          <a:ln w="0">
            <a:noFill/>
          </a:ln>
        </p:spPr>
        <p:txBody>
          <a:bodyPr wrap="square" lIns="0" tIns="0" rIns="0" bIns="0" anchor="t">
            <a:noAutofit/>
          </a:bodyPr>
          <a:lstStyle>
            <a:defPPr>
              <a:defRPr sz="3900" b="1">
                <a:solidFill>
                  <a:srgbClr val="173F39"/>
                </a:solidFill>
                <a:latin typeface="微软雅黑" panose="020B0503020204020204" charset="-122"/>
                <a:ea typeface="微软雅黑" panose="020B0503020204020204" charset="-122"/>
                <a:cs typeface="微软雅黑" panose="020B0503020204020204" charset="-122"/>
              </a:defRPr>
            </a:defPPr>
            <a:lvl1pPr>
              <a:defRPr sz="3900" b="1">
                <a:solidFill>
                  <a:srgbClr val="173F39"/>
                </a:solidFill>
                <a:latin typeface="微软雅黑" panose="020B0503020204020204" charset="-122"/>
                <a:ea typeface="微软雅黑" panose="020B0503020204020204" charset="-122"/>
                <a:cs typeface="微软雅黑" panose="020B0503020204020204" charset="-122"/>
              </a:defRPr>
            </a:lvl1pPr>
            <a:lvl2pPr>
              <a:defRPr sz="3900" b="1">
                <a:solidFill>
                  <a:srgbClr val="173F39"/>
                </a:solidFill>
                <a:latin typeface="微软雅黑" panose="020B0503020204020204" charset="-122"/>
                <a:ea typeface="微软雅黑" panose="020B0503020204020204" charset="-122"/>
                <a:cs typeface="微软雅黑" panose="020B0503020204020204" charset="-122"/>
              </a:defRPr>
            </a:lvl2pPr>
            <a:lvl3pPr>
              <a:defRPr sz="3900" b="1">
                <a:solidFill>
                  <a:srgbClr val="173F39"/>
                </a:solidFill>
                <a:latin typeface="微软雅黑" panose="020B0503020204020204" charset="-122"/>
                <a:ea typeface="微软雅黑" panose="020B0503020204020204" charset="-122"/>
                <a:cs typeface="微软雅黑" panose="020B0503020204020204" charset="-122"/>
              </a:defRPr>
            </a:lvl3pPr>
            <a:lvl4pPr>
              <a:defRPr sz="3900" b="1">
                <a:solidFill>
                  <a:srgbClr val="173F39"/>
                </a:solidFill>
                <a:latin typeface="微软雅黑" panose="020B0503020204020204" charset="-122"/>
                <a:ea typeface="微软雅黑" panose="020B0503020204020204" charset="-122"/>
                <a:cs typeface="微软雅黑" panose="020B0503020204020204" charset="-122"/>
              </a:defRPr>
            </a:lvl4pPr>
            <a:lvl5pPr>
              <a:defRPr sz="3900" b="1">
                <a:solidFill>
                  <a:srgbClr val="173F39"/>
                </a:solidFill>
                <a:latin typeface="微软雅黑" panose="020B0503020204020204" charset="-122"/>
                <a:ea typeface="微软雅黑" panose="020B0503020204020204" charset="-122"/>
                <a:cs typeface="微软雅黑" panose="020B0503020204020204" charset="-122"/>
              </a:defRPr>
            </a:lvl5pPr>
            <a:lvl6pPr>
              <a:defRPr sz="3900" b="1">
                <a:solidFill>
                  <a:srgbClr val="173F39"/>
                </a:solidFill>
                <a:latin typeface="微软雅黑" panose="020B0503020204020204" charset="-122"/>
                <a:ea typeface="微软雅黑" panose="020B0503020204020204" charset="-122"/>
                <a:cs typeface="微软雅黑" panose="020B0503020204020204" charset="-122"/>
              </a:defRPr>
            </a:lvl6pPr>
            <a:lvl7pPr>
              <a:defRPr sz="3900" b="1">
                <a:solidFill>
                  <a:srgbClr val="173F39"/>
                </a:solidFill>
                <a:latin typeface="微软雅黑" panose="020B0503020204020204" charset="-122"/>
                <a:ea typeface="微软雅黑" panose="020B0503020204020204" charset="-122"/>
                <a:cs typeface="微软雅黑" panose="020B0503020204020204" charset="-122"/>
              </a:defRPr>
            </a:lvl7pPr>
            <a:lvl8pPr>
              <a:defRPr sz="3900" b="1">
                <a:solidFill>
                  <a:srgbClr val="173F39"/>
                </a:solidFill>
                <a:latin typeface="微软雅黑" panose="020B0503020204020204" charset="-122"/>
                <a:ea typeface="微软雅黑" panose="020B0503020204020204" charset="-122"/>
                <a:cs typeface="微软雅黑" panose="020B0503020204020204" charset="-122"/>
              </a:defRPr>
            </a:lvl8pPr>
            <a:lvl9pPr>
              <a:defRPr sz="39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900" b="1">
                <a:solidFill>
                  <a:srgbClr val="173F39"/>
                </a:solidFill>
                <a:latin typeface="微软雅黑" panose="020B0503020204020204" charset="-122"/>
                <a:ea typeface="微软雅黑" panose="020B0503020204020204" charset="-122"/>
                <a:cs typeface="微软雅黑" panose="020B0503020204020204" charset="-122"/>
              </a:defRPr>
            </a:pPr>
            <a:r>
              <a:rPr sz="3900" b="1">
                <a:solidFill>
                  <a:srgbClr val="173F39"/>
                </a:solidFill>
                <a:latin typeface="微软雅黑" panose="020B0503020204020204" charset="-122"/>
                <a:ea typeface="微软雅黑" panose="020B0503020204020204" charset="-122"/>
                <a:cs typeface="微软雅黑" panose="020B0503020204020204" charset="-122"/>
              </a:rPr>
              <a:t>27 / 32</a:t>
            </a:r>
            <a:endParaRPr sz="390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7" name="supported"/>
          <p:cNvSpPr>
            <a:spLocks noGrp="1"/>
          </p:cNvSpPr>
          <p:nvPr/>
        </p:nvSpPr>
        <p:spPr>
          <a:xfrm>
            <a:off x="838200" y="2943225"/>
            <a:ext cx="3048000" cy="276225"/>
          </a:xfrm>
          <a:prstGeom prst="rect">
            <a:avLst/>
          </a:prstGeom>
          <a:noFill/>
          <a:ln w="0">
            <a:noFill/>
          </a:ln>
        </p:spPr>
        <p:txBody>
          <a:bodyPr wrap="square" lIns="0" tIns="0" rIns="0" bIns="0" anchor="t">
            <a:noAutofit/>
          </a:bodyPr>
          <a:lstStyle>
            <a:defPPr>
              <a:defRPr sz="1500" b="0">
                <a:solidFill>
                  <a:srgbClr val="617770"/>
                </a:solidFill>
                <a:latin typeface="微软雅黑" panose="020B0503020204020204" charset="-122"/>
                <a:ea typeface="微软雅黑" panose="020B0503020204020204" charset="-122"/>
                <a:cs typeface="微软雅黑" panose="020B0503020204020204" charset="-122"/>
              </a:defRPr>
            </a:defPPr>
            <a:lvl1pPr>
              <a:defRPr sz="1500" b="0">
                <a:solidFill>
                  <a:srgbClr val="617770"/>
                </a:solidFill>
                <a:latin typeface="微软雅黑" panose="020B0503020204020204" charset="-122"/>
                <a:ea typeface="微软雅黑" panose="020B0503020204020204" charset="-122"/>
                <a:cs typeface="微软雅黑" panose="020B0503020204020204" charset="-122"/>
              </a:defRPr>
            </a:lvl1pPr>
            <a:lvl2pPr>
              <a:defRPr sz="1500" b="0">
                <a:solidFill>
                  <a:srgbClr val="617770"/>
                </a:solidFill>
                <a:latin typeface="微软雅黑" panose="020B0503020204020204" charset="-122"/>
                <a:ea typeface="微软雅黑" panose="020B0503020204020204" charset="-122"/>
                <a:cs typeface="微软雅黑" panose="020B0503020204020204" charset="-122"/>
              </a:defRPr>
            </a:lvl2pPr>
            <a:lvl3pPr>
              <a:defRPr sz="1500" b="0">
                <a:solidFill>
                  <a:srgbClr val="617770"/>
                </a:solidFill>
                <a:latin typeface="微软雅黑" panose="020B0503020204020204" charset="-122"/>
                <a:ea typeface="微软雅黑" panose="020B0503020204020204" charset="-122"/>
                <a:cs typeface="微软雅黑" panose="020B0503020204020204" charset="-122"/>
              </a:defRPr>
            </a:lvl3pPr>
            <a:lvl4pPr>
              <a:defRPr sz="1500" b="0">
                <a:solidFill>
                  <a:srgbClr val="617770"/>
                </a:solidFill>
                <a:latin typeface="微软雅黑" panose="020B0503020204020204" charset="-122"/>
                <a:ea typeface="微软雅黑" panose="020B0503020204020204" charset="-122"/>
                <a:cs typeface="微软雅黑" panose="020B0503020204020204" charset="-122"/>
              </a:defRPr>
            </a:lvl4pPr>
            <a:lvl5pPr>
              <a:defRPr sz="1500" b="0">
                <a:solidFill>
                  <a:srgbClr val="617770"/>
                </a:solidFill>
                <a:latin typeface="微软雅黑" panose="020B0503020204020204" charset="-122"/>
                <a:ea typeface="微软雅黑" panose="020B0503020204020204" charset="-122"/>
                <a:cs typeface="微软雅黑" panose="020B0503020204020204" charset="-122"/>
              </a:defRPr>
            </a:lvl5pPr>
            <a:lvl6pPr>
              <a:defRPr sz="1500" b="0">
                <a:solidFill>
                  <a:srgbClr val="617770"/>
                </a:solidFill>
                <a:latin typeface="微软雅黑" panose="020B0503020204020204" charset="-122"/>
                <a:ea typeface="微软雅黑" panose="020B0503020204020204" charset="-122"/>
                <a:cs typeface="微软雅黑" panose="020B0503020204020204" charset="-122"/>
              </a:defRPr>
            </a:lvl6pPr>
            <a:lvl7pPr>
              <a:defRPr sz="1500" b="0">
                <a:solidFill>
                  <a:srgbClr val="617770"/>
                </a:solidFill>
                <a:latin typeface="微软雅黑" panose="020B0503020204020204" charset="-122"/>
                <a:ea typeface="微软雅黑" panose="020B0503020204020204" charset="-122"/>
                <a:cs typeface="微软雅黑" panose="020B0503020204020204" charset="-122"/>
              </a:defRPr>
            </a:lvl7pPr>
            <a:lvl8pPr>
              <a:defRPr sz="1500" b="0">
                <a:solidFill>
                  <a:srgbClr val="617770"/>
                </a:solidFill>
                <a:latin typeface="微软雅黑" panose="020B0503020204020204" charset="-122"/>
                <a:ea typeface="微软雅黑" panose="020B0503020204020204" charset="-122"/>
                <a:cs typeface="微软雅黑" panose="020B0503020204020204" charset="-122"/>
              </a:defRPr>
            </a:lvl8pPr>
            <a:lvl9pPr>
              <a:defRPr sz="15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617770"/>
                </a:solidFill>
                <a:latin typeface="微软雅黑" panose="020B0503020204020204" charset="-122"/>
                <a:ea typeface="微软雅黑" panose="020B0503020204020204" charset="-122"/>
                <a:cs typeface="微软雅黑" panose="020B0503020204020204" charset="-122"/>
              </a:defRPr>
            </a:pPr>
            <a:r>
              <a:rPr sz="1500" b="0">
                <a:solidFill>
                  <a:srgbClr val="617770"/>
                </a:solidFill>
                <a:latin typeface="微软雅黑" panose="020B0503020204020204" charset="-122"/>
                <a:ea typeface="微软雅黑" panose="020B0503020204020204" charset="-122"/>
                <a:cs typeface="微软雅黑" panose="020B0503020204020204" charset="-122"/>
              </a:rPr>
              <a:t>supported</a:t>
            </a:r>
            <a:endParaRPr sz="1500"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8" name="Selective attention"/>
          <p:cNvSpPr>
            <a:spLocks noGrp="1"/>
          </p:cNvSpPr>
          <p:nvPr/>
        </p:nvSpPr>
        <p:spPr>
          <a:xfrm>
            <a:off x="819150" y="3371850"/>
            <a:ext cx="3086100" cy="333375"/>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defRPr sz="1875" b="1">
                <a:solidFill>
                  <a:srgbClr val="173F39"/>
                </a:solidFill>
                <a:latin typeface="微软雅黑" panose="020B0503020204020204" charset="-122"/>
                <a:ea typeface="微软雅黑" panose="020B0503020204020204" charset="-122"/>
                <a:cs typeface="微软雅黑" panose="020B0503020204020204" charset="-122"/>
              </a:defRPr>
            </a:lvl1pPr>
            <a:lvl2pPr>
              <a:defRPr sz="1875" b="1">
                <a:solidFill>
                  <a:srgbClr val="173F39"/>
                </a:solidFill>
                <a:latin typeface="微软雅黑" panose="020B0503020204020204" charset="-122"/>
                <a:ea typeface="微软雅黑" panose="020B0503020204020204" charset="-122"/>
                <a:cs typeface="微软雅黑" panose="020B0503020204020204" charset="-122"/>
              </a:defRPr>
            </a:lvl2pPr>
            <a:lvl3pPr>
              <a:defRPr sz="1875" b="1">
                <a:solidFill>
                  <a:srgbClr val="173F39"/>
                </a:solidFill>
                <a:latin typeface="微软雅黑" panose="020B0503020204020204" charset="-122"/>
                <a:ea typeface="微软雅黑" panose="020B0503020204020204" charset="-122"/>
                <a:cs typeface="微软雅黑" panose="020B0503020204020204" charset="-122"/>
              </a:defRPr>
            </a:lvl3pPr>
            <a:lvl4pPr>
              <a:defRPr sz="1875" b="1">
                <a:solidFill>
                  <a:srgbClr val="173F39"/>
                </a:solidFill>
                <a:latin typeface="微软雅黑" panose="020B0503020204020204" charset="-122"/>
                <a:ea typeface="微软雅黑" panose="020B0503020204020204" charset="-122"/>
                <a:cs typeface="微软雅黑" panose="020B0503020204020204" charset="-122"/>
              </a:defRPr>
            </a:lvl4pPr>
            <a:lvl5pPr>
              <a:defRPr sz="1875" b="1">
                <a:solidFill>
                  <a:srgbClr val="173F39"/>
                </a:solidFill>
                <a:latin typeface="微软雅黑" panose="020B0503020204020204" charset="-122"/>
                <a:ea typeface="微软雅黑" panose="020B0503020204020204" charset="-122"/>
                <a:cs typeface="微软雅黑" panose="020B0503020204020204" charset="-122"/>
              </a:defRPr>
            </a:lvl5pPr>
            <a:lvl6pPr>
              <a:defRPr sz="1875" b="1">
                <a:solidFill>
                  <a:srgbClr val="173F39"/>
                </a:solidFill>
                <a:latin typeface="微软雅黑" panose="020B0503020204020204" charset="-122"/>
                <a:ea typeface="微软雅黑" panose="020B0503020204020204" charset="-122"/>
                <a:cs typeface="微软雅黑" panose="020B0503020204020204" charset="-122"/>
              </a:defRPr>
            </a:lvl6pPr>
            <a:lvl7pPr>
              <a:defRPr sz="1875" b="1">
                <a:solidFill>
                  <a:srgbClr val="173F39"/>
                </a:solidFill>
                <a:latin typeface="微软雅黑" panose="020B0503020204020204" charset="-122"/>
                <a:ea typeface="微软雅黑" panose="020B0503020204020204" charset="-122"/>
                <a:cs typeface="微软雅黑" panose="020B0503020204020204" charset="-122"/>
              </a:defRPr>
            </a:lvl7pPr>
            <a:lvl8pPr>
              <a:defRPr sz="1875" b="1">
                <a:solidFill>
                  <a:srgbClr val="173F39"/>
                </a:solidFill>
                <a:latin typeface="微软雅黑" panose="020B0503020204020204" charset="-122"/>
                <a:ea typeface="微软雅黑" panose="020B0503020204020204" charset="-122"/>
                <a:cs typeface="微软雅黑" panose="020B0503020204020204" charset="-122"/>
              </a:defRPr>
            </a:lvl8pPr>
            <a:lvl9pPr>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r>
              <a:rPr sz="1875" b="1">
                <a:solidFill>
                  <a:srgbClr val="173F39"/>
                </a:solidFill>
                <a:latin typeface="微软雅黑" panose="020B0503020204020204" charset="-122"/>
                <a:ea typeface="微软雅黑" panose="020B0503020204020204" charset="-122"/>
                <a:cs typeface="微软雅黑" panose="020B0503020204020204" charset="-122"/>
              </a:rPr>
              <a:t>Selective attention</a:t>
            </a:r>
            <a:endParaRPr sz="187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9" name="5 mixed"/>
          <p:cNvSpPr>
            <a:spLocks noGrp="1"/>
          </p:cNvSpPr>
          <p:nvPr/>
        </p:nvSpPr>
        <p:spPr>
          <a:xfrm>
            <a:off x="819150" y="3771900"/>
            <a:ext cx="3086100" cy="276225"/>
          </a:xfrm>
          <a:prstGeom prst="rect">
            <a:avLst/>
          </a:prstGeom>
          <a:noFill/>
          <a:ln w="0">
            <a:noFill/>
          </a:ln>
        </p:spPr>
        <p:txBody>
          <a:bodyPr wrap="square" lIns="0" tIns="0" rIns="0" bIns="0" anchor="t">
            <a:noAutofit/>
          </a:bodyPr>
          <a:lstStyle>
            <a:defPPr>
              <a:defRPr sz="1575" b="1">
                <a:solidFill>
                  <a:srgbClr val="B5752F"/>
                </a:solidFill>
                <a:latin typeface="微软雅黑" panose="020B0503020204020204" charset="-122"/>
                <a:ea typeface="微软雅黑" panose="020B0503020204020204" charset="-122"/>
                <a:cs typeface="微软雅黑" panose="020B0503020204020204" charset="-122"/>
              </a:defRPr>
            </a:defPPr>
            <a:lvl1pPr>
              <a:defRPr sz="1575" b="1">
                <a:solidFill>
                  <a:srgbClr val="B5752F"/>
                </a:solidFill>
                <a:latin typeface="微软雅黑" panose="020B0503020204020204" charset="-122"/>
                <a:ea typeface="微软雅黑" panose="020B0503020204020204" charset="-122"/>
                <a:cs typeface="微软雅黑" panose="020B0503020204020204" charset="-122"/>
              </a:defRPr>
            </a:lvl1pPr>
            <a:lvl2pPr>
              <a:defRPr sz="1575" b="1">
                <a:solidFill>
                  <a:srgbClr val="B5752F"/>
                </a:solidFill>
                <a:latin typeface="微软雅黑" panose="020B0503020204020204" charset="-122"/>
                <a:ea typeface="微软雅黑" panose="020B0503020204020204" charset="-122"/>
                <a:cs typeface="微软雅黑" panose="020B0503020204020204" charset="-122"/>
              </a:defRPr>
            </a:lvl2pPr>
            <a:lvl3pPr>
              <a:defRPr sz="1575" b="1">
                <a:solidFill>
                  <a:srgbClr val="B5752F"/>
                </a:solidFill>
                <a:latin typeface="微软雅黑" panose="020B0503020204020204" charset="-122"/>
                <a:ea typeface="微软雅黑" panose="020B0503020204020204" charset="-122"/>
                <a:cs typeface="微软雅黑" panose="020B0503020204020204" charset="-122"/>
              </a:defRPr>
            </a:lvl3pPr>
            <a:lvl4pPr>
              <a:defRPr sz="1575" b="1">
                <a:solidFill>
                  <a:srgbClr val="B5752F"/>
                </a:solidFill>
                <a:latin typeface="微软雅黑" panose="020B0503020204020204" charset="-122"/>
                <a:ea typeface="微软雅黑" panose="020B0503020204020204" charset="-122"/>
                <a:cs typeface="微软雅黑" panose="020B0503020204020204" charset="-122"/>
              </a:defRPr>
            </a:lvl4pPr>
            <a:lvl5pPr>
              <a:defRPr sz="1575" b="1">
                <a:solidFill>
                  <a:srgbClr val="B5752F"/>
                </a:solidFill>
                <a:latin typeface="微软雅黑" panose="020B0503020204020204" charset="-122"/>
                <a:ea typeface="微软雅黑" panose="020B0503020204020204" charset="-122"/>
                <a:cs typeface="微软雅黑" panose="020B0503020204020204" charset="-122"/>
              </a:defRPr>
            </a:lvl5pPr>
            <a:lvl6pPr>
              <a:defRPr sz="1575" b="1">
                <a:solidFill>
                  <a:srgbClr val="B5752F"/>
                </a:solidFill>
                <a:latin typeface="微软雅黑" panose="020B0503020204020204" charset="-122"/>
                <a:ea typeface="微软雅黑" panose="020B0503020204020204" charset="-122"/>
                <a:cs typeface="微软雅黑" panose="020B0503020204020204" charset="-122"/>
              </a:defRPr>
            </a:lvl6pPr>
            <a:lvl7pPr>
              <a:defRPr sz="1575" b="1">
                <a:solidFill>
                  <a:srgbClr val="B5752F"/>
                </a:solidFill>
                <a:latin typeface="微软雅黑" panose="020B0503020204020204" charset="-122"/>
                <a:ea typeface="微软雅黑" panose="020B0503020204020204" charset="-122"/>
                <a:cs typeface="微软雅黑" panose="020B0503020204020204" charset="-122"/>
              </a:defRPr>
            </a:lvl7pPr>
            <a:lvl8pPr>
              <a:defRPr sz="1575" b="1">
                <a:solidFill>
                  <a:srgbClr val="B5752F"/>
                </a:solidFill>
                <a:latin typeface="微软雅黑" panose="020B0503020204020204" charset="-122"/>
                <a:ea typeface="微软雅黑" panose="020B0503020204020204" charset="-122"/>
                <a:cs typeface="微软雅黑" panose="020B0503020204020204" charset="-122"/>
              </a:defRPr>
            </a:lvl8pPr>
            <a:lvl9pPr>
              <a:defRPr sz="1575"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B5752F"/>
                </a:solidFill>
                <a:latin typeface="微软雅黑" panose="020B0503020204020204" charset="-122"/>
                <a:ea typeface="微软雅黑" panose="020B0503020204020204" charset="-122"/>
                <a:cs typeface="微软雅黑" panose="020B0503020204020204" charset="-122"/>
              </a:defRPr>
            </a:pPr>
            <a:r>
              <a:rPr sz="1575" b="1">
                <a:solidFill>
                  <a:srgbClr val="B5752F"/>
                </a:solidFill>
                <a:latin typeface="微软雅黑" panose="020B0503020204020204" charset="-122"/>
                <a:ea typeface="微软雅黑" panose="020B0503020204020204" charset="-122"/>
                <a:cs typeface="微软雅黑" panose="020B0503020204020204" charset="-122"/>
              </a:rPr>
              <a:t>5 mixed</a:t>
            </a:r>
            <a:endParaRPr sz="1575" b="1">
              <a:solidFill>
                <a:srgbClr val="B5752F"/>
              </a:solidFill>
              <a:latin typeface="微软雅黑" panose="020B0503020204020204" charset="-122"/>
              <a:ea typeface="微软雅黑" panose="020B0503020204020204" charset="-122"/>
              <a:cs typeface="微软雅黑" panose="020B0503020204020204" charset="-122"/>
            </a:endParaRPr>
          </a:p>
        </p:txBody>
      </p:sp>
      <p:sp>
        <p:nvSpPr>
          <p:cNvPr id="10" name="Routine updates wait;&#10;urgent requests surface."/>
          <p:cNvSpPr>
            <a:spLocks noGrp="1"/>
          </p:cNvSpPr>
          <p:nvPr/>
        </p:nvSpPr>
        <p:spPr>
          <a:xfrm>
            <a:off x="819150" y="4143375"/>
            <a:ext cx="3086100" cy="495300"/>
          </a:xfrm>
          <a:prstGeom prst="rect">
            <a:avLst/>
          </a:prstGeom>
          <a:noFill/>
          <a:ln w="0">
            <a:noFill/>
          </a:ln>
        </p:spPr>
        <p:txBody>
          <a:bodyPr wrap="square" lIns="0" tIns="0" rIns="0" bIns="0" anchor="t">
            <a:noAutofit/>
          </a:bodyPr>
          <a:lstStyle>
            <a:defPPr>
              <a:defRPr sz="1500" b="0">
                <a:solidFill>
                  <a:srgbClr val="173F39"/>
                </a:solidFill>
                <a:latin typeface="微软雅黑" panose="020B0503020204020204" charset="-122"/>
                <a:ea typeface="微软雅黑" panose="020B0503020204020204" charset="-122"/>
                <a:cs typeface="微软雅黑" panose="020B0503020204020204" charset="-122"/>
              </a:defRPr>
            </a:defPPr>
            <a:lvl1pPr>
              <a:defRPr sz="1500" b="0">
                <a:solidFill>
                  <a:srgbClr val="173F39"/>
                </a:solidFill>
                <a:latin typeface="微软雅黑" panose="020B0503020204020204" charset="-122"/>
                <a:ea typeface="微软雅黑" panose="020B0503020204020204" charset="-122"/>
                <a:cs typeface="微软雅黑" panose="020B0503020204020204" charset="-122"/>
              </a:defRPr>
            </a:lvl1pPr>
            <a:lvl2pPr>
              <a:defRPr sz="1500" b="0">
                <a:solidFill>
                  <a:srgbClr val="173F39"/>
                </a:solidFill>
                <a:latin typeface="微软雅黑" panose="020B0503020204020204" charset="-122"/>
                <a:ea typeface="微软雅黑" panose="020B0503020204020204" charset="-122"/>
                <a:cs typeface="微软雅黑" panose="020B0503020204020204" charset="-122"/>
              </a:defRPr>
            </a:lvl2pPr>
            <a:lvl3pPr>
              <a:defRPr sz="1500" b="0">
                <a:solidFill>
                  <a:srgbClr val="173F39"/>
                </a:solidFill>
                <a:latin typeface="微软雅黑" panose="020B0503020204020204" charset="-122"/>
                <a:ea typeface="微软雅黑" panose="020B0503020204020204" charset="-122"/>
                <a:cs typeface="微软雅黑" panose="020B0503020204020204" charset="-122"/>
              </a:defRPr>
            </a:lvl3pPr>
            <a:lvl4pPr>
              <a:defRPr sz="1500" b="0">
                <a:solidFill>
                  <a:srgbClr val="173F39"/>
                </a:solidFill>
                <a:latin typeface="微软雅黑" panose="020B0503020204020204" charset="-122"/>
                <a:ea typeface="微软雅黑" panose="020B0503020204020204" charset="-122"/>
                <a:cs typeface="微软雅黑" panose="020B0503020204020204" charset="-122"/>
              </a:defRPr>
            </a:lvl4pPr>
            <a:lvl5pPr>
              <a:defRPr sz="1500" b="0">
                <a:solidFill>
                  <a:srgbClr val="173F39"/>
                </a:solidFill>
                <a:latin typeface="微软雅黑" panose="020B0503020204020204" charset="-122"/>
                <a:ea typeface="微软雅黑" panose="020B0503020204020204" charset="-122"/>
                <a:cs typeface="微软雅黑" panose="020B0503020204020204" charset="-122"/>
              </a:defRPr>
            </a:lvl5pPr>
            <a:lvl6pPr>
              <a:defRPr sz="1500" b="0">
                <a:solidFill>
                  <a:srgbClr val="173F39"/>
                </a:solidFill>
                <a:latin typeface="微软雅黑" panose="020B0503020204020204" charset="-122"/>
                <a:ea typeface="微软雅黑" panose="020B0503020204020204" charset="-122"/>
                <a:cs typeface="微软雅黑" panose="020B0503020204020204" charset="-122"/>
              </a:defRPr>
            </a:lvl6pPr>
            <a:lvl7pPr>
              <a:defRPr sz="1500" b="0">
                <a:solidFill>
                  <a:srgbClr val="173F39"/>
                </a:solidFill>
                <a:latin typeface="微软雅黑" panose="020B0503020204020204" charset="-122"/>
                <a:ea typeface="微软雅黑" panose="020B0503020204020204" charset="-122"/>
                <a:cs typeface="微软雅黑" panose="020B0503020204020204" charset="-122"/>
              </a:defRPr>
            </a:lvl7pPr>
            <a:lvl8pPr>
              <a:defRPr sz="1500" b="0">
                <a:solidFill>
                  <a:srgbClr val="173F39"/>
                </a:solidFill>
                <a:latin typeface="微软雅黑" panose="020B0503020204020204" charset="-122"/>
                <a:ea typeface="微软雅黑" panose="020B0503020204020204" charset="-122"/>
                <a:cs typeface="微软雅黑" panose="020B0503020204020204" charset="-122"/>
              </a:defRPr>
            </a:lvl8pPr>
            <a:lvl9pPr>
              <a:defRPr sz="1500"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Routine updates wait;</a:t>
            </a:r>
            <a:endParaRPr sz="15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urgent requests surface.</a:t>
            </a:r>
            <a:endParaRPr sz="1500"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1" name="Value review card 1"/>
          <p:cNvSpPr>
            <a:spLocks noGrp="1"/>
          </p:cNvSpPr>
          <p:nvPr/>
        </p:nvSpPr>
        <p:spPr>
          <a:xfrm>
            <a:off x="4343400" y="2076450"/>
            <a:ext cx="3505200" cy="2724150"/>
          </a:xfrm>
          <a:prstGeom prst="rect">
            <a:avLst/>
          </a:prstGeom>
          <a:solidFill>
            <a:srgbClr val="E7EEE7"/>
          </a:solidFill>
          <a:ln w="0">
            <a:noFill/>
          </a:ln>
        </p:spPr>
      </p:sp>
      <p:sp>
        <p:nvSpPr>
          <p:cNvPr id="12" name="16 / 32"/>
          <p:cNvSpPr>
            <a:spLocks noGrp="1"/>
          </p:cNvSpPr>
          <p:nvPr/>
        </p:nvSpPr>
        <p:spPr>
          <a:xfrm>
            <a:off x="4552950" y="2247900"/>
            <a:ext cx="3086100" cy="714375"/>
          </a:xfrm>
          <a:prstGeom prst="rect">
            <a:avLst/>
          </a:prstGeom>
          <a:noFill/>
          <a:ln w="0">
            <a:noFill/>
          </a:ln>
        </p:spPr>
        <p:txBody>
          <a:bodyPr wrap="square" lIns="0" tIns="0" rIns="0" bIns="0" anchor="t">
            <a:noAutofit/>
          </a:bodyPr>
          <a:lstStyle>
            <a:defPPr>
              <a:defRPr sz="3900" b="1">
                <a:solidFill>
                  <a:srgbClr val="173F39"/>
                </a:solidFill>
                <a:latin typeface="微软雅黑" panose="020B0503020204020204" charset="-122"/>
                <a:ea typeface="微软雅黑" panose="020B0503020204020204" charset="-122"/>
                <a:cs typeface="微软雅黑" panose="020B0503020204020204" charset="-122"/>
              </a:defRPr>
            </a:defPPr>
            <a:lvl1pPr>
              <a:defRPr sz="3900" b="1">
                <a:solidFill>
                  <a:srgbClr val="173F39"/>
                </a:solidFill>
                <a:latin typeface="微软雅黑" panose="020B0503020204020204" charset="-122"/>
                <a:ea typeface="微软雅黑" panose="020B0503020204020204" charset="-122"/>
                <a:cs typeface="微软雅黑" panose="020B0503020204020204" charset="-122"/>
              </a:defRPr>
            </a:lvl1pPr>
            <a:lvl2pPr>
              <a:defRPr sz="3900" b="1">
                <a:solidFill>
                  <a:srgbClr val="173F39"/>
                </a:solidFill>
                <a:latin typeface="微软雅黑" panose="020B0503020204020204" charset="-122"/>
                <a:ea typeface="微软雅黑" panose="020B0503020204020204" charset="-122"/>
                <a:cs typeface="微软雅黑" panose="020B0503020204020204" charset="-122"/>
              </a:defRPr>
            </a:lvl2pPr>
            <a:lvl3pPr>
              <a:defRPr sz="3900" b="1">
                <a:solidFill>
                  <a:srgbClr val="173F39"/>
                </a:solidFill>
                <a:latin typeface="微软雅黑" panose="020B0503020204020204" charset="-122"/>
                <a:ea typeface="微软雅黑" panose="020B0503020204020204" charset="-122"/>
                <a:cs typeface="微软雅黑" panose="020B0503020204020204" charset="-122"/>
              </a:defRPr>
            </a:lvl3pPr>
            <a:lvl4pPr>
              <a:defRPr sz="3900" b="1">
                <a:solidFill>
                  <a:srgbClr val="173F39"/>
                </a:solidFill>
                <a:latin typeface="微软雅黑" panose="020B0503020204020204" charset="-122"/>
                <a:ea typeface="微软雅黑" panose="020B0503020204020204" charset="-122"/>
                <a:cs typeface="微软雅黑" panose="020B0503020204020204" charset="-122"/>
              </a:defRPr>
            </a:lvl4pPr>
            <a:lvl5pPr>
              <a:defRPr sz="3900" b="1">
                <a:solidFill>
                  <a:srgbClr val="173F39"/>
                </a:solidFill>
                <a:latin typeface="微软雅黑" panose="020B0503020204020204" charset="-122"/>
                <a:ea typeface="微软雅黑" panose="020B0503020204020204" charset="-122"/>
                <a:cs typeface="微软雅黑" panose="020B0503020204020204" charset="-122"/>
              </a:defRPr>
            </a:lvl5pPr>
            <a:lvl6pPr>
              <a:defRPr sz="3900" b="1">
                <a:solidFill>
                  <a:srgbClr val="173F39"/>
                </a:solidFill>
                <a:latin typeface="微软雅黑" panose="020B0503020204020204" charset="-122"/>
                <a:ea typeface="微软雅黑" panose="020B0503020204020204" charset="-122"/>
                <a:cs typeface="微软雅黑" panose="020B0503020204020204" charset="-122"/>
              </a:defRPr>
            </a:lvl6pPr>
            <a:lvl7pPr>
              <a:defRPr sz="3900" b="1">
                <a:solidFill>
                  <a:srgbClr val="173F39"/>
                </a:solidFill>
                <a:latin typeface="微软雅黑" panose="020B0503020204020204" charset="-122"/>
                <a:ea typeface="微软雅黑" panose="020B0503020204020204" charset="-122"/>
                <a:cs typeface="微软雅黑" panose="020B0503020204020204" charset="-122"/>
              </a:defRPr>
            </a:lvl7pPr>
            <a:lvl8pPr>
              <a:defRPr sz="3900" b="1">
                <a:solidFill>
                  <a:srgbClr val="173F39"/>
                </a:solidFill>
                <a:latin typeface="微软雅黑" panose="020B0503020204020204" charset="-122"/>
                <a:ea typeface="微软雅黑" panose="020B0503020204020204" charset="-122"/>
                <a:cs typeface="微软雅黑" panose="020B0503020204020204" charset="-122"/>
              </a:defRPr>
            </a:lvl8pPr>
            <a:lvl9pPr>
              <a:defRPr sz="39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900" b="1">
                <a:solidFill>
                  <a:srgbClr val="173F39"/>
                </a:solidFill>
                <a:latin typeface="微软雅黑" panose="020B0503020204020204" charset="-122"/>
                <a:ea typeface="微软雅黑" panose="020B0503020204020204" charset="-122"/>
                <a:cs typeface="微软雅黑" panose="020B0503020204020204" charset="-122"/>
              </a:defRPr>
            </a:pPr>
            <a:r>
              <a:rPr sz="3900" b="1">
                <a:solidFill>
                  <a:srgbClr val="173F39"/>
                </a:solidFill>
                <a:latin typeface="微软雅黑" panose="020B0503020204020204" charset="-122"/>
                <a:ea typeface="微软雅黑" panose="020B0503020204020204" charset="-122"/>
                <a:cs typeface="微软雅黑" panose="020B0503020204020204" charset="-122"/>
              </a:rPr>
              <a:t>16 / 32</a:t>
            </a:r>
            <a:endParaRPr sz="390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3" name="supported"/>
          <p:cNvSpPr>
            <a:spLocks noGrp="1"/>
          </p:cNvSpPr>
          <p:nvPr/>
        </p:nvSpPr>
        <p:spPr>
          <a:xfrm>
            <a:off x="4572000" y="2943225"/>
            <a:ext cx="3048000" cy="276225"/>
          </a:xfrm>
          <a:prstGeom prst="rect">
            <a:avLst/>
          </a:prstGeom>
          <a:noFill/>
          <a:ln w="0">
            <a:noFill/>
          </a:ln>
        </p:spPr>
        <p:txBody>
          <a:bodyPr wrap="square" lIns="0" tIns="0" rIns="0" bIns="0" anchor="t">
            <a:noAutofit/>
          </a:bodyPr>
          <a:lstStyle>
            <a:defPPr>
              <a:defRPr sz="1500" b="0">
                <a:solidFill>
                  <a:srgbClr val="617770"/>
                </a:solidFill>
                <a:latin typeface="微软雅黑" panose="020B0503020204020204" charset="-122"/>
                <a:ea typeface="微软雅黑" panose="020B0503020204020204" charset="-122"/>
                <a:cs typeface="微软雅黑" panose="020B0503020204020204" charset="-122"/>
              </a:defRPr>
            </a:defPPr>
            <a:lvl1pPr>
              <a:defRPr sz="1500" b="0">
                <a:solidFill>
                  <a:srgbClr val="617770"/>
                </a:solidFill>
                <a:latin typeface="微软雅黑" panose="020B0503020204020204" charset="-122"/>
                <a:ea typeface="微软雅黑" panose="020B0503020204020204" charset="-122"/>
                <a:cs typeface="微软雅黑" panose="020B0503020204020204" charset="-122"/>
              </a:defRPr>
            </a:lvl1pPr>
            <a:lvl2pPr>
              <a:defRPr sz="1500" b="0">
                <a:solidFill>
                  <a:srgbClr val="617770"/>
                </a:solidFill>
                <a:latin typeface="微软雅黑" panose="020B0503020204020204" charset="-122"/>
                <a:ea typeface="微软雅黑" panose="020B0503020204020204" charset="-122"/>
                <a:cs typeface="微软雅黑" panose="020B0503020204020204" charset="-122"/>
              </a:defRPr>
            </a:lvl2pPr>
            <a:lvl3pPr>
              <a:defRPr sz="1500" b="0">
                <a:solidFill>
                  <a:srgbClr val="617770"/>
                </a:solidFill>
                <a:latin typeface="微软雅黑" panose="020B0503020204020204" charset="-122"/>
                <a:ea typeface="微软雅黑" panose="020B0503020204020204" charset="-122"/>
                <a:cs typeface="微软雅黑" panose="020B0503020204020204" charset="-122"/>
              </a:defRPr>
            </a:lvl3pPr>
            <a:lvl4pPr>
              <a:defRPr sz="1500" b="0">
                <a:solidFill>
                  <a:srgbClr val="617770"/>
                </a:solidFill>
                <a:latin typeface="微软雅黑" panose="020B0503020204020204" charset="-122"/>
                <a:ea typeface="微软雅黑" panose="020B0503020204020204" charset="-122"/>
                <a:cs typeface="微软雅黑" panose="020B0503020204020204" charset="-122"/>
              </a:defRPr>
            </a:lvl4pPr>
            <a:lvl5pPr>
              <a:defRPr sz="1500" b="0">
                <a:solidFill>
                  <a:srgbClr val="617770"/>
                </a:solidFill>
                <a:latin typeface="微软雅黑" panose="020B0503020204020204" charset="-122"/>
                <a:ea typeface="微软雅黑" panose="020B0503020204020204" charset="-122"/>
                <a:cs typeface="微软雅黑" panose="020B0503020204020204" charset="-122"/>
              </a:defRPr>
            </a:lvl5pPr>
            <a:lvl6pPr>
              <a:defRPr sz="1500" b="0">
                <a:solidFill>
                  <a:srgbClr val="617770"/>
                </a:solidFill>
                <a:latin typeface="微软雅黑" panose="020B0503020204020204" charset="-122"/>
                <a:ea typeface="微软雅黑" panose="020B0503020204020204" charset="-122"/>
                <a:cs typeface="微软雅黑" panose="020B0503020204020204" charset="-122"/>
              </a:defRPr>
            </a:lvl6pPr>
            <a:lvl7pPr>
              <a:defRPr sz="1500" b="0">
                <a:solidFill>
                  <a:srgbClr val="617770"/>
                </a:solidFill>
                <a:latin typeface="微软雅黑" panose="020B0503020204020204" charset="-122"/>
                <a:ea typeface="微软雅黑" panose="020B0503020204020204" charset="-122"/>
                <a:cs typeface="微软雅黑" panose="020B0503020204020204" charset="-122"/>
              </a:defRPr>
            </a:lvl7pPr>
            <a:lvl8pPr>
              <a:defRPr sz="1500" b="0">
                <a:solidFill>
                  <a:srgbClr val="617770"/>
                </a:solidFill>
                <a:latin typeface="微软雅黑" panose="020B0503020204020204" charset="-122"/>
                <a:ea typeface="微软雅黑" panose="020B0503020204020204" charset="-122"/>
                <a:cs typeface="微软雅黑" panose="020B0503020204020204" charset="-122"/>
              </a:defRPr>
            </a:lvl8pPr>
            <a:lvl9pPr>
              <a:defRPr sz="15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617770"/>
                </a:solidFill>
                <a:latin typeface="微软雅黑" panose="020B0503020204020204" charset="-122"/>
                <a:ea typeface="微软雅黑" panose="020B0503020204020204" charset="-122"/>
                <a:cs typeface="微软雅黑" panose="020B0503020204020204" charset="-122"/>
              </a:defRPr>
            </a:pPr>
            <a:r>
              <a:rPr sz="1500" b="0">
                <a:solidFill>
                  <a:srgbClr val="617770"/>
                </a:solidFill>
                <a:latin typeface="微软雅黑" panose="020B0503020204020204" charset="-122"/>
                <a:ea typeface="微软雅黑" panose="020B0503020204020204" charset="-122"/>
                <a:cs typeface="微软雅黑" panose="020B0503020204020204" charset="-122"/>
              </a:rPr>
              <a:t>supported</a:t>
            </a:r>
            <a:endParaRPr sz="1500"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14" name="Context for replies"/>
          <p:cNvSpPr>
            <a:spLocks noGrp="1"/>
          </p:cNvSpPr>
          <p:nvPr/>
        </p:nvSpPr>
        <p:spPr>
          <a:xfrm>
            <a:off x="4552950" y="3371850"/>
            <a:ext cx="3086100" cy="333375"/>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defRPr sz="1875" b="1">
                <a:solidFill>
                  <a:srgbClr val="173F39"/>
                </a:solidFill>
                <a:latin typeface="微软雅黑" panose="020B0503020204020204" charset="-122"/>
                <a:ea typeface="微软雅黑" panose="020B0503020204020204" charset="-122"/>
                <a:cs typeface="微软雅黑" panose="020B0503020204020204" charset="-122"/>
              </a:defRPr>
            </a:lvl1pPr>
            <a:lvl2pPr>
              <a:defRPr sz="1875" b="1">
                <a:solidFill>
                  <a:srgbClr val="173F39"/>
                </a:solidFill>
                <a:latin typeface="微软雅黑" panose="020B0503020204020204" charset="-122"/>
                <a:ea typeface="微软雅黑" panose="020B0503020204020204" charset="-122"/>
                <a:cs typeface="微软雅黑" panose="020B0503020204020204" charset="-122"/>
              </a:defRPr>
            </a:lvl2pPr>
            <a:lvl3pPr>
              <a:defRPr sz="1875" b="1">
                <a:solidFill>
                  <a:srgbClr val="173F39"/>
                </a:solidFill>
                <a:latin typeface="微软雅黑" panose="020B0503020204020204" charset="-122"/>
                <a:ea typeface="微软雅黑" panose="020B0503020204020204" charset="-122"/>
                <a:cs typeface="微软雅黑" panose="020B0503020204020204" charset="-122"/>
              </a:defRPr>
            </a:lvl3pPr>
            <a:lvl4pPr>
              <a:defRPr sz="1875" b="1">
                <a:solidFill>
                  <a:srgbClr val="173F39"/>
                </a:solidFill>
                <a:latin typeface="微软雅黑" panose="020B0503020204020204" charset="-122"/>
                <a:ea typeface="微软雅黑" panose="020B0503020204020204" charset="-122"/>
                <a:cs typeface="微软雅黑" panose="020B0503020204020204" charset="-122"/>
              </a:defRPr>
            </a:lvl4pPr>
            <a:lvl5pPr>
              <a:defRPr sz="1875" b="1">
                <a:solidFill>
                  <a:srgbClr val="173F39"/>
                </a:solidFill>
                <a:latin typeface="微软雅黑" panose="020B0503020204020204" charset="-122"/>
                <a:ea typeface="微软雅黑" panose="020B0503020204020204" charset="-122"/>
                <a:cs typeface="微软雅黑" panose="020B0503020204020204" charset="-122"/>
              </a:defRPr>
            </a:lvl5pPr>
            <a:lvl6pPr>
              <a:defRPr sz="1875" b="1">
                <a:solidFill>
                  <a:srgbClr val="173F39"/>
                </a:solidFill>
                <a:latin typeface="微软雅黑" panose="020B0503020204020204" charset="-122"/>
                <a:ea typeface="微软雅黑" panose="020B0503020204020204" charset="-122"/>
                <a:cs typeface="微软雅黑" panose="020B0503020204020204" charset="-122"/>
              </a:defRPr>
            </a:lvl6pPr>
            <a:lvl7pPr>
              <a:defRPr sz="1875" b="1">
                <a:solidFill>
                  <a:srgbClr val="173F39"/>
                </a:solidFill>
                <a:latin typeface="微软雅黑" panose="020B0503020204020204" charset="-122"/>
                <a:ea typeface="微软雅黑" panose="020B0503020204020204" charset="-122"/>
                <a:cs typeface="微软雅黑" panose="020B0503020204020204" charset="-122"/>
              </a:defRPr>
            </a:lvl7pPr>
            <a:lvl8pPr>
              <a:defRPr sz="1875" b="1">
                <a:solidFill>
                  <a:srgbClr val="173F39"/>
                </a:solidFill>
                <a:latin typeface="微软雅黑" panose="020B0503020204020204" charset="-122"/>
                <a:ea typeface="微软雅黑" panose="020B0503020204020204" charset="-122"/>
                <a:cs typeface="微软雅黑" panose="020B0503020204020204" charset="-122"/>
              </a:defRPr>
            </a:lvl8pPr>
            <a:lvl9pPr>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r>
              <a:rPr sz="1875" b="1">
                <a:solidFill>
                  <a:srgbClr val="173F39"/>
                </a:solidFill>
                <a:latin typeface="微软雅黑" panose="020B0503020204020204" charset="-122"/>
                <a:ea typeface="微软雅黑" panose="020B0503020204020204" charset="-122"/>
                <a:cs typeface="微软雅黑" panose="020B0503020204020204" charset="-122"/>
              </a:rPr>
              <a:t>Context for replies</a:t>
            </a:r>
            <a:endParaRPr sz="187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5" name="16 mixed"/>
          <p:cNvSpPr>
            <a:spLocks noGrp="1"/>
          </p:cNvSpPr>
          <p:nvPr/>
        </p:nvSpPr>
        <p:spPr>
          <a:xfrm>
            <a:off x="4552950" y="3771900"/>
            <a:ext cx="3086100" cy="276225"/>
          </a:xfrm>
          <a:prstGeom prst="rect">
            <a:avLst/>
          </a:prstGeom>
          <a:noFill/>
          <a:ln w="0">
            <a:noFill/>
          </a:ln>
        </p:spPr>
        <p:txBody>
          <a:bodyPr wrap="square" lIns="0" tIns="0" rIns="0" bIns="0" anchor="t">
            <a:noAutofit/>
          </a:bodyPr>
          <a:lstStyle>
            <a:defPPr>
              <a:defRPr sz="1575" b="1">
                <a:solidFill>
                  <a:srgbClr val="B5752F"/>
                </a:solidFill>
                <a:latin typeface="微软雅黑" panose="020B0503020204020204" charset="-122"/>
                <a:ea typeface="微软雅黑" panose="020B0503020204020204" charset="-122"/>
                <a:cs typeface="微软雅黑" panose="020B0503020204020204" charset="-122"/>
              </a:defRPr>
            </a:defPPr>
            <a:lvl1pPr>
              <a:defRPr sz="1575" b="1">
                <a:solidFill>
                  <a:srgbClr val="B5752F"/>
                </a:solidFill>
                <a:latin typeface="微软雅黑" panose="020B0503020204020204" charset="-122"/>
                <a:ea typeface="微软雅黑" panose="020B0503020204020204" charset="-122"/>
                <a:cs typeface="微软雅黑" panose="020B0503020204020204" charset="-122"/>
              </a:defRPr>
            </a:lvl1pPr>
            <a:lvl2pPr>
              <a:defRPr sz="1575" b="1">
                <a:solidFill>
                  <a:srgbClr val="B5752F"/>
                </a:solidFill>
                <a:latin typeface="微软雅黑" panose="020B0503020204020204" charset="-122"/>
                <a:ea typeface="微软雅黑" panose="020B0503020204020204" charset="-122"/>
                <a:cs typeface="微软雅黑" panose="020B0503020204020204" charset="-122"/>
              </a:defRPr>
            </a:lvl2pPr>
            <a:lvl3pPr>
              <a:defRPr sz="1575" b="1">
                <a:solidFill>
                  <a:srgbClr val="B5752F"/>
                </a:solidFill>
                <a:latin typeface="微软雅黑" panose="020B0503020204020204" charset="-122"/>
                <a:ea typeface="微软雅黑" panose="020B0503020204020204" charset="-122"/>
                <a:cs typeface="微软雅黑" panose="020B0503020204020204" charset="-122"/>
              </a:defRPr>
            </a:lvl3pPr>
            <a:lvl4pPr>
              <a:defRPr sz="1575" b="1">
                <a:solidFill>
                  <a:srgbClr val="B5752F"/>
                </a:solidFill>
                <a:latin typeface="微软雅黑" panose="020B0503020204020204" charset="-122"/>
                <a:ea typeface="微软雅黑" panose="020B0503020204020204" charset="-122"/>
                <a:cs typeface="微软雅黑" panose="020B0503020204020204" charset="-122"/>
              </a:defRPr>
            </a:lvl4pPr>
            <a:lvl5pPr>
              <a:defRPr sz="1575" b="1">
                <a:solidFill>
                  <a:srgbClr val="B5752F"/>
                </a:solidFill>
                <a:latin typeface="微软雅黑" panose="020B0503020204020204" charset="-122"/>
                <a:ea typeface="微软雅黑" panose="020B0503020204020204" charset="-122"/>
                <a:cs typeface="微软雅黑" panose="020B0503020204020204" charset="-122"/>
              </a:defRPr>
            </a:lvl5pPr>
            <a:lvl6pPr>
              <a:defRPr sz="1575" b="1">
                <a:solidFill>
                  <a:srgbClr val="B5752F"/>
                </a:solidFill>
                <a:latin typeface="微软雅黑" panose="020B0503020204020204" charset="-122"/>
                <a:ea typeface="微软雅黑" panose="020B0503020204020204" charset="-122"/>
                <a:cs typeface="微软雅黑" panose="020B0503020204020204" charset="-122"/>
              </a:defRPr>
            </a:lvl6pPr>
            <a:lvl7pPr>
              <a:defRPr sz="1575" b="1">
                <a:solidFill>
                  <a:srgbClr val="B5752F"/>
                </a:solidFill>
                <a:latin typeface="微软雅黑" panose="020B0503020204020204" charset="-122"/>
                <a:ea typeface="微软雅黑" panose="020B0503020204020204" charset="-122"/>
                <a:cs typeface="微软雅黑" panose="020B0503020204020204" charset="-122"/>
              </a:defRPr>
            </a:lvl7pPr>
            <a:lvl8pPr>
              <a:defRPr sz="1575" b="1">
                <a:solidFill>
                  <a:srgbClr val="B5752F"/>
                </a:solidFill>
                <a:latin typeface="微软雅黑" panose="020B0503020204020204" charset="-122"/>
                <a:ea typeface="微软雅黑" panose="020B0503020204020204" charset="-122"/>
                <a:cs typeface="微软雅黑" panose="020B0503020204020204" charset="-122"/>
              </a:defRPr>
            </a:lvl8pPr>
            <a:lvl9pPr>
              <a:defRPr sz="1575"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B5752F"/>
                </a:solidFill>
                <a:latin typeface="微软雅黑" panose="020B0503020204020204" charset="-122"/>
                <a:ea typeface="微软雅黑" panose="020B0503020204020204" charset="-122"/>
                <a:cs typeface="微软雅黑" panose="020B0503020204020204" charset="-122"/>
              </a:defRPr>
            </a:pPr>
            <a:r>
              <a:rPr sz="1575" b="1">
                <a:solidFill>
                  <a:srgbClr val="B5752F"/>
                </a:solidFill>
                <a:latin typeface="微软雅黑" panose="020B0503020204020204" charset="-122"/>
                <a:ea typeface="微软雅黑" panose="020B0503020204020204" charset="-122"/>
                <a:cs typeface="微软雅黑" panose="020B0503020204020204" charset="-122"/>
              </a:rPr>
              <a:t>16 mixed</a:t>
            </a:r>
            <a:endParaRPr sz="1575" b="1">
              <a:solidFill>
                <a:srgbClr val="B5752F"/>
              </a:solidFill>
              <a:latin typeface="微软雅黑" panose="020B0503020204020204" charset="-122"/>
              <a:ea typeface="微软雅黑" panose="020B0503020204020204" charset="-122"/>
              <a:cs typeface="微软雅黑" panose="020B0503020204020204" charset="-122"/>
            </a:endParaRPr>
          </a:p>
        </p:txBody>
      </p:sp>
      <p:sp>
        <p:nvSpPr>
          <p:cNvPr id="16" name="Personal constraints help;&#10;later summaries can overreach."/>
          <p:cNvSpPr>
            <a:spLocks noGrp="1"/>
          </p:cNvSpPr>
          <p:nvPr/>
        </p:nvSpPr>
        <p:spPr>
          <a:xfrm>
            <a:off x="4552950" y="4143375"/>
            <a:ext cx="3086100" cy="495300"/>
          </a:xfrm>
          <a:prstGeom prst="rect">
            <a:avLst/>
          </a:prstGeom>
          <a:noFill/>
          <a:ln w="0">
            <a:noFill/>
          </a:ln>
        </p:spPr>
        <p:txBody>
          <a:bodyPr wrap="square" lIns="0" tIns="0" rIns="0" bIns="0" anchor="t">
            <a:noAutofit/>
          </a:bodyPr>
          <a:lstStyle>
            <a:defPPr>
              <a:defRPr sz="1500" b="0">
                <a:solidFill>
                  <a:srgbClr val="173F39"/>
                </a:solidFill>
                <a:latin typeface="微软雅黑" panose="020B0503020204020204" charset="-122"/>
                <a:ea typeface="微软雅黑" panose="020B0503020204020204" charset="-122"/>
                <a:cs typeface="微软雅黑" panose="020B0503020204020204" charset="-122"/>
              </a:defRPr>
            </a:defPPr>
            <a:lvl1pPr>
              <a:defRPr sz="1500" b="0">
                <a:solidFill>
                  <a:srgbClr val="173F39"/>
                </a:solidFill>
                <a:latin typeface="微软雅黑" panose="020B0503020204020204" charset="-122"/>
                <a:ea typeface="微软雅黑" panose="020B0503020204020204" charset="-122"/>
                <a:cs typeface="微软雅黑" panose="020B0503020204020204" charset="-122"/>
              </a:defRPr>
            </a:lvl1pPr>
            <a:lvl2pPr>
              <a:defRPr sz="1500" b="0">
                <a:solidFill>
                  <a:srgbClr val="173F39"/>
                </a:solidFill>
                <a:latin typeface="微软雅黑" panose="020B0503020204020204" charset="-122"/>
                <a:ea typeface="微软雅黑" panose="020B0503020204020204" charset="-122"/>
                <a:cs typeface="微软雅黑" panose="020B0503020204020204" charset="-122"/>
              </a:defRPr>
            </a:lvl2pPr>
            <a:lvl3pPr>
              <a:defRPr sz="1500" b="0">
                <a:solidFill>
                  <a:srgbClr val="173F39"/>
                </a:solidFill>
                <a:latin typeface="微软雅黑" panose="020B0503020204020204" charset="-122"/>
                <a:ea typeface="微软雅黑" panose="020B0503020204020204" charset="-122"/>
                <a:cs typeface="微软雅黑" panose="020B0503020204020204" charset="-122"/>
              </a:defRPr>
            </a:lvl3pPr>
            <a:lvl4pPr>
              <a:defRPr sz="1500" b="0">
                <a:solidFill>
                  <a:srgbClr val="173F39"/>
                </a:solidFill>
                <a:latin typeface="微软雅黑" panose="020B0503020204020204" charset="-122"/>
                <a:ea typeface="微软雅黑" panose="020B0503020204020204" charset="-122"/>
                <a:cs typeface="微软雅黑" panose="020B0503020204020204" charset="-122"/>
              </a:defRPr>
            </a:lvl4pPr>
            <a:lvl5pPr>
              <a:defRPr sz="1500" b="0">
                <a:solidFill>
                  <a:srgbClr val="173F39"/>
                </a:solidFill>
                <a:latin typeface="微软雅黑" panose="020B0503020204020204" charset="-122"/>
                <a:ea typeface="微软雅黑" panose="020B0503020204020204" charset="-122"/>
                <a:cs typeface="微软雅黑" panose="020B0503020204020204" charset="-122"/>
              </a:defRPr>
            </a:lvl5pPr>
            <a:lvl6pPr>
              <a:defRPr sz="1500" b="0">
                <a:solidFill>
                  <a:srgbClr val="173F39"/>
                </a:solidFill>
                <a:latin typeface="微软雅黑" panose="020B0503020204020204" charset="-122"/>
                <a:ea typeface="微软雅黑" panose="020B0503020204020204" charset="-122"/>
                <a:cs typeface="微软雅黑" panose="020B0503020204020204" charset="-122"/>
              </a:defRPr>
            </a:lvl6pPr>
            <a:lvl7pPr>
              <a:defRPr sz="1500" b="0">
                <a:solidFill>
                  <a:srgbClr val="173F39"/>
                </a:solidFill>
                <a:latin typeface="微软雅黑" panose="020B0503020204020204" charset="-122"/>
                <a:ea typeface="微软雅黑" panose="020B0503020204020204" charset="-122"/>
                <a:cs typeface="微软雅黑" panose="020B0503020204020204" charset="-122"/>
              </a:defRPr>
            </a:lvl7pPr>
            <a:lvl8pPr>
              <a:defRPr sz="1500" b="0">
                <a:solidFill>
                  <a:srgbClr val="173F39"/>
                </a:solidFill>
                <a:latin typeface="微软雅黑" panose="020B0503020204020204" charset="-122"/>
                <a:ea typeface="微软雅黑" panose="020B0503020204020204" charset="-122"/>
                <a:cs typeface="微软雅黑" panose="020B0503020204020204" charset="-122"/>
              </a:defRPr>
            </a:lvl8pPr>
            <a:lvl9pPr>
              <a:defRPr sz="1500"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Personal constraints help;</a:t>
            </a:r>
            <a:endParaRPr sz="15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later summaries can overreach.</a:t>
            </a:r>
            <a:endParaRPr sz="1500"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7" name="Value review card 2"/>
          <p:cNvSpPr>
            <a:spLocks noGrp="1"/>
          </p:cNvSpPr>
          <p:nvPr/>
        </p:nvSpPr>
        <p:spPr>
          <a:xfrm>
            <a:off x="8077200" y="2076450"/>
            <a:ext cx="3505200" cy="2724150"/>
          </a:xfrm>
          <a:prstGeom prst="rect">
            <a:avLst/>
          </a:prstGeom>
          <a:solidFill>
            <a:srgbClr val="E7EEE7"/>
          </a:solidFill>
          <a:ln w="0">
            <a:noFill/>
          </a:ln>
        </p:spPr>
      </p:sp>
      <p:sp>
        <p:nvSpPr>
          <p:cNvPr id="18" name="12 / 32"/>
          <p:cNvSpPr>
            <a:spLocks noGrp="1"/>
          </p:cNvSpPr>
          <p:nvPr/>
        </p:nvSpPr>
        <p:spPr>
          <a:xfrm>
            <a:off x="8286750" y="2247900"/>
            <a:ext cx="3086100" cy="714375"/>
          </a:xfrm>
          <a:prstGeom prst="rect">
            <a:avLst/>
          </a:prstGeom>
          <a:noFill/>
          <a:ln w="0">
            <a:noFill/>
          </a:ln>
        </p:spPr>
        <p:txBody>
          <a:bodyPr wrap="square" lIns="0" tIns="0" rIns="0" bIns="0" anchor="t">
            <a:noAutofit/>
          </a:bodyPr>
          <a:lstStyle>
            <a:defPPr>
              <a:defRPr sz="3900" b="1">
                <a:solidFill>
                  <a:srgbClr val="173F39"/>
                </a:solidFill>
                <a:latin typeface="微软雅黑" panose="020B0503020204020204" charset="-122"/>
                <a:ea typeface="微软雅黑" panose="020B0503020204020204" charset="-122"/>
                <a:cs typeface="微软雅黑" panose="020B0503020204020204" charset="-122"/>
              </a:defRPr>
            </a:defPPr>
            <a:lvl1pPr>
              <a:defRPr sz="3900" b="1">
                <a:solidFill>
                  <a:srgbClr val="173F39"/>
                </a:solidFill>
                <a:latin typeface="微软雅黑" panose="020B0503020204020204" charset="-122"/>
                <a:ea typeface="微软雅黑" panose="020B0503020204020204" charset="-122"/>
                <a:cs typeface="微软雅黑" panose="020B0503020204020204" charset="-122"/>
              </a:defRPr>
            </a:lvl1pPr>
            <a:lvl2pPr>
              <a:defRPr sz="3900" b="1">
                <a:solidFill>
                  <a:srgbClr val="173F39"/>
                </a:solidFill>
                <a:latin typeface="微软雅黑" panose="020B0503020204020204" charset="-122"/>
                <a:ea typeface="微软雅黑" panose="020B0503020204020204" charset="-122"/>
                <a:cs typeface="微软雅黑" panose="020B0503020204020204" charset="-122"/>
              </a:defRPr>
            </a:lvl2pPr>
            <a:lvl3pPr>
              <a:defRPr sz="3900" b="1">
                <a:solidFill>
                  <a:srgbClr val="173F39"/>
                </a:solidFill>
                <a:latin typeface="微软雅黑" panose="020B0503020204020204" charset="-122"/>
                <a:ea typeface="微软雅黑" panose="020B0503020204020204" charset="-122"/>
                <a:cs typeface="微软雅黑" panose="020B0503020204020204" charset="-122"/>
              </a:defRPr>
            </a:lvl3pPr>
            <a:lvl4pPr>
              <a:defRPr sz="3900" b="1">
                <a:solidFill>
                  <a:srgbClr val="173F39"/>
                </a:solidFill>
                <a:latin typeface="微软雅黑" panose="020B0503020204020204" charset="-122"/>
                <a:ea typeface="微软雅黑" panose="020B0503020204020204" charset="-122"/>
                <a:cs typeface="微软雅黑" panose="020B0503020204020204" charset="-122"/>
              </a:defRPr>
            </a:lvl4pPr>
            <a:lvl5pPr>
              <a:defRPr sz="3900" b="1">
                <a:solidFill>
                  <a:srgbClr val="173F39"/>
                </a:solidFill>
                <a:latin typeface="微软雅黑" panose="020B0503020204020204" charset="-122"/>
                <a:ea typeface="微软雅黑" panose="020B0503020204020204" charset="-122"/>
                <a:cs typeface="微软雅黑" panose="020B0503020204020204" charset="-122"/>
              </a:defRPr>
            </a:lvl5pPr>
            <a:lvl6pPr>
              <a:defRPr sz="3900" b="1">
                <a:solidFill>
                  <a:srgbClr val="173F39"/>
                </a:solidFill>
                <a:latin typeface="微软雅黑" panose="020B0503020204020204" charset="-122"/>
                <a:ea typeface="微软雅黑" panose="020B0503020204020204" charset="-122"/>
                <a:cs typeface="微软雅黑" panose="020B0503020204020204" charset="-122"/>
              </a:defRPr>
            </a:lvl6pPr>
            <a:lvl7pPr>
              <a:defRPr sz="3900" b="1">
                <a:solidFill>
                  <a:srgbClr val="173F39"/>
                </a:solidFill>
                <a:latin typeface="微软雅黑" panose="020B0503020204020204" charset="-122"/>
                <a:ea typeface="微软雅黑" panose="020B0503020204020204" charset="-122"/>
                <a:cs typeface="微软雅黑" panose="020B0503020204020204" charset="-122"/>
              </a:defRPr>
            </a:lvl7pPr>
            <a:lvl8pPr>
              <a:defRPr sz="3900" b="1">
                <a:solidFill>
                  <a:srgbClr val="173F39"/>
                </a:solidFill>
                <a:latin typeface="微软雅黑" panose="020B0503020204020204" charset="-122"/>
                <a:ea typeface="微软雅黑" panose="020B0503020204020204" charset="-122"/>
                <a:cs typeface="微软雅黑" panose="020B0503020204020204" charset="-122"/>
              </a:defRPr>
            </a:lvl8pPr>
            <a:lvl9pPr>
              <a:defRPr sz="39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900" b="1">
                <a:solidFill>
                  <a:srgbClr val="173F39"/>
                </a:solidFill>
                <a:latin typeface="微软雅黑" panose="020B0503020204020204" charset="-122"/>
                <a:ea typeface="微软雅黑" panose="020B0503020204020204" charset="-122"/>
                <a:cs typeface="微软雅黑" panose="020B0503020204020204" charset="-122"/>
              </a:defRPr>
            </a:pPr>
            <a:r>
              <a:rPr sz="3900" b="1">
                <a:solidFill>
                  <a:srgbClr val="173F39"/>
                </a:solidFill>
                <a:latin typeface="微软雅黑" panose="020B0503020204020204" charset="-122"/>
                <a:ea typeface="微软雅黑" panose="020B0503020204020204" charset="-122"/>
                <a:cs typeface="微软雅黑" panose="020B0503020204020204" charset="-122"/>
              </a:rPr>
              <a:t>12 / 32</a:t>
            </a:r>
            <a:endParaRPr sz="390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9" name="supported"/>
          <p:cNvSpPr>
            <a:spLocks noGrp="1"/>
          </p:cNvSpPr>
          <p:nvPr/>
        </p:nvSpPr>
        <p:spPr>
          <a:xfrm>
            <a:off x="8305800" y="2943225"/>
            <a:ext cx="3048000" cy="276225"/>
          </a:xfrm>
          <a:prstGeom prst="rect">
            <a:avLst/>
          </a:prstGeom>
          <a:noFill/>
          <a:ln w="0">
            <a:noFill/>
          </a:ln>
        </p:spPr>
        <p:txBody>
          <a:bodyPr wrap="square" lIns="0" tIns="0" rIns="0" bIns="0" anchor="t">
            <a:noAutofit/>
          </a:bodyPr>
          <a:lstStyle>
            <a:defPPr>
              <a:defRPr sz="1500" b="0">
                <a:solidFill>
                  <a:srgbClr val="617770"/>
                </a:solidFill>
                <a:latin typeface="微软雅黑" panose="020B0503020204020204" charset="-122"/>
                <a:ea typeface="微软雅黑" panose="020B0503020204020204" charset="-122"/>
                <a:cs typeface="微软雅黑" panose="020B0503020204020204" charset="-122"/>
              </a:defRPr>
            </a:defPPr>
            <a:lvl1pPr>
              <a:defRPr sz="1500" b="0">
                <a:solidFill>
                  <a:srgbClr val="617770"/>
                </a:solidFill>
                <a:latin typeface="微软雅黑" panose="020B0503020204020204" charset="-122"/>
                <a:ea typeface="微软雅黑" panose="020B0503020204020204" charset="-122"/>
                <a:cs typeface="微软雅黑" panose="020B0503020204020204" charset="-122"/>
              </a:defRPr>
            </a:lvl1pPr>
            <a:lvl2pPr>
              <a:defRPr sz="1500" b="0">
                <a:solidFill>
                  <a:srgbClr val="617770"/>
                </a:solidFill>
                <a:latin typeface="微软雅黑" panose="020B0503020204020204" charset="-122"/>
                <a:ea typeface="微软雅黑" panose="020B0503020204020204" charset="-122"/>
                <a:cs typeface="微软雅黑" panose="020B0503020204020204" charset="-122"/>
              </a:defRPr>
            </a:lvl2pPr>
            <a:lvl3pPr>
              <a:defRPr sz="1500" b="0">
                <a:solidFill>
                  <a:srgbClr val="617770"/>
                </a:solidFill>
                <a:latin typeface="微软雅黑" panose="020B0503020204020204" charset="-122"/>
                <a:ea typeface="微软雅黑" panose="020B0503020204020204" charset="-122"/>
                <a:cs typeface="微软雅黑" panose="020B0503020204020204" charset="-122"/>
              </a:defRPr>
            </a:lvl3pPr>
            <a:lvl4pPr>
              <a:defRPr sz="1500" b="0">
                <a:solidFill>
                  <a:srgbClr val="617770"/>
                </a:solidFill>
                <a:latin typeface="微软雅黑" panose="020B0503020204020204" charset="-122"/>
                <a:ea typeface="微软雅黑" panose="020B0503020204020204" charset="-122"/>
                <a:cs typeface="微软雅黑" panose="020B0503020204020204" charset="-122"/>
              </a:defRPr>
            </a:lvl4pPr>
            <a:lvl5pPr>
              <a:defRPr sz="1500" b="0">
                <a:solidFill>
                  <a:srgbClr val="617770"/>
                </a:solidFill>
                <a:latin typeface="微软雅黑" panose="020B0503020204020204" charset="-122"/>
                <a:ea typeface="微软雅黑" panose="020B0503020204020204" charset="-122"/>
                <a:cs typeface="微软雅黑" panose="020B0503020204020204" charset="-122"/>
              </a:defRPr>
            </a:lvl5pPr>
            <a:lvl6pPr>
              <a:defRPr sz="1500" b="0">
                <a:solidFill>
                  <a:srgbClr val="617770"/>
                </a:solidFill>
                <a:latin typeface="微软雅黑" panose="020B0503020204020204" charset="-122"/>
                <a:ea typeface="微软雅黑" panose="020B0503020204020204" charset="-122"/>
                <a:cs typeface="微软雅黑" panose="020B0503020204020204" charset="-122"/>
              </a:defRPr>
            </a:lvl6pPr>
            <a:lvl7pPr>
              <a:defRPr sz="1500" b="0">
                <a:solidFill>
                  <a:srgbClr val="617770"/>
                </a:solidFill>
                <a:latin typeface="微软雅黑" panose="020B0503020204020204" charset="-122"/>
                <a:ea typeface="微软雅黑" panose="020B0503020204020204" charset="-122"/>
                <a:cs typeface="微软雅黑" panose="020B0503020204020204" charset="-122"/>
              </a:defRPr>
            </a:lvl7pPr>
            <a:lvl8pPr>
              <a:defRPr sz="1500" b="0">
                <a:solidFill>
                  <a:srgbClr val="617770"/>
                </a:solidFill>
                <a:latin typeface="微软雅黑" panose="020B0503020204020204" charset="-122"/>
                <a:ea typeface="微软雅黑" panose="020B0503020204020204" charset="-122"/>
                <a:cs typeface="微软雅黑" panose="020B0503020204020204" charset="-122"/>
              </a:defRPr>
            </a:lvl8pPr>
            <a:lvl9pPr>
              <a:defRPr sz="15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617770"/>
                </a:solidFill>
                <a:latin typeface="微软雅黑" panose="020B0503020204020204" charset="-122"/>
                <a:ea typeface="微软雅黑" panose="020B0503020204020204" charset="-122"/>
                <a:cs typeface="微软雅黑" panose="020B0503020204020204" charset="-122"/>
              </a:defRPr>
            </a:pPr>
            <a:r>
              <a:rPr sz="1500" b="0">
                <a:solidFill>
                  <a:srgbClr val="617770"/>
                </a:solidFill>
                <a:latin typeface="微软雅黑" panose="020B0503020204020204" charset="-122"/>
                <a:ea typeface="微软雅黑" panose="020B0503020204020204" charset="-122"/>
                <a:cs typeface="微软雅黑" panose="020B0503020204020204" charset="-122"/>
              </a:rPr>
              <a:t>supported</a:t>
            </a:r>
            <a:endParaRPr sz="1500"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20" name="Control over replies"/>
          <p:cNvSpPr>
            <a:spLocks noGrp="1"/>
          </p:cNvSpPr>
          <p:nvPr/>
        </p:nvSpPr>
        <p:spPr>
          <a:xfrm>
            <a:off x="8286750" y="3371850"/>
            <a:ext cx="3086100" cy="333375"/>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defRPr sz="1875" b="1">
                <a:solidFill>
                  <a:srgbClr val="173F39"/>
                </a:solidFill>
                <a:latin typeface="微软雅黑" panose="020B0503020204020204" charset="-122"/>
                <a:ea typeface="微软雅黑" panose="020B0503020204020204" charset="-122"/>
                <a:cs typeface="微软雅黑" panose="020B0503020204020204" charset="-122"/>
              </a:defRPr>
            </a:lvl1pPr>
            <a:lvl2pPr>
              <a:defRPr sz="1875" b="1">
                <a:solidFill>
                  <a:srgbClr val="173F39"/>
                </a:solidFill>
                <a:latin typeface="微软雅黑" panose="020B0503020204020204" charset="-122"/>
                <a:ea typeface="微软雅黑" panose="020B0503020204020204" charset="-122"/>
                <a:cs typeface="微软雅黑" panose="020B0503020204020204" charset="-122"/>
              </a:defRPr>
            </a:lvl2pPr>
            <a:lvl3pPr>
              <a:defRPr sz="1875" b="1">
                <a:solidFill>
                  <a:srgbClr val="173F39"/>
                </a:solidFill>
                <a:latin typeface="微软雅黑" panose="020B0503020204020204" charset="-122"/>
                <a:ea typeface="微软雅黑" panose="020B0503020204020204" charset="-122"/>
                <a:cs typeface="微软雅黑" panose="020B0503020204020204" charset="-122"/>
              </a:defRPr>
            </a:lvl3pPr>
            <a:lvl4pPr>
              <a:defRPr sz="1875" b="1">
                <a:solidFill>
                  <a:srgbClr val="173F39"/>
                </a:solidFill>
                <a:latin typeface="微软雅黑" panose="020B0503020204020204" charset="-122"/>
                <a:ea typeface="微软雅黑" panose="020B0503020204020204" charset="-122"/>
                <a:cs typeface="微软雅黑" panose="020B0503020204020204" charset="-122"/>
              </a:defRPr>
            </a:lvl4pPr>
            <a:lvl5pPr>
              <a:defRPr sz="1875" b="1">
                <a:solidFill>
                  <a:srgbClr val="173F39"/>
                </a:solidFill>
                <a:latin typeface="微软雅黑" panose="020B0503020204020204" charset="-122"/>
                <a:ea typeface="微软雅黑" panose="020B0503020204020204" charset="-122"/>
                <a:cs typeface="微软雅黑" panose="020B0503020204020204" charset="-122"/>
              </a:defRPr>
            </a:lvl5pPr>
            <a:lvl6pPr>
              <a:defRPr sz="1875" b="1">
                <a:solidFill>
                  <a:srgbClr val="173F39"/>
                </a:solidFill>
                <a:latin typeface="微软雅黑" panose="020B0503020204020204" charset="-122"/>
                <a:ea typeface="微软雅黑" panose="020B0503020204020204" charset="-122"/>
                <a:cs typeface="微软雅黑" panose="020B0503020204020204" charset="-122"/>
              </a:defRPr>
            </a:lvl6pPr>
            <a:lvl7pPr>
              <a:defRPr sz="1875" b="1">
                <a:solidFill>
                  <a:srgbClr val="173F39"/>
                </a:solidFill>
                <a:latin typeface="微软雅黑" panose="020B0503020204020204" charset="-122"/>
                <a:ea typeface="微软雅黑" panose="020B0503020204020204" charset="-122"/>
                <a:cs typeface="微软雅黑" panose="020B0503020204020204" charset="-122"/>
              </a:defRPr>
            </a:lvl7pPr>
            <a:lvl8pPr>
              <a:defRPr sz="1875" b="1">
                <a:solidFill>
                  <a:srgbClr val="173F39"/>
                </a:solidFill>
                <a:latin typeface="微软雅黑" panose="020B0503020204020204" charset="-122"/>
                <a:ea typeface="微软雅黑" panose="020B0503020204020204" charset="-122"/>
                <a:cs typeface="微软雅黑" panose="020B0503020204020204" charset="-122"/>
              </a:defRPr>
            </a:lvl8pPr>
            <a:lvl9pPr>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r>
              <a:rPr sz="1875" b="1">
                <a:solidFill>
                  <a:srgbClr val="173F39"/>
                </a:solidFill>
                <a:latin typeface="微软雅黑" panose="020B0503020204020204" charset="-122"/>
                <a:ea typeface="微软雅黑" panose="020B0503020204020204" charset="-122"/>
                <a:cs typeface="微软雅黑" panose="020B0503020204020204" charset="-122"/>
              </a:rPr>
              <a:t>Control over replies</a:t>
            </a:r>
            <a:endParaRPr sz="187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1" name="20 mixed"/>
          <p:cNvSpPr>
            <a:spLocks noGrp="1"/>
          </p:cNvSpPr>
          <p:nvPr/>
        </p:nvSpPr>
        <p:spPr>
          <a:xfrm>
            <a:off x="8286750" y="3771900"/>
            <a:ext cx="3086100" cy="276225"/>
          </a:xfrm>
          <a:prstGeom prst="rect">
            <a:avLst/>
          </a:prstGeom>
          <a:noFill/>
          <a:ln w="0">
            <a:noFill/>
          </a:ln>
        </p:spPr>
        <p:txBody>
          <a:bodyPr wrap="square" lIns="0" tIns="0" rIns="0" bIns="0" anchor="t">
            <a:noAutofit/>
          </a:bodyPr>
          <a:lstStyle>
            <a:defPPr>
              <a:defRPr sz="1575" b="1">
                <a:solidFill>
                  <a:srgbClr val="B5752F"/>
                </a:solidFill>
                <a:latin typeface="微软雅黑" panose="020B0503020204020204" charset="-122"/>
                <a:ea typeface="微软雅黑" panose="020B0503020204020204" charset="-122"/>
                <a:cs typeface="微软雅黑" panose="020B0503020204020204" charset="-122"/>
              </a:defRPr>
            </a:defPPr>
            <a:lvl1pPr>
              <a:defRPr sz="1575" b="1">
                <a:solidFill>
                  <a:srgbClr val="B5752F"/>
                </a:solidFill>
                <a:latin typeface="微软雅黑" panose="020B0503020204020204" charset="-122"/>
                <a:ea typeface="微软雅黑" panose="020B0503020204020204" charset="-122"/>
                <a:cs typeface="微软雅黑" panose="020B0503020204020204" charset="-122"/>
              </a:defRPr>
            </a:lvl1pPr>
            <a:lvl2pPr>
              <a:defRPr sz="1575" b="1">
                <a:solidFill>
                  <a:srgbClr val="B5752F"/>
                </a:solidFill>
                <a:latin typeface="微软雅黑" panose="020B0503020204020204" charset="-122"/>
                <a:ea typeface="微软雅黑" panose="020B0503020204020204" charset="-122"/>
                <a:cs typeface="微软雅黑" panose="020B0503020204020204" charset="-122"/>
              </a:defRPr>
            </a:lvl2pPr>
            <a:lvl3pPr>
              <a:defRPr sz="1575" b="1">
                <a:solidFill>
                  <a:srgbClr val="B5752F"/>
                </a:solidFill>
                <a:latin typeface="微软雅黑" panose="020B0503020204020204" charset="-122"/>
                <a:ea typeface="微软雅黑" panose="020B0503020204020204" charset="-122"/>
                <a:cs typeface="微软雅黑" panose="020B0503020204020204" charset="-122"/>
              </a:defRPr>
            </a:lvl3pPr>
            <a:lvl4pPr>
              <a:defRPr sz="1575" b="1">
                <a:solidFill>
                  <a:srgbClr val="B5752F"/>
                </a:solidFill>
                <a:latin typeface="微软雅黑" panose="020B0503020204020204" charset="-122"/>
                <a:ea typeface="微软雅黑" panose="020B0503020204020204" charset="-122"/>
                <a:cs typeface="微软雅黑" panose="020B0503020204020204" charset="-122"/>
              </a:defRPr>
            </a:lvl4pPr>
            <a:lvl5pPr>
              <a:defRPr sz="1575" b="1">
                <a:solidFill>
                  <a:srgbClr val="B5752F"/>
                </a:solidFill>
                <a:latin typeface="微软雅黑" panose="020B0503020204020204" charset="-122"/>
                <a:ea typeface="微软雅黑" panose="020B0503020204020204" charset="-122"/>
                <a:cs typeface="微软雅黑" panose="020B0503020204020204" charset="-122"/>
              </a:defRPr>
            </a:lvl5pPr>
            <a:lvl6pPr>
              <a:defRPr sz="1575" b="1">
                <a:solidFill>
                  <a:srgbClr val="B5752F"/>
                </a:solidFill>
                <a:latin typeface="微软雅黑" panose="020B0503020204020204" charset="-122"/>
                <a:ea typeface="微软雅黑" panose="020B0503020204020204" charset="-122"/>
                <a:cs typeface="微软雅黑" panose="020B0503020204020204" charset="-122"/>
              </a:defRPr>
            </a:lvl6pPr>
            <a:lvl7pPr>
              <a:defRPr sz="1575" b="1">
                <a:solidFill>
                  <a:srgbClr val="B5752F"/>
                </a:solidFill>
                <a:latin typeface="微软雅黑" panose="020B0503020204020204" charset="-122"/>
                <a:ea typeface="微软雅黑" panose="020B0503020204020204" charset="-122"/>
                <a:cs typeface="微软雅黑" panose="020B0503020204020204" charset="-122"/>
              </a:defRPr>
            </a:lvl7pPr>
            <a:lvl8pPr>
              <a:defRPr sz="1575" b="1">
                <a:solidFill>
                  <a:srgbClr val="B5752F"/>
                </a:solidFill>
                <a:latin typeface="微软雅黑" panose="020B0503020204020204" charset="-122"/>
                <a:ea typeface="微软雅黑" panose="020B0503020204020204" charset="-122"/>
                <a:cs typeface="微软雅黑" panose="020B0503020204020204" charset="-122"/>
              </a:defRPr>
            </a:lvl8pPr>
            <a:lvl9pPr>
              <a:defRPr sz="1575"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75" b="1">
                <a:solidFill>
                  <a:srgbClr val="B5752F"/>
                </a:solidFill>
                <a:latin typeface="微软雅黑" panose="020B0503020204020204" charset="-122"/>
                <a:ea typeface="微软雅黑" panose="020B0503020204020204" charset="-122"/>
                <a:cs typeface="微软雅黑" panose="020B0503020204020204" charset="-122"/>
              </a:defRPr>
            </a:pPr>
            <a:r>
              <a:rPr sz="1575" b="1">
                <a:solidFill>
                  <a:srgbClr val="B5752F"/>
                </a:solidFill>
                <a:latin typeface="微软雅黑" panose="020B0503020204020204" charset="-122"/>
                <a:ea typeface="微软雅黑" panose="020B0503020204020204" charset="-122"/>
                <a:cs typeface="微软雅黑" panose="020B0503020204020204" charset="-122"/>
              </a:rPr>
              <a:t>20 mixed</a:t>
            </a:r>
            <a:endParaRPr sz="1575" b="1">
              <a:solidFill>
                <a:srgbClr val="B5752F"/>
              </a:solidFill>
              <a:latin typeface="微软雅黑" panose="020B0503020204020204" charset="-122"/>
              <a:ea typeface="微软雅黑" panose="020B0503020204020204" charset="-122"/>
              <a:cs typeface="微软雅黑" panose="020B0503020204020204" charset="-122"/>
            </a:endParaRPr>
          </a:p>
        </p:txBody>
      </p:sp>
      <p:sp>
        <p:nvSpPr>
          <p:cNvPr id="22" name="Edit and confirm;&#10;sending still needs care."/>
          <p:cNvSpPr>
            <a:spLocks noGrp="1"/>
          </p:cNvSpPr>
          <p:nvPr/>
        </p:nvSpPr>
        <p:spPr>
          <a:xfrm>
            <a:off x="8286750" y="4143375"/>
            <a:ext cx="3086100" cy="495300"/>
          </a:xfrm>
          <a:prstGeom prst="rect">
            <a:avLst/>
          </a:prstGeom>
          <a:noFill/>
          <a:ln w="0">
            <a:noFill/>
          </a:ln>
        </p:spPr>
        <p:txBody>
          <a:bodyPr wrap="square" lIns="0" tIns="0" rIns="0" bIns="0" anchor="t">
            <a:noAutofit/>
          </a:bodyPr>
          <a:lstStyle>
            <a:defPPr>
              <a:defRPr sz="1500" b="0">
                <a:solidFill>
                  <a:srgbClr val="173F39"/>
                </a:solidFill>
                <a:latin typeface="微软雅黑" panose="020B0503020204020204" charset="-122"/>
                <a:ea typeface="微软雅黑" panose="020B0503020204020204" charset="-122"/>
                <a:cs typeface="微软雅黑" panose="020B0503020204020204" charset="-122"/>
              </a:defRPr>
            </a:defPPr>
            <a:lvl1pPr>
              <a:defRPr sz="1500" b="0">
                <a:solidFill>
                  <a:srgbClr val="173F39"/>
                </a:solidFill>
                <a:latin typeface="微软雅黑" panose="020B0503020204020204" charset="-122"/>
                <a:ea typeface="微软雅黑" panose="020B0503020204020204" charset="-122"/>
                <a:cs typeface="微软雅黑" panose="020B0503020204020204" charset="-122"/>
              </a:defRPr>
            </a:lvl1pPr>
            <a:lvl2pPr>
              <a:defRPr sz="1500" b="0">
                <a:solidFill>
                  <a:srgbClr val="173F39"/>
                </a:solidFill>
                <a:latin typeface="微软雅黑" panose="020B0503020204020204" charset="-122"/>
                <a:ea typeface="微软雅黑" panose="020B0503020204020204" charset="-122"/>
                <a:cs typeface="微软雅黑" panose="020B0503020204020204" charset="-122"/>
              </a:defRPr>
            </a:lvl2pPr>
            <a:lvl3pPr>
              <a:defRPr sz="1500" b="0">
                <a:solidFill>
                  <a:srgbClr val="173F39"/>
                </a:solidFill>
                <a:latin typeface="微软雅黑" panose="020B0503020204020204" charset="-122"/>
                <a:ea typeface="微软雅黑" panose="020B0503020204020204" charset="-122"/>
                <a:cs typeface="微软雅黑" panose="020B0503020204020204" charset="-122"/>
              </a:defRPr>
            </a:lvl3pPr>
            <a:lvl4pPr>
              <a:defRPr sz="1500" b="0">
                <a:solidFill>
                  <a:srgbClr val="173F39"/>
                </a:solidFill>
                <a:latin typeface="微软雅黑" panose="020B0503020204020204" charset="-122"/>
                <a:ea typeface="微软雅黑" panose="020B0503020204020204" charset="-122"/>
                <a:cs typeface="微软雅黑" panose="020B0503020204020204" charset="-122"/>
              </a:defRPr>
            </a:lvl4pPr>
            <a:lvl5pPr>
              <a:defRPr sz="1500" b="0">
                <a:solidFill>
                  <a:srgbClr val="173F39"/>
                </a:solidFill>
                <a:latin typeface="微软雅黑" panose="020B0503020204020204" charset="-122"/>
                <a:ea typeface="微软雅黑" panose="020B0503020204020204" charset="-122"/>
                <a:cs typeface="微软雅黑" panose="020B0503020204020204" charset="-122"/>
              </a:defRPr>
            </a:lvl5pPr>
            <a:lvl6pPr>
              <a:defRPr sz="1500" b="0">
                <a:solidFill>
                  <a:srgbClr val="173F39"/>
                </a:solidFill>
                <a:latin typeface="微软雅黑" panose="020B0503020204020204" charset="-122"/>
                <a:ea typeface="微软雅黑" panose="020B0503020204020204" charset="-122"/>
                <a:cs typeface="微软雅黑" panose="020B0503020204020204" charset="-122"/>
              </a:defRPr>
            </a:lvl6pPr>
            <a:lvl7pPr>
              <a:defRPr sz="1500" b="0">
                <a:solidFill>
                  <a:srgbClr val="173F39"/>
                </a:solidFill>
                <a:latin typeface="微软雅黑" panose="020B0503020204020204" charset="-122"/>
                <a:ea typeface="微软雅黑" panose="020B0503020204020204" charset="-122"/>
                <a:cs typeface="微软雅黑" panose="020B0503020204020204" charset="-122"/>
              </a:defRPr>
            </a:lvl7pPr>
            <a:lvl8pPr>
              <a:defRPr sz="1500" b="0">
                <a:solidFill>
                  <a:srgbClr val="173F39"/>
                </a:solidFill>
                <a:latin typeface="微软雅黑" panose="020B0503020204020204" charset="-122"/>
                <a:ea typeface="微软雅黑" panose="020B0503020204020204" charset="-122"/>
                <a:cs typeface="微软雅黑" panose="020B0503020204020204" charset="-122"/>
              </a:defRPr>
            </a:lvl8pPr>
            <a:lvl9pPr>
              <a:defRPr sz="1500"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Edit and confirm;</a:t>
            </a:r>
            <a:endParaRPr sz="150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500" b="0">
                <a:solidFill>
                  <a:srgbClr val="173F39"/>
                </a:solidFill>
                <a:latin typeface="微软雅黑" panose="020B0503020204020204" charset="-122"/>
                <a:ea typeface="微软雅黑" panose="020B0503020204020204" charset="-122"/>
                <a:cs typeface="微软雅黑" panose="020B0503020204020204" charset="-122"/>
              </a:defRPr>
            </a:pPr>
            <a:r>
              <a:rPr sz="1500" b="0">
                <a:solidFill>
                  <a:srgbClr val="173F39"/>
                </a:solidFill>
                <a:latin typeface="微软雅黑" panose="020B0503020204020204" charset="-122"/>
                <a:ea typeface="微软雅黑" panose="020B0503020204020204" charset="-122"/>
                <a:cs typeface="微软雅黑" panose="020B0503020204020204" charset="-122"/>
              </a:rPr>
              <a:t>sending still needs care.</a:t>
            </a:r>
            <a:endParaRPr sz="1500"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3" name="All 32 favored use only in some meetings"/>
          <p:cNvSpPr>
            <a:spLocks noGrp="1"/>
          </p:cNvSpPr>
          <p:nvPr/>
        </p:nvSpPr>
        <p:spPr>
          <a:xfrm>
            <a:off x="609600" y="5029200"/>
            <a:ext cx="10972800" cy="428625"/>
          </a:xfrm>
          <a:prstGeom prst="rect">
            <a:avLst/>
          </a:prstGeom>
          <a:noFill/>
          <a:ln w="0">
            <a:noFill/>
          </a:ln>
        </p:spPr>
        <p:txBody>
          <a:bodyPr wrap="square" lIns="0" tIns="0" rIns="0" bIns="0" anchor="t">
            <a:noAutofit/>
          </a:bodyPr>
          <a:lstStyle>
            <a:defPPr>
              <a:defRPr sz="2325" b="1">
                <a:solidFill>
                  <a:srgbClr val="173F39"/>
                </a:solidFill>
                <a:latin typeface="微软雅黑" panose="020B0503020204020204" charset="-122"/>
                <a:ea typeface="微软雅黑" panose="020B0503020204020204" charset="-122"/>
                <a:cs typeface="微软雅黑" panose="020B0503020204020204" charset="-122"/>
              </a:defRPr>
            </a:defPPr>
            <a:lvl1pPr>
              <a:defRPr sz="2325" b="1">
                <a:solidFill>
                  <a:srgbClr val="173F39"/>
                </a:solidFill>
                <a:latin typeface="微软雅黑" panose="020B0503020204020204" charset="-122"/>
                <a:ea typeface="微软雅黑" panose="020B0503020204020204" charset="-122"/>
                <a:cs typeface="微软雅黑" panose="020B0503020204020204" charset="-122"/>
              </a:defRPr>
            </a:lvl1pPr>
            <a:lvl2pPr>
              <a:defRPr sz="2325" b="1">
                <a:solidFill>
                  <a:srgbClr val="173F39"/>
                </a:solidFill>
                <a:latin typeface="微软雅黑" panose="020B0503020204020204" charset="-122"/>
                <a:ea typeface="微软雅黑" panose="020B0503020204020204" charset="-122"/>
                <a:cs typeface="微软雅黑" panose="020B0503020204020204" charset="-122"/>
              </a:defRPr>
            </a:lvl2pPr>
            <a:lvl3pPr>
              <a:defRPr sz="2325" b="1">
                <a:solidFill>
                  <a:srgbClr val="173F39"/>
                </a:solidFill>
                <a:latin typeface="微软雅黑" panose="020B0503020204020204" charset="-122"/>
                <a:ea typeface="微软雅黑" panose="020B0503020204020204" charset="-122"/>
                <a:cs typeface="微软雅黑" panose="020B0503020204020204" charset="-122"/>
              </a:defRPr>
            </a:lvl3pPr>
            <a:lvl4pPr>
              <a:defRPr sz="2325" b="1">
                <a:solidFill>
                  <a:srgbClr val="173F39"/>
                </a:solidFill>
                <a:latin typeface="微软雅黑" panose="020B0503020204020204" charset="-122"/>
                <a:ea typeface="微软雅黑" panose="020B0503020204020204" charset="-122"/>
                <a:cs typeface="微软雅黑" panose="020B0503020204020204" charset="-122"/>
              </a:defRPr>
            </a:lvl4pPr>
            <a:lvl5pPr>
              <a:defRPr sz="2325" b="1">
                <a:solidFill>
                  <a:srgbClr val="173F39"/>
                </a:solidFill>
                <a:latin typeface="微软雅黑" panose="020B0503020204020204" charset="-122"/>
                <a:ea typeface="微软雅黑" panose="020B0503020204020204" charset="-122"/>
                <a:cs typeface="微软雅黑" panose="020B0503020204020204" charset="-122"/>
              </a:defRPr>
            </a:lvl5pPr>
            <a:lvl6pPr>
              <a:defRPr sz="2325" b="1">
                <a:solidFill>
                  <a:srgbClr val="173F39"/>
                </a:solidFill>
                <a:latin typeface="微软雅黑" panose="020B0503020204020204" charset="-122"/>
                <a:ea typeface="微软雅黑" panose="020B0503020204020204" charset="-122"/>
                <a:cs typeface="微软雅黑" panose="020B0503020204020204" charset="-122"/>
              </a:defRPr>
            </a:lvl6pPr>
            <a:lvl7pPr>
              <a:defRPr sz="2325" b="1">
                <a:solidFill>
                  <a:srgbClr val="173F39"/>
                </a:solidFill>
                <a:latin typeface="微软雅黑" panose="020B0503020204020204" charset="-122"/>
                <a:ea typeface="微软雅黑" panose="020B0503020204020204" charset="-122"/>
                <a:cs typeface="微软雅黑" panose="020B0503020204020204" charset="-122"/>
              </a:defRPr>
            </a:lvl7pPr>
            <a:lvl8pPr>
              <a:defRPr sz="2325" b="1">
                <a:solidFill>
                  <a:srgbClr val="173F39"/>
                </a:solidFill>
                <a:latin typeface="微软雅黑" panose="020B0503020204020204" charset="-122"/>
                <a:ea typeface="微软雅黑" panose="020B0503020204020204" charset="-122"/>
                <a:cs typeface="微软雅黑" panose="020B0503020204020204" charset="-122"/>
              </a:defRPr>
            </a:lvl8pPr>
            <a:lvl9pPr>
              <a:defRPr sz="23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325" b="1">
                <a:solidFill>
                  <a:srgbClr val="173F39"/>
                </a:solidFill>
                <a:latin typeface="微软雅黑" panose="020B0503020204020204" charset="-122"/>
                <a:ea typeface="微软雅黑" panose="020B0503020204020204" charset="-122"/>
                <a:cs typeface="微软雅黑" panose="020B0503020204020204" charset="-122"/>
              </a:defRPr>
            </a:pPr>
            <a:r>
              <a:rPr sz="2325" b="1">
                <a:solidFill>
                  <a:srgbClr val="173F39"/>
                </a:solidFill>
                <a:latin typeface="微软雅黑" panose="020B0503020204020204" charset="-122"/>
                <a:ea typeface="微软雅黑" panose="020B0503020204020204" charset="-122"/>
                <a:cs typeface="微软雅黑" panose="020B0503020204020204" charset="-122"/>
              </a:rPr>
              <a:t>All 32 favored use only in some meetings</a:t>
            </a:r>
            <a:endParaRPr sz="23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4" name="Best fit: working on another task while remaining available&#10;"/>
          <p:cNvSpPr>
            <a:spLocks noGrp="1"/>
          </p:cNvSpPr>
          <p:nvPr/>
        </p:nvSpPr>
        <p:spPr>
          <a:xfrm>
            <a:off x="609600" y="5562600"/>
            <a:ext cx="10972800" cy="647700"/>
          </a:xfrm>
          <a:prstGeom prst="rect">
            <a:avLst/>
          </a:prstGeom>
          <a:noFill/>
          <a:ln w="0">
            <a:noFill/>
          </a:ln>
        </p:spPr>
        <p:txBody>
          <a:bodyPr wrap="square" lIns="0" tIns="0" rIns="0" bIns="0" anchor="t">
            <a:noAutofit/>
          </a:bodyPr>
          <a:lstStyle>
            <a:defPPr>
              <a:defRPr sz="1950" b="0">
                <a:solidFill>
                  <a:srgbClr val="173F39"/>
                </a:solidFill>
                <a:latin typeface="微软雅黑" panose="020B0503020204020204" charset="-122"/>
                <a:ea typeface="微软雅黑" panose="020B0503020204020204" charset="-122"/>
                <a:cs typeface="微软雅黑" panose="020B0503020204020204" charset="-122"/>
              </a:defRPr>
            </a:defPPr>
            <a:lvl1pPr>
              <a:defRPr sz="1950" b="0">
                <a:solidFill>
                  <a:srgbClr val="173F39"/>
                </a:solidFill>
                <a:latin typeface="微软雅黑" panose="020B0503020204020204" charset="-122"/>
                <a:ea typeface="微软雅黑" panose="020B0503020204020204" charset="-122"/>
                <a:cs typeface="微软雅黑" panose="020B0503020204020204" charset="-122"/>
              </a:defRPr>
            </a:lvl1pPr>
            <a:lvl2pPr>
              <a:defRPr sz="1950" b="0">
                <a:solidFill>
                  <a:srgbClr val="173F39"/>
                </a:solidFill>
                <a:latin typeface="微软雅黑" panose="020B0503020204020204" charset="-122"/>
                <a:ea typeface="微软雅黑" panose="020B0503020204020204" charset="-122"/>
                <a:cs typeface="微软雅黑" panose="020B0503020204020204" charset="-122"/>
              </a:defRPr>
            </a:lvl2pPr>
            <a:lvl3pPr>
              <a:defRPr sz="1950" b="0">
                <a:solidFill>
                  <a:srgbClr val="173F39"/>
                </a:solidFill>
                <a:latin typeface="微软雅黑" panose="020B0503020204020204" charset="-122"/>
                <a:ea typeface="微软雅黑" panose="020B0503020204020204" charset="-122"/>
                <a:cs typeface="微软雅黑" panose="020B0503020204020204" charset="-122"/>
              </a:defRPr>
            </a:lvl3pPr>
            <a:lvl4pPr>
              <a:defRPr sz="1950" b="0">
                <a:solidFill>
                  <a:srgbClr val="173F39"/>
                </a:solidFill>
                <a:latin typeface="微软雅黑" panose="020B0503020204020204" charset="-122"/>
                <a:ea typeface="微软雅黑" panose="020B0503020204020204" charset="-122"/>
                <a:cs typeface="微软雅黑" panose="020B0503020204020204" charset="-122"/>
              </a:defRPr>
            </a:lvl4pPr>
            <a:lvl5pPr>
              <a:defRPr sz="1950" b="0">
                <a:solidFill>
                  <a:srgbClr val="173F39"/>
                </a:solidFill>
                <a:latin typeface="微软雅黑" panose="020B0503020204020204" charset="-122"/>
                <a:ea typeface="微软雅黑" panose="020B0503020204020204" charset="-122"/>
                <a:cs typeface="微软雅黑" panose="020B0503020204020204" charset="-122"/>
              </a:defRPr>
            </a:lvl5pPr>
            <a:lvl6pPr>
              <a:defRPr sz="1950" b="0">
                <a:solidFill>
                  <a:srgbClr val="173F39"/>
                </a:solidFill>
                <a:latin typeface="微软雅黑" panose="020B0503020204020204" charset="-122"/>
                <a:ea typeface="微软雅黑" panose="020B0503020204020204" charset="-122"/>
                <a:cs typeface="微软雅黑" panose="020B0503020204020204" charset="-122"/>
              </a:defRPr>
            </a:lvl6pPr>
            <a:lvl7pPr>
              <a:defRPr sz="1950" b="0">
                <a:solidFill>
                  <a:srgbClr val="173F39"/>
                </a:solidFill>
                <a:latin typeface="微软雅黑" panose="020B0503020204020204" charset="-122"/>
                <a:ea typeface="微软雅黑" panose="020B0503020204020204" charset="-122"/>
                <a:cs typeface="微软雅黑" panose="020B0503020204020204" charset="-122"/>
              </a:defRPr>
            </a:lvl7pPr>
            <a:lvl8pPr>
              <a:defRPr sz="1950" b="0">
                <a:solidFill>
                  <a:srgbClr val="173F39"/>
                </a:solidFill>
                <a:latin typeface="微软雅黑" panose="020B0503020204020204" charset="-122"/>
                <a:ea typeface="微软雅黑" panose="020B0503020204020204" charset="-122"/>
                <a:cs typeface="微软雅黑" panose="020B0503020204020204" charset="-122"/>
              </a:defRPr>
            </a:lvl8pPr>
            <a:lvl9pPr>
              <a:defRPr sz="1950"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950" b="0">
                <a:solidFill>
                  <a:srgbClr val="173F39"/>
                </a:solidFill>
                <a:latin typeface="微软雅黑" panose="020B0503020204020204" charset="-122"/>
                <a:ea typeface="微软雅黑" panose="020B0503020204020204" charset="-122"/>
                <a:cs typeface="微软雅黑" panose="020B0503020204020204" charset="-122"/>
              </a:defRPr>
            </a:pPr>
            <a:r>
              <a:rPr sz="1950" b="0">
                <a:solidFill>
                  <a:srgbClr val="173F39"/>
                </a:solidFill>
                <a:latin typeface="微软雅黑" panose="020B0503020204020204" charset="-122"/>
                <a:ea typeface="微软雅黑" panose="020B0503020204020204" charset="-122"/>
                <a:cs typeface="微软雅黑" panose="020B0503020204020204" charset="-122"/>
              </a:rPr>
              <a:t>Best fit: working on another task while remaining available</a:t>
            </a:r>
            <a:endParaRPr sz="1950"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950" b="0">
                <a:solidFill>
                  <a:srgbClr val="173F39"/>
                </a:solidFill>
                <a:latin typeface="微软雅黑" panose="020B0503020204020204" charset="-122"/>
                <a:ea typeface="微软雅黑" panose="020B0503020204020204" charset="-122"/>
                <a:cs typeface="微软雅黑" panose="020B0503020204020204" charset="-122"/>
              </a:defRPr>
            </a:pPr>
            <a:r>
              <a:rPr sz="1950" b="0">
                <a:solidFill>
                  <a:srgbClr val="173F39"/>
                </a:solidFill>
                <a:latin typeface="微软雅黑" panose="020B0503020204020204" charset="-122"/>
                <a:ea typeface="微软雅黑" panose="020B0503020204020204" charset="-122"/>
                <a:cs typeface="微软雅黑" panose="020B0503020204020204" charset="-122"/>
              </a:rPr>
              <a:t>for key decisions.</a:t>
            </a:r>
            <a:endParaRPr sz="1950"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5" name="Judgments, not measured task gains. 11 model configurations;"/>
          <p:cNvSpPr>
            <a:spLocks noGrp="1"/>
          </p:cNvSpPr>
          <p:nvPr/>
        </p:nvSpPr>
        <p:spPr>
          <a:xfrm>
            <a:off x="609600" y="6419850"/>
            <a:ext cx="9667875" cy="247650"/>
          </a:xfrm>
          <a:prstGeom prst="rect">
            <a:avLst/>
          </a:prstGeom>
          <a:noFill/>
          <a:ln w="0">
            <a:noFill/>
          </a:ln>
        </p:spPr>
        <p:txBody>
          <a:bodyPr wrap="square" lIns="0" tIns="0" rIns="0" bIns="0" anchor="t">
            <a:noAutofit/>
          </a:bodyPr>
          <a:lstStyle>
            <a:defPPr>
              <a:defRPr sz="1200" b="0">
                <a:solidFill>
                  <a:srgbClr val="617770"/>
                </a:solidFill>
                <a:latin typeface="微软雅黑" panose="020B0503020204020204" charset="-122"/>
                <a:ea typeface="微软雅黑" panose="020B0503020204020204" charset="-122"/>
                <a:cs typeface="微软雅黑" panose="020B0503020204020204" charset="-122"/>
              </a:defRPr>
            </a:defPPr>
            <a:lvl1pPr>
              <a:defRPr sz="1200" b="0">
                <a:solidFill>
                  <a:srgbClr val="617770"/>
                </a:solidFill>
                <a:latin typeface="微软雅黑" panose="020B0503020204020204" charset="-122"/>
                <a:ea typeface="微软雅黑" panose="020B0503020204020204" charset="-122"/>
                <a:cs typeface="微软雅黑" panose="020B0503020204020204" charset="-122"/>
              </a:defRPr>
            </a:lvl1pPr>
            <a:lvl2pPr>
              <a:defRPr sz="1200" b="0">
                <a:solidFill>
                  <a:srgbClr val="617770"/>
                </a:solidFill>
                <a:latin typeface="微软雅黑" panose="020B0503020204020204" charset="-122"/>
                <a:ea typeface="微软雅黑" panose="020B0503020204020204" charset="-122"/>
                <a:cs typeface="微软雅黑" panose="020B0503020204020204" charset="-122"/>
              </a:defRPr>
            </a:lvl2pPr>
            <a:lvl3pPr>
              <a:defRPr sz="1200" b="0">
                <a:solidFill>
                  <a:srgbClr val="617770"/>
                </a:solidFill>
                <a:latin typeface="微软雅黑" panose="020B0503020204020204" charset="-122"/>
                <a:ea typeface="微软雅黑" panose="020B0503020204020204" charset="-122"/>
                <a:cs typeface="微软雅黑" panose="020B0503020204020204" charset="-122"/>
              </a:defRPr>
            </a:lvl3pPr>
            <a:lvl4pPr>
              <a:defRPr sz="1200" b="0">
                <a:solidFill>
                  <a:srgbClr val="617770"/>
                </a:solidFill>
                <a:latin typeface="微软雅黑" panose="020B0503020204020204" charset="-122"/>
                <a:ea typeface="微软雅黑" panose="020B0503020204020204" charset="-122"/>
                <a:cs typeface="微软雅黑" panose="020B0503020204020204" charset="-122"/>
              </a:defRPr>
            </a:lvl4pPr>
            <a:lvl5pPr>
              <a:defRPr sz="1200" b="0">
                <a:solidFill>
                  <a:srgbClr val="617770"/>
                </a:solidFill>
                <a:latin typeface="微软雅黑" panose="020B0503020204020204" charset="-122"/>
                <a:ea typeface="微软雅黑" panose="020B0503020204020204" charset="-122"/>
                <a:cs typeface="微软雅黑" panose="020B0503020204020204" charset="-122"/>
              </a:defRPr>
            </a:lvl5pPr>
            <a:lvl6pPr>
              <a:defRPr sz="1200" b="0">
                <a:solidFill>
                  <a:srgbClr val="617770"/>
                </a:solidFill>
                <a:latin typeface="微软雅黑" panose="020B0503020204020204" charset="-122"/>
                <a:ea typeface="微软雅黑" panose="020B0503020204020204" charset="-122"/>
                <a:cs typeface="微软雅黑" panose="020B0503020204020204" charset="-122"/>
              </a:defRPr>
            </a:lvl6pPr>
            <a:lvl7pPr>
              <a:defRPr sz="1200" b="0">
                <a:solidFill>
                  <a:srgbClr val="617770"/>
                </a:solidFill>
                <a:latin typeface="微软雅黑" panose="020B0503020204020204" charset="-122"/>
                <a:ea typeface="微软雅黑" panose="020B0503020204020204" charset="-122"/>
                <a:cs typeface="微软雅黑" panose="020B0503020204020204" charset="-122"/>
              </a:defRPr>
            </a:lvl7pPr>
            <a:lvl8pPr>
              <a:defRPr sz="1200" b="0">
                <a:solidFill>
                  <a:srgbClr val="617770"/>
                </a:solidFill>
                <a:latin typeface="微软雅黑" panose="020B0503020204020204" charset="-122"/>
                <a:ea typeface="微软雅黑" panose="020B0503020204020204" charset="-122"/>
                <a:cs typeface="微软雅黑" panose="020B0503020204020204" charset="-122"/>
              </a:defRPr>
            </a:lvl8pPr>
            <a:lvl9pPr>
              <a:defRPr sz="12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00" b="0">
                <a:solidFill>
                  <a:srgbClr val="617770"/>
                </a:solidFill>
                <a:latin typeface="微软雅黑" panose="020B0503020204020204" charset="-122"/>
                <a:ea typeface="微软雅黑" panose="020B0503020204020204" charset="-122"/>
                <a:cs typeface="微软雅黑" panose="020B0503020204020204" charset="-122"/>
              </a:defRPr>
            </a:pPr>
            <a:r>
              <a:rPr sz="1200" b="0">
                <a:solidFill>
                  <a:srgbClr val="617770"/>
                </a:solidFill>
                <a:latin typeface="微软雅黑" panose="020B0503020204020204" charset="-122"/>
                <a:ea typeface="微软雅黑" panose="020B0503020204020204" charset="-122"/>
                <a:cs typeface="微软雅黑" panose="020B0503020204020204" charset="-122"/>
              </a:rPr>
              <a:t>Judgments, not measured task gains. 11 model configurations; same trace. Details in notes.</a:t>
            </a:r>
            <a:endParaRPr sz="1200" b="0">
              <a:solidFill>
                <a:srgbClr val="61777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p:sp>
        <p:nvSpPr>
          <p:cNvPr id="2" name="C    07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C    07 / 08</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3" name="Feedback led to a concrete revision"/>
          <p:cNvSpPr>
            <a:spLocks noGrp="1"/>
          </p:cNvSpPr>
          <p:nvPr/>
        </p:nvSpPr>
        <p:spPr>
          <a:xfrm>
            <a:off x="609600" y="457200"/>
            <a:ext cx="10972800" cy="742950"/>
          </a:xfrm>
          <a:prstGeom prst="rect">
            <a:avLst/>
          </a:prstGeom>
          <a:noFill/>
          <a:ln w="0">
            <a:noFill/>
          </a:ln>
        </p:spPr>
        <p:txBody>
          <a:bodyPr wrap="square" lIns="0" tIns="0" rIns="0" bIns="0" anchor="t">
            <a:noAutofit/>
          </a:bodyPr>
          <a:lstStyle>
            <a:defPPr>
              <a:defRPr sz="3225" b="1">
                <a:solidFill>
                  <a:srgbClr val="173F39"/>
                </a:solidFill>
                <a:latin typeface="微软雅黑" panose="020B0503020204020204" charset="-122"/>
                <a:ea typeface="微软雅黑" panose="020B0503020204020204" charset="-122"/>
                <a:cs typeface="微软雅黑" panose="020B0503020204020204" charset="-122"/>
              </a:defRPr>
            </a:defPPr>
            <a:lvl1pPr>
              <a:defRPr sz="3225" b="1">
                <a:solidFill>
                  <a:srgbClr val="173F39"/>
                </a:solidFill>
                <a:latin typeface="微软雅黑" panose="020B0503020204020204" charset="-122"/>
                <a:ea typeface="微软雅黑" panose="020B0503020204020204" charset="-122"/>
                <a:cs typeface="微软雅黑" panose="020B0503020204020204" charset="-122"/>
              </a:defRPr>
            </a:lvl1pPr>
            <a:lvl2pPr>
              <a:defRPr sz="3225" b="1">
                <a:solidFill>
                  <a:srgbClr val="173F39"/>
                </a:solidFill>
                <a:latin typeface="微软雅黑" panose="020B0503020204020204" charset="-122"/>
                <a:ea typeface="微软雅黑" panose="020B0503020204020204" charset="-122"/>
                <a:cs typeface="微软雅黑" panose="020B0503020204020204" charset="-122"/>
              </a:defRPr>
            </a:lvl2pPr>
            <a:lvl3pPr>
              <a:defRPr sz="3225" b="1">
                <a:solidFill>
                  <a:srgbClr val="173F39"/>
                </a:solidFill>
                <a:latin typeface="微软雅黑" panose="020B0503020204020204" charset="-122"/>
                <a:ea typeface="微软雅黑" panose="020B0503020204020204" charset="-122"/>
                <a:cs typeface="微软雅黑" panose="020B0503020204020204" charset="-122"/>
              </a:defRPr>
            </a:lvl3pPr>
            <a:lvl4pPr>
              <a:defRPr sz="3225" b="1">
                <a:solidFill>
                  <a:srgbClr val="173F39"/>
                </a:solidFill>
                <a:latin typeface="微软雅黑" panose="020B0503020204020204" charset="-122"/>
                <a:ea typeface="微软雅黑" panose="020B0503020204020204" charset="-122"/>
                <a:cs typeface="微软雅黑" panose="020B0503020204020204" charset="-122"/>
              </a:defRPr>
            </a:lvl4pPr>
            <a:lvl5pPr>
              <a:defRPr sz="3225" b="1">
                <a:solidFill>
                  <a:srgbClr val="173F39"/>
                </a:solidFill>
                <a:latin typeface="微软雅黑" panose="020B0503020204020204" charset="-122"/>
                <a:ea typeface="微软雅黑" panose="020B0503020204020204" charset="-122"/>
                <a:cs typeface="微软雅黑" panose="020B0503020204020204" charset="-122"/>
              </a:defRPr>
            </a:lvl5pPr>
            <a:lvl6pPr>
              <a:defRPr sz="3225" b="1">
                <a:solidFill>
                  <a:srgbClr val="173F39"/>
                </a:solidFill>
                <a:latin typeface="微软雅黑" panose="020B0503020204020204" charset="-122"/>
                <a:ea typeface="微软雅黑" panose="020B0503020204020204" charset="-122"/>
                <a:cs typeface="微软雅黑" panose="020B0503020204020204" charset="-122"/>
              </a:defRPr>
            </a:lvl6pPr>
            <a:lvl7pPr>
              <a:defRPr sz="3225" b="1">
                <a:solidFill>
                  <a:srgbClr val="173F39"/>
                </a:solidFill>
                <a:latin typeface="微软雅黑" panose="020B0503020204020204" charset="-122"/>
                <a:ea typeface="微软雅黑" panose="020B0503020204020204" charset="-122"/>
                <a:cs typeface="微软雅黑" panose="020B0503020204020204" charset="-122"/>
              </a:defRPr>
            </a:lvl7pPr>
            <a:lvl8pPr>
              <a:defRPr sz="3225" b="1">
                <a:solidFill>
                  <a:srgbClr val="173F39"/>
                </a:solidFill>
                <a:latin typeface="微软雅黑" panose="020B0503020204020204" charset="-122"/>
                <a:ea typeface="微软雅黑" panose="020B0503020204020204" charset="-122"/>
                <a:cs typeface="微软雅黑" panose="020B0503020204020204" charset="-122"/>
              </a:defRPr>
            </a:lvl8pPr>
            <a:lvl9pPr>
              <a:defRPr sz="32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225" b="1">
                <a:solidFill>
                  <a:srgbClr val="173F39"/>
                </a:solidFill>
                <a:latin typeface="微软雅黑" panose="020B0503020204020204" charset="-122"/>
                <a:ea typeface="微软雅黑" panose="020B0503020204020204" charset="-122"/>
                <a:cs typeface="微软雅黑" panose="020B0503020204020204" charset="-122"/>
              </a:defRPr>
            </a:pPr>
            <a:r>
              <a:rPr sz="3225" b="1">
                <a:solidFill>
                  <a:srgbClr val="173F39"/>
                </a:solidFill>
                <a:latin typeface="微软雅黑" panose="020B0503020204020204" charset="-122"/>
                <a:ea typeface="微软雅黑" panose="020B0503020204020204" charset="-122"/>
                <a:cs typeface="微软雅黑" panose="020B0503020204020204" charset="-122"/>
              </a:rPr>
              <a:t>Feedback led to a concrete revision</a:t>
            </a:r>
            <a:endParaRPr sz="32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4" name="Revision block"/>
          <p:cNvSpPr>
            <a:spLocks noGrp="1"/>
          </p:cNvSpPr>
          <p:nvPr/>
        </p:nvSpPr>
        <p:spPr>
          <a:xfrm>
            <a:off x="609600" y="1504950"/>
            <a:ext cx="5334000" cy="1866900"/>
          </a:xfrm>
          <a:prstGeom prst="rect">
            <a:avLst/>
          </a:prstGeom>
          <a:solidFill>
            <a:srgbClr val="E7EEE7"/>
          </a:solidFill>
          <a:ln w="0">
            <a:noFill/>
          </a:ln>
        </p:spPr>
      </p:sp>
      <p:sp>
        <p:nvSpPr>
          <p:cNvPr id="5" name="Revision block"/>
          <p:cNvSpPr>
            <a:spLocks noGrp="1"/>
          </p:cNvSpPr>
          <p:nvPr/>
        </p:nvSpPr>
        <p:spPr>
          <a:xfrm>
            <a:off x="6248400" y="1504950"/>
            <a:ext cx="5334000" cy="1866900"/>
          </a:xfrm>
          <a:prstGeom prst="rect">
            <a:avLst/>
          </a:prstGeom>
          <a:solidFill>
            <a:srgbClr val="E7EEE7"/>
          </a:solidFill>
          <a:ln w="0">
            <a:noFill/>
          </a:ln>
        </p:spPr>
      </p:sp>
      <p:sp>
        <p:nvSpPr>
          <p:cNvPr id="6" name="OBSERVED PROBLEM"/>
          <p:cNvSpPr>
            <a:spLocks noGrp="1"/>
          </p:cNvSpPr>
          <p:nvPr/>
        </p:nvSpPr>
        <p:spPr>
          <a:xfrm>
            <a:off x="819150" y="1685925"/>
            <a:ext cx="4914900" cy="342900"/>
          </a:xfrm>
          <a:prstGeom prst="rect">
            <a:avLst/>
          </a:prstGeom>
          <a:noFill/>
          <a:ln w="0">
            <a:noFill/>
          </a:ln>
        </p:spPr>
        <p:txBody>
          <a:bodyPr wrap="square" lIns="0" tIns="0" rIns="0" bIns="0" anchor="t">
            <a:noAutofit/>
          </a:bodyPr>
          <a:lstStyle>
            <a:defPPr>
              <a:defRPr sz="1650" b="1">
                <a:solidFill>
                  <a:srgbClr val="B5752F"/>
                </a:solidFill>
                <a:latin typeface="微软雅黑" panose="020B0503020204020204" charset="-122"/>
                <a:ea typeface="微软雅黑" panose="020B0503020204020204" charset="-122"/>
                <a:cs typeface="微软雅黑" panose="020B0503020204020204" charset="-122"/>
              </a:defRPr>
            </a:defPPr>
            <a:lvl1pPr>
              <a:defRPr sz="1650" b="1">
                <a:solidFill>
                  <a:srgbClr val="B5752F"/>
                </a:solidFill>
                <a:latin typeface="微软雅黑" panose="020B0503020204020204" charset="-122"/>
                <a:ea typeface="微软雅黑" panose="020B0503020204020204" charset="-122"/>
                <a:cs typeface="微软雅黑" panose="020B0503020204020204" charset="-122"/>
              </a:defRPr>
            </a:lvl1pPr>
            <a:lvl2pPr>
              <a:defRPr sz="1650" b="1">
                <a:solidFill>
                  <a:srgbClr val="B5752F"/>
                </a:solidFill>
                <a:latin typeface="微软雅黑" panose="020B0503020204020204" charset="-122"/>
                <a:ea typeface="微软雅黑" panose="020B0503020204020204" charset="-122"/>
                <a:cs typeface="微软雅黑" panose="020B0503020204020204" charset="-122"/>
              </a:defRPr>
            </a:lvl2pPr>
            <a:lvl3pPr>
              <a:defRPr sz="1650" b="1">
                <a:solidFill>
                  <a:srgbClr val="B5752F"/>
                </a:solidFill>
                <a:latin typeface="微软雅黑" panose="020B0503020204020204" charset="-122"/>
                <a:ea typeface="微软雅黑" panose="020B0503020204020204" charset="-122"/>
                <a:cs typeface="微软雅黑" panose="020B0503020204020204" charset="-122"/>
              </a:defRPr>
            </a:lvl3pPr>
            <a:lvl4pPr>
              <a:defRPr sz="1650" b="1">
                <a:solidFill>
                  <a:srgbClr val="B5752F"/>
                </a:solidFill>
                <a:latin typeface="微软雅黑" panose="020B0503020204020204" charset="-122"/>
                <a:ea typeface="微软雅黑" panose="020B0503020204020204" charset="-122"/>
                <a:cs typeface="微软雅黑" panose="020B0503020204020204" charset="-122"/>
              </a:defRPr>
            </a:lvl4pPr>
            <a:lvl5pPr>
              <a:defRPr sz="1650" b="1">
                <a:solidFill>
                  <a:srgbClr val="B5752F"/>
                </a:solidFill>
                <a:latin typeface="微软雅黑" panose="020B0503020204020204" charset="-122"/>
                <a:ea typeface="微软雅黑" panose="020B0503020204020204" charset="-122"/>
                <a:cs typeface="微软雅黑" panose="020B0503020204020204" charset="-122"/>
              </a:defRPr>
            </a:lvl5pPr>
            <a:lvl6pPr>
              <a:defRPr sz="1650" b="1">
                <a:solidFill>
                  <a:srgbClr val="B5752F"/>
                </a:solidFill>
                <a:latin typeface="微软雅黑" panose="020B0503020204020204" charset="-122"/>
                <a:ea typeface="微软雅黑" panose="020B0503020204020204" charset="-122"/>
                <a:cs typeface="微软雅黑" panose="020B0503020204020204" charset="-122"/>
              </a:defRPr>
            </a:lvl6pPr>
            <a:lvl7pPr>
              <a:defRPr sz="1650" b="1">
                <a:solidFill>
                  <a:srgbClr val="B5752F"/>
                </a:solidFill>
                <a:latin typeface="微软雅黑" panose="020B0503020204020204" charset="-122"/>
                <a:ea typeface="微软雅黑" panose="020B0503020204020204" charset="-122"/>
                <a:cs typeface="微软雅黑" panose="020B0503020204020204" charset="-122"/>
              </a:defRPr>
            </a:lvl7pPr>
            <a:lvl8pPr>
              <a:defRPr sz="1650" b="1">
                <a:solidFill>
                  <a:srgbClr val="B5752F"/>
                </a:solidFill>
                <a:latin typeface="微软雅黑" panose="020B0503020204020204" charset="-122"/>
                <a:ea typeface="微软雅黑" panose="020B0503020204020204" charset="-122"/>
                <a:cs typeface="微软雅黑" panose="020B0503020204020204" charset="-122"/>
              </a:defRPr>
            </a:lvl8pPr>
            <a:lvl9pPr>
              <a:defRPr sz="1650"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650" b="1">
                <a:solidFill>
                  <a:srgbClr val="B5752F"/>
                </a:solidFill>
                <a:latin typeface="微软雅黑" panose="020B0503020204020204" charset="-122"/>
                <a:ea typeface="微软雅黑" panose="020B0503020204020204" charset="-122"/>
                <a:cs typeface="微软雅黑" panose="020B0503020204020204" charset="-122"/>
              </a:defRPr>
            </a:pPr>
            <a:r>
              <a:rPr sz="1650" b="1">
                <a:solidFill>
                  <a:srgbClr val="B5752F"/>
                </a:solidFill>
                <a:latin typeface="微软雅黑" panose="020B0503020204020204" charset="-122"/>
                <a:ea typeface="微软雅黑" panose="020B0503020204020204" charset="-122"/>
                <a:cs typeface="微软雅黑" panose="020B0503020204020204" charset="-122"/>
              </a:rPr>
              <a:t>OBSERVED PROBLEM</a:t>
            </a:r>
            <a:endParaRPr sz="1650" b="1">
              <a:solidFill>
                <a:srgbClr val="B5752F"/>
              </a:solidFill>
              <a:latin typeface="微软雅黑" panose="020B0503020204020204" charset="-122"/>
              <a:ea typeface="微软雅黑" panose="020B0503020204020204" charset="-122"/>
              <a:cs typeface="微软雅黑" panose="020B0503020204020204" charset="-122"/>
            </a:endParaRPr>
          </a:p>
        </p:txBody>
      </p:sp>
      <p:sp>
        <p:nvSpPr>
          <p:cNvPr id="7" name="A copied reply appeared already&#10;communicated in a later summ"/>
          <p:cNvSpPr>
            <a:spLocks noGrp="1"/>
          </p:cNvSpPr>
          <p:nvPr/>
        </p:nvSpPr>
        <p:spPr>
          <a:xfrm>
            <a:off x="819150" y="2171700"/>
            <a:ext cx="4914900" cy="952500"/>
          </a:xfrm>
          <a:prstGeom prst="rect">
            <a:avLst/>
          </a:prstGeom>
          <a:noFill/>
          <a:ln w="0">
            <a:noFill/>
          </a:ln>
        </p:spPr>
        <p:txBody>
          <a:bodyPr wrap="square" lIns="0" tIns="0" rIns="0" bIns="0" anchor="t">
            <a:noAutofit/>
          </a:bodyPr>
          <a:lstStyle>
            <a:defPPr>
              <a:defRPr sz="2100" b="1">
                <a:solidFill>
                  <a:srgbClr val="173F39"/>
                </a:solidFill>
                <a:latin typeface="微软雅黑" panose="020B0503020204020204" charset="-122"/>
                <a:ea typeface="微软雅黑" panose="020B0503020204020204" charset="-122"/>
                <a:cs typeface="微软雅黑" panose="020B0503020204020204" charset="-122"/>
              </a:defRPr>
            </a:defPPr>
            <a:lvl1pPr>
              <a:defRPr sz="2100" b="1">
                <a:solidFill>
                  <a:srgbClr val="173F39"/>
                </a:solidFill>
                <a:latin typeface="微软雅黑" panose="020B0503020204020204" charset="-122"/>
                <a:ea typeface="微软雅黑" panose="020B0503020204020204" charset="-122"/>
                <a:cs typeface="微软雅黑" panose="020B0503020204020204" charset="-122"/>
              </a:defRPr>
            </a:lvl1pPr>
            <a:lvl2pPr>
              <a:defRPr sz="2100" b="1">
                <a:solidFill>
                  <a:srgbClr val="173F39"/>
                </a:solidFill>
                <a:latin typeface="微软雅黑" panose="020B0503020204020204" charset="-122"/>
                <a:ea typeface="微软雅黑" panose="020B0503020204020204" charset="-122"/>
                <a:cs typeface="微软雅黑" panose="020B0503020204020204" charset="-122"/>
              </a:defRPr>
            </a:lvl2pPr>
            <a:lvl3pPr>
              <a:defRPr sz="2100" b="1">
                <a:solidFill>
                  <a:srgbClr val="173F39"/>
                </a:solidFill>
                <a:latin typeface="微软雅黑" panose="020B0503020204020204" charset="-122"/>
                <a:ea typeface="微软雅黑" panose="020B0503020204020204" charset="-122"/>
                <a:cs typeface="微软雅黑" panose="020B0503020204020204" charset="-122"/>
              </a:defRPr>
            </a:lvl3pPr>
            <a:lvl4pPr>
              <a:defRPr sz="2100" b="1">
                <a:solidFill>
                  <a:srgbClr val="173F39"/>
                </a:solidFill>
                <a:latin typeface="微软雅黑" panose="020B0503020204020204" charset="-122"/>
                <a:ea typeface="微软雅黑" panose="020B0503020204020204" charset="-122"/>
                <a:cs typeface="微软雅黑" panose="020B0503020204020204" charset="-122"/>
              </a:defRPr>
            </a:lvl4pPr>
            <a:lvl5pPr>
              <a:defRPr sz="2100" b="1">
                <a:solidFill>
                  <a:srgbClr val="173F39"/>
                </a:solidFill>
                <a:latin typeface="微软雅黑" panose="020B0503020204020204" charset="-122"/>
                <a:ea typeface="微软雅黑" panose="020B0503020204020204" charset="-122"/>
                <a:cs typeface="微软雅黑" panose="020B0503020204020204" charset="-122"/>
              </a:defRPr>
            </a:lvl5pPr>
            <a:lvl6pPr>
              <a:defRPr sz="2100" b="1">
                <a:solidFill>
                  <a:srgbClr val="173F39"/>
                </a:solidFill>
                <a:latin typeface="微软雅黑" panose="020B0503020204020204" charset="-122"/>
                <a:ea typeface="微软雅黑" panose="020B0503020204020204" charset="-122"/>
                <a:cs typeface="微软雅黑" panose="020B0503020204020204" charset="-122"/>
              </a:defRPr>
            </a:lvl6pPr>
            <a:lvl7pPr>
              <a:defRPr sz="2100" b="1">
                <a:solidFill>
                  <a:srgbClr val="173F39"/>
                </a:solidFill>
                <a:latin typeface="微软雅黑" panose="020B0503020204020204" charset="-122"/>
                <a:ea typeface="微软雅黑" panose="020B0503020204020204" charset="-122"/>
                <a:cs typeface="微软雅黑" panose="020B0503020204020204" charset="-122"/>
              </a:defRPr>
            </a:lvl7pPr>
            <a:lvl8pPr>
              <a:defRPr sz="2100" b="1">
                <a:solidFill>
                  <a:srgbClr val="173F39"/>
                </a:solidFill>
                <a:latin typeface="微软雅黑" panose="020B0503020204020204" charset="-122"/>
                <a:ea typeface="微软雅黑" panose="020B0503020204020204" charset="-122"/>
                <a:cs typeface="微软雅黑" panose="020B0503020204020204" charset="-122"/>
              </a:defRPr>
            </a:lvl8pPr>
            <a:lvl9pPr>
              <a:defRPr sz="21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00" b="1">
                <a:solidFill>
                  <a:srgbClr val="173F39"/>
                </a:solidFill>
                <a:latin typeface="微软雅黑" panose="020B0503020204020204" charset="-122"/>
                <a:ea typeface="微软雅黑" panose="020B0503020204020204" charset="-122"/>
                <a:cs typeface="微软雅黑" panose="020B0503020204020204" charset="-122"/>
              </a:defRPr>
            </a:pPr>
            <a:r>
              <a:rPr sz="2100" b="1">
                <a:solidFill>
                  <a:srgbClr val="173F39"/>
                </a:solidFill>
                <a:latin typeface="微软雅黑" panose="020B0503020204020204" charset="-122"/>
                <a:ea typeface="微软雅黑" panose="020B0503020204020204" charset="-122"/>
                <a:cs typeface="微软雅黑" panose="020B0503020204020204" charset="-122"/>
              </a:rPr>
              <a:t>A copied reply appeared already</a:t>
            </a:r>
            <a:endParaRPr sz="2100" b="1">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2100" b="1">
                <a:solidFill>
                  <a:srgbClr val="173F39"/>
                </a:solidFill>
                <a:latin typeface="微软雅黑" panose="020B0503020204020204" charset="-122"/>
                <a:ea typeface="微软雅黑" panose="020B0503020204020204" charset="-122"/>
                <a:cs typeface="微软雅黑" panose="020B0503020204020204" charset="-122"/>
              </a:defRPr>
            </a:pPr>
            <a:r>
              <a:rPr sz="2100" b="1">
                <a:solidFill>
                  <a:srgbClr val="173F39"/>
                </a:solidFill>
                <a:latin typeface="微软雅黑" panose="020B0503020204020204" charset="-122"/>
                <a:ea typeface="微软雅黑" panose="020B0503020204020204" charset="-122"/>
                <a:cs typeface="微软雅黑" panose="020B0503020204020204" charset="-122"/>
              </a:rPr>
              <a:t>communicated in a later summary.</a:t>
            </a:r>
            <a:endParaRPr sz="210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8" name="IMPLEMENTED CHANGE"/>
          <p:cNvSpPr>
            <a:spLocks noGrp="1"/>
          </p:cNvSpPr>
          <p:nvPr/>
        </p:nvSpPr>
        <p:spPr>
          <a:xfrm>
            <a:off x="6457950" y="1685925"/>
            <a:ext cx="4914900" cy="342900"/>
          </a:xfrm>
          <a:prstGeom prst="rect">
            <a:avLst/>
          </a:prstGeom>
          <a:noFill/>
          <a:ln w="0">
            <a:noFill/>
          </a:ln>
        </p:spPr>
        <p:txBody>
          <a:bodyPr wrap="square" lIns="0" tIns="0" rIns="0" bIns="0" anchor="t">
            <a:noAutofit/>
          </a:bodyPr>
          <a:lstStyle>
            <a:defPPr>
              <a:defRPr sz="1650" b="1">
                <a:solidFill>
                  <a:srgbClr val="617770"/>
                </a:solidFill>
                <a:latin typeface="微软雅黑" panose="020B0503020204020204" charset="-122"/>
                <a:ea typeface="微软雅黑" panose="020B0503020204020204" charset="-122"/>
                <a:cs typeface="微软雅黑" panose="020B0503020204020204" charset="-122"/>
              </a:defRPr>
            </a:defPPr>
            <a:lvl1pPr>
              <a:defRPr sz="1650" b="1">
                <a:solidFill>
                  <a:srgbClr val="617770"/>
                </a:solidFill>
                <a:latin typeface="微软雅黑" panose="020B0503020204020204" charset="-122"/>
                <a:ea typeface="微软雅黑" panose="020B0503020204020204" charset="-122"/>
                <a:cs typeface="微软雅黑" panose="020B0503020204020204" charset="-122"/>
              </a:defRPr>
            </a:lvl1pPr>
            <a:lvl2pPr>
              <a:defRPr sz="1650" b="1">
                <a:solidFill>
                  <a:srgbClr val="617770"/>
                </a:solidFill>
                <a:latin typeface="微软雅黑" panose="020B0503020204020204" charset="-122"/>
                <a:ea typeface="微软雅黑" panose="020B0503020204020204" charset="-122"/>
                <a:cs typeface="微软雅黑" panose="020B0503020204020204" charset="-122"/>
              </a:defRPr>
            </a:lvl2pPr>
            <a:lvl3pPr>
              <a:defRPr sz="1650" b="1">
                <a:solidFill>
                  <a:srgbClr val="617770"/>
                </a:solidFill>
                <a:latin typeface="微软雅黑" panose="020B0503020204020204" charset="-122"/>
                <a:ea typeface="微软雅黑" panose="020B0503020204020204" charset="-122"/>
                <a:cs typeface="微软雅黑" panose="020B0503020204020204" charset="-122"/>
              </a:defRPr>
            </a:lvl3pPr>
            <a:lvl4pPr>
              <a:defRPr sz="1650" b="1">
                <a:solidFill>
                  <a:srgbClr val="617770"/>
                </a:solidFill>
                <a:latin typeface="微软雅黑" panose="020B0503020204020204" charset="-122"/>
                <a:ea typeface="微软雅黑" panose="020B0503020204020204" charset="-122"/>
                <a:cs typeface="微软雅黑" panose="020B0503020204020204" charset="-122"/>
              </a:defRPr>
            </a:lvl4pPr>
            <a:lvl5pPr>
              <a:defRPr sz="1650" b="1">
                <a:solidFill>
                  <a:srgbClr val="617770"/>
                </a:solidFill>
                <a:latin typeface="微软雅黑" panose="020B0503020204020204" charset="-122"/>
                <a:ea typeface="微软雅黑" panose="020B0503020204020204" charset="-122"/>
                <a:cs typeface="微软雅黑" panose="020B0503020204020204" charset="-122"/>
              </a:defRPr>
            </a:lvl5pPr>
            <a:lvl6pPr>
              <a:defRPr sz="1650" b="1">
                <a:solidFill>
                  <a:srgbClr val="617770"/>
                </a:solidFill>
                <a:latin typeface="微软雅黑" panose="020B0503020204020204" charset="-122"/>
                <a:ea typeface="微软雅黑" panose="020B0503020204020204" charset="-122"/>
                <a:cs typeface="微软雅黑" panose="020B0503020204020204" charset="-122"/>
              </a:defRPr>
            </a:lvl6pPr>
            <a:lvl7pPr>
              <a:defRPr sz="1650" b="1">
                <a:solidFill>
                  <a:srgbClr val="617770"/>
                </a:solidFill>
                <a:latin typeface="微软雅黑" panose="020B0503020204020204" charset="-122"/>
                <a:ea typeface="微软雅黑" panose="020B0503020204020204" charset="-122"/>
                <a:cs typeface="微软雅黑" panose="020B0503020204020204" charset="-122"/>
              </a:defRPr>
            </a:lvl7pPr>
            <a:lvl8pPr>
              <a:defRPr sz="1650" b="1">
                <a:solidFill>
                  <a:srgbClr val="617770"/>
                </a:solidFill>
                <a:latin typeface="微软雅黑" panose="020B0503020204020204" charset="-122"/>
                <a:ea typeface="微软雅黑" panose="020B0503020204020204" charset="-122"/>
                <a:cs typeface="微软雅黑" panose="020B0503020204020204" charset="-122"/>
              </a:defRPr>
            </a:lvl8pPr>
            <a:lvl9pPr>
              <a:defRPr sz="1650"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650" b="1">
                <a:solidFill>
                  <a:srgbClr val="617770"/>
                </a:solidFill>
                <a:latin typeface="微软雅黑" panose="020B0503020204020204" charset="-122"/>
                <a:ea typeface="微软雅黑" panose="020B0503020204020204" charset="-122"/>
                <a:cs typeface="微软雅黑" panose="020B0503020204020204" charset="-122"/>
              </a:defRPr>
            </a:pPr>
            <a:r>
              <a:rPr sz="1650" b="1">
                <a:solidFill>
                  <a:srgbClr val="617770"/>
                </a:solidFill>
                <a:latin typeface="微软雅黑" panose="020B0503020204020204" charset="-122"/>
                <a:ea typeface="微软雅黑" panose="020B0503020204020204" charset="-122"/>
                <a:cs typeface="微软雅黑" panose="020B0503020204020204" charset="-122"/>
              </a:rPr>
              <a:t>IMPLEMENTED CHANGE</a:t>
            </a:r>
            <a:endParaRPr sz="1650" b="1">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9" name="Unsent drafts stay local.&#10;Delivery status is explicit.&#10;Sendi"/>
          <p:cNvSpPr>
            <a:spLocks noGrp="1"/>
          </p:cNvSpPr>
          <p:nvPr/>
        </p:nvSpPr>
        <p:spPr>
          <a:xfrm>
            <a:off x="6457950" y="2171700"/>
            <a:ext cx="4914900" cy="1028700"/>
          </a:xfrm>
          <a:prstGeom prst="rect">
            <a:avLst/>
          </a:prstGeom>
          <a:noFill/>
          <a:ln w="0">
            <a:noFill/>
          </a:ln>
        </p:spPr>
        <p:txBody>
          <a:bodyPr wrap="square" lIns="0" tIns="0" rIns="0" bIns="0" anchor="t">
            <a:noAutofit/>
          </a:bodyPr>
          <a:lstStyle>
            <a:defPPr>
              <a:defRPr sz="1875" b="0">
                <a:solidFill>
                  <a:srgbClr val="173F39"/>
                </a:solidFill>
                <a:latin typeface="微软雅黑" panose="020B0503020204020204" charset="-122"/>
                <a:ea typeface="微软雅黑" panose="020B0503020204020204" charset="-122"/>
                <a:cs typeface="微软雅黑" panose="020B0503020204020204" charset="-122"/>
              </a:defRPr>
            </a:defPPr>
            <a:lvl1pPr>
              <a:defRPr sz="1875" b="0">
                <a:solidFill>
                  <a:srgbClr val="173F39"/>
                </a:solidFill>
                <a:latin typeface="微软雅黑" panose="020B0503020204020204" charset="-122"/>
                <a:ea typeface="微软雅黑" panose="020B0503020204020204" charset="-122"/>
                <a:cs typeface="微软雅黑" panose="020B0503020204020204" charset="-122"/>
              </a:defRPr>
            </a:lvl1pPr>
            <a:lvl2pPr>
              <a:defRPr sz="1875" b="0">
                <a:solidFill>
                  <a:srgbClr val="173F39"/>
                </a:solidFill>
                <a:latin typeface="微软雅黑" panose="020B0503020204020204" charset="-122"/>
                <a:ea typeface="微软雅黑" panose="020B0503020204020204" charset="-122"/>
                <a:cs typeface="微软雅黑" panose="020B0503020204020204" charset="-122"/>
              </a:defRPr>
            </a:lvl2pPr>
            <a:lvl3pPr>
              <a:defRPr sz="1875" b="0">
                <a:solidFill>
                  <a:srgbClr val="173F39"/>
                </a:solidFill>
                <a:latin typeface="微软雅黑" panose="020B0503020204020204" charset="-122"/>
                <a:ea typeface="微软雅黑" panose="020B0503020204020204" charset="-122"/>
                <a:cs typeface="微软雅黑" panose="020B0503020204020204" charset="-122"/>
              </a:defRPr>
            </a:lvl3pPr>
            <a:lvl4pPr>
              <a:defRPr sz="1875" b="0">
                <a:solidFill>
                  <a:srgbClr val="173F39"/>
                </a:solidFill>
                <a:latin typeface="微软雅黑" panose="020B0503020204020204" charset="-122"/>
                <a:ea typeface="微软雅黑" panose="020B0503020204020204" charset="-122"/>
                <a:cs typeface="微软雅黑" panose="020B0503020204020204" charset="-122"/>
              </a:defRPr>
            </a:lvl4pPr>
            <a:lvl5pPr>
              <a:defRPr sz="1875" b="0">
                <a:solidFill>
                  <a:srgbClr val="173F39"/>
                </a:solidFill>
                <a:latin typeface="微软雅黑" panose="020B0503020204020204" charset="-122"/>
                <a:ea typeface="微软雅黑" panose="020B0503020204020204" charset="-122"/>
                <a:cs typeface="微软雅黑" panose="020B0503020204020204" charset="-122"/>
              </a:defRPr>
            </a:lvl5pPr>
            <a:lvl6pPr>
              <a:defRPr sz="1875" b="0">
                <a:solidFill>
                  <a:srgbClr val="173F39"/>
                </a:solidFill>
                <a:latin typeface="微软雅黑" panose="020B0503020204020204" charset="-122"/>
                <a:ea typeface="微软雅黑" panose="020B0503020204020204" charset="-122"/>
                <a:cs typeface="微软雅黑" panose="020B0503020204020204" charset="-122"/>
              </a:defRPr>
            </a:lvl6pPr>
            <a:lvl7pPr>
              <a:defRPr sz="1875" b="0">
                <a:solidFill>
                  <a:srgbClr val="173F39"/>
                </a:solidFill>
                <a:latin typeface="微软雅黑" panose="020B0503020204020204" charset="-122"/>
                <a:ea typeface="微软雅黑" panose="020B0503020204020204" charset="-122"/>
                <a:cs typeface="微软雅黑" panose="020B0503020204020204" charset="-122"/>
              </a:defRPr>
            </a:lvl7pPr>
            <a:lvl8pPr>
              <a:defRPr sz="1875" b="0">
                <a:solidFill>
                  <a:srgbClr val="173F39"/>
                </a:solidFill>
                <a:latin typeface="微软雅黑" panose="020B0503020204020204" charset="-122"/>
                <a:ea typeface="微软雅黑" panose="020B0503020204020204" charset="-122"/>
                <a:cs typeface="微软雅黑" panose="020B0503020204020204" charset="-122"/>
              </a:defRPr>
            </a:lvl8pPr>
            <a:lvl9pPr>
              <a:defRPr sz="187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Unsent drafts stay local.</a:t>
            </a:r>
            <a:endParaRPr sz="187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Delivery status is explicit.</a:t>
            </a:r>
            <a:endParaRPr sz="187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1875" b="0">
                <a:solidFill>
                  <a:srgbClr val="173F39"/>
                </a:solidFill>
                <a:latin typeface="微软雅黑" panose="020B0503020204020204" charset="-122"/>
                <a:ea typeface="微软雅黑" panose="020B0503020204020204" charset="-122"/>
                <a:cs typeface="微软雅黑" panose="020B0503020204020204" charset="-122"/>
              </a:defRPr>
            </a:pPr>
            <a:r>
              <a:rPr sz="1875" b="0">
                <a:solidFill>
                  <a:srgbClr val="173F39"/>
                </a:solidFill>
                <a:latin typeface="微软雅黑" panose="020B0503020204020204" charset="-122"/>
                <a:ea typeface="微软雅黑" panose="020B0503020204020204" charset="-122"/>
                <a:cs typeface="微软雅黑" panose="020B0503020204020204" charset="-122"/>
              </a:rPr>
              <a:t>Sending does not imply agreement.</a:t>
            </a:r>
            <a:endParaRPr sz="187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0" name="Retest"/>
          <p:cNvSpPr>
            <a:spLocks noGrp="1"/>
          </p:cNvSpPr>
          <p:nvPr/>
        </p:nvSpPr>
        <p:spPr>
          <a:xfrm>
            <a:off x="609600" y="3657600"/>
            <a:ext cx="1714500" cy="381000"/>
          </a:xfrm>
          <a:prstGeom prst="rect">
            <a:avLst/>
          </a:prstGeom>
          <a:noFill/>
          <a:ln w="0">
            <a:noFill/>
          </a:ln>
        </p:spPr>
        <p:txBody>
          <a:bodyPr wrap="square" lIns="0" tIns="0" rIns="0" bIns="0" anchor="t">
            <a:noAutofit/>
          </a:bodyPr>
          <a:lstStyle>
            <a:defPPr>
              <a:defRPr sz="2025" b="1">
                <a:solidFill>
                  <a:srgbClr val="173F39"/>
                </a:solidFill>
                <a:latin typeface="微软雅黑" panose="020B0503020204020204" charset="-122"/>
                <a:ea typeface="微软雅黑" panose="020B0503020204020204" charset="-122"/>
                <a:cs typeface="微软雅黑" panose="020B0503020204020204" charset="-122"/>
              </a:defRPr>
            </a:defPPr>
            <a:lvl1pPr>
              <a:defRPr sz="2025" b="1">
                <a:solidFill>
                  <a:srgbClr val="173F39"/>
                </a:solidFill>
                <a:latin typeface="微软雅黑" panose="020B0503020204020204" charset="-122"/>
                <a:ea typeface="微软雅黑" panose="020B0503020204020204" charset="-122"/>
                <a:cs typeface="微软雅黑" panose="020B0503020204020204" charset="-122"/>
              </a:defRPr>
            </a:lvl1pPr>
            <a:lvl2pPr>
              <a:defRPr sz="2025" b="1">
                <a:solidFill>
                  <a:srgbClr val="173F39"/>
                </a:solidFill>
                <a:latin typeface="微软雅黑" panose="020B0503020204020204" charset="-122"/>
                <a:ea typeface="微软雅黑" panose="020B0503020204020204" charset="-122"/>
                <a:cs typeface="微软雅黑" panose="020B0503020204020204" charset="-122"/>
              </a:defRPr>
            </a:lvl2pPr>
            <a:lvl3pPr>
              <a:defRPr sz="2025" b="1">
                <a:solidFill>
                  <a:srgbClr val="173F39"/>
                </a:solidFill>
                <a:latin typeface="微软雅黑" panose="020B0503020204020204" charset="-122"/>
                <a:ea typeface="微软雅黑" panose="020B0503020204020204" charset="-122"/>
                <a:cs typeface="微软雅黑" panose="020B0503020204020204" charset="-122"/>
              </a:defRPr>
            </a:lvl3pPr>
            <a:lvl4pPr>
              <a:defRPr sz="2025" b="1">
                <a:solidFill>
                  <a:srgbClr val="173F39"/>
                </a:solidFill>
                <a:latin typeface="微软雅黑" panose="020B0503020204020204" charset="-122"/>
                <a:ea typeface="微软雅黑" panose="020B0503020204020204" charset="-122"/>
                <a:cs typeface="微软雅黑" panose="020B0503020204020204" charset="-122"/>
              </a:defRPr>
            </a:lvl4pPr>
            <a:lvl5pPr>
              <a:defRPr sz="2025" b="1">
                <a:solidFill>
                  <a:srgbClr val="173F39"/>
                </a:solidFill>
                <a:latin typeface="微软雅黑" panose="020B0503020204020204" charset="-122"/>
                <a:ea typeface="微软雅黑" panose="020B0503020204020204" charset="-122"/>
                <a:cs typeface="微软雅黑" panose="020B0503020204020204" charset="-122"/>
              </a:defRPr>
            </a:lvl5pPr>
            <a:lvl6pPr>
              <a:defRPr sz="2025" b="1">
                <a:solidFill>
                  <a:srgbClr val="173F39"/>
                </a:solidFill>
                <a:latin typeface="微软雅黑" panose="020B0503020204020204" charset="-122"/>
                <a:ea typeface="微软雅黑" panose="020B0503020204020204" charset="-122"/>
                <a:cs typeface="微软雅黑" panose="020B0503020204020204" charset="-122"/>
              </a:defRPr>
            </a:lvl6pPr>
            <a:lvl7pPr>
              <a:defRPr sz="2025" b="1">
                <a:solidFill>
                  <a:srgbClr val="173F39"/>
                </a:solidFill>
                <a:latin typeface="微软雅黑" panose="020B0503020204020204" charset="-122"/>
                <a:ea typeface="微软雅黑" panose="020B0503020204020204" charset="-122"/>
                <a:cs typeface="微软雅黑" panose="020B0503020204020204" charset="-122"/>
              </a:defRPr>
            </a:lvl7pPr>
            <a:lvl8pPr>
              <a:defRPr sz="2025" b="1">
                <a:solidFill>
                  <a:srgbClr val="173F39"/>
                </a:solidFill>
                <a:latin typeface="微软雅黑" panose="020B0503020204020204" charset="-122"/>
                <a:ea typeface="微软雅黑" panose="020B0503020204020204" charset="-122"/>
                <a:cs typeface="微软雅黑" panose="020B0503020204020204" charset="-122"/>
              </a:defRPr>
            </a:lvl8pPr>
            <a:lvl9pPr>
              <a:defRPr sz="20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1">
                <a:solidFill>
                  <a:srgbClr val="173F39"/>
                </a:solidFill>
                <a:latin typeface="微软雅黑" panose="020B0503020204020204" charset="-122"/>
                <a:ea typeface="微软雅黑" panose="020B0503020204020204" charset="-122"/>
                <a:cs typeface="微软雅黑" panose="020B0503020204020204" charset="-122"/>
              </a:defRPr>
            </a:pPr>
            <a:r>
              <a:rPr sz="2025" b="1">
                <a:solidFill>
                  <a:srgbClr val="173F39"/>
                </a:solidFill>
                <a:latin typeface="微软雅黑" panose="020B0503020204020204" charset="-122"/>
                <a:ea typeface="微软雅黑" panose="020B0503020204020204" charset="-122"/>
                <a:cs typeface="微软雅黑" panose="020B0503020204020204" charset="-122"/>
              </a:rPr>
              <a:t>Retest</a:t>
            </a:r>
            <a:endParaRPr sz="20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1" name="2 completed runs preserved unsent status.&#10;1 attempt was bloc"/>
          <p:cNvSpPr>
            <a:spLocks noGrp="1"/>
          </p:cNvSpPr>
          <p:nvPr/>
        </p:nvSpPr>
        <p:spPr>
          <a:xfrm>
            <a:off x="2400300" y="3648075"/>
            <a:ext cx="9182100" cy="714375"/>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defRPr sz="2025" b="0">
                <a:solidFill>
                  <a:srgbClr val="173F39"/>
                </a:solidFill>
                <a:latin typeface="微软雅黑" panose="020B0503020204020204" charset="-122"/>
                <a:ea typeface="微软雅黑" panose="020B0503020204020204" charset="-122"/>
                <a:cs typeface="微软雅黑" panose="020B0503020204020204" charset="-122"/>
              </a:defRPr>
            </a:lvl1pPr>
            <a:lvl2pPr>
              <a:defRPr sz="2025" b="0">
                <a:solidFill>
                  <a:srgbClr val="173F39"/>
                </a:solidFill>
                <a:latin typeface="微软雅黑" panose="020B0503020204020204" charset="-122"/>
                <a:ea typeface="微软雅黑" panose="020B0503020204020204" charset="-122"/>
                <a:cs typeface="微软雅黑" panose="020B0503020204020204" charset="-122"/>
              </a:defRPr>
            </a:lvl2pPr>
            <a:lvl3pPr>
              <a:defRPr sz="2025" b="0">
                <a:solidFill>
                  <a:srgbClr val="173F39"/>
                </a:solidFill>
                <a:latin typeface="微软雅黑" panose="020B0503020204020204" charset="-122"/>
                <a:ea typeface="微软雅黑" panose="020B0503020204020204" charset="-122"/>
                <a:cs typeface="微软雅黑" panose="020B0503020204020204" charset="-122"/>
              </a:defRPr>
            </a:lvl3pPr>
            <a:lvl4pPr>
              <a:defRPr sz="2025" b="0">
                <a:solidFill>
                  <a:srgbClr val="173F39"/>
                </a:solidFill>
                <a:latin typeface="微软雅黑" panose="020B0503020204020204" charset="-122"/>
                <a:ea typeface="微软雅黑" panose="020B0503020204020204" charset="-122"/>
                <a:cs typeface="微软雅黑" panose="020B0503020204020204" charset="-122"/>
              </a:defRPr>
            </a:lvl4pPr>
            <a:lvl5pPr>
              <a:defRPr sz="2025" b="0">
                <a:solidFill>
                  <a:srgbClr val="173F39"/>
                </a:solidFill>
                <a:latin typeface="微软雅黑" panose="020B0503020204020204" charset="-122"/>
                <a:ea typeface="微软雅黑" panose="020B0503020204020204" charset="-122"/>
                <a:cs typeface="微软雅黑" panose="020B0503020204020204" charset="-122"/>
              </a:defRPr>
            </a:lvl5pPr>
            <a:lvl6pPr>
              <a:defRPr sz="2025" b="0">
                <a:solidFill>
                  <a:srgbClr val="173F39"/>
                </a:solidFill>
                <a:latin typeface="微软雅黑" panose="020B0503020204020204" charset="-122"/>
                <a:ea typeface="微软雅黑" panose="020B0503020204020204" charset="-122"/>
                <a:cs typeface="微软雅黑" panose="020B0503020204020204" charset="-122"/>
              </a:defRPr>
            </a:lvl6pPr>
            <a:lvl7pPr>
              <a:defRPr sz="2025" b="0">
                <a:solidFill>
                  <a:srgbClr val="173F39"/>
                </a:solidFill>
                <a:latin typeface="微软雅黑" panose="020B0503020204020204" charset="-122"/>
                <a:ea typeface="微软雅黑" panose="020B0503020204020204" charset="-122"/>
                <a:cs typeface="微软雅黑" panose="020B0503020204020204" charset="-122"/>
              </a:defRPr>
            </a:lvl7pPr>
            <a:lvl8pPr>
              <a:defRPr sz="2025" b="0">
                <a:solidFill>
                  <a:srgbClr val="173F39"/>
                </a:solidFill>
                <a:latin typeface="微软雅黑" panose="020B0503020204020204" charset="-122"/>
                <a:ea typeface="微软雅黑" panose="020B0503020204020204" charset="-122"/>
                <a:cs typeface="微软雅黑" panose="020B0503020204020204" charset="-122"/>
              </a:defRPr>
            </a:lvl8pPr>
            <a:lvl9pPr>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2 completed runs preserved unsent status.</a:t>
            </a:r>
            <a:endParaRPr sz="202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1 attempt was blocked for invalid source IDs.</a:t>
            </a:r>
            <a:endParaRPr sz="20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2" name="Target: fewer interruptions and safer replies"/>
          <p:cNvSpPr>
            <a:spLocks noGrp="1"/>
          </p:cNvSpPr>
          <p:nvPr/>
        </p:nvSpPr>
        <p:spPr>
          <a:xfrm>
            <a:off x="609600" y="4695825"/>
            <a:ext cx="10972800" cy="428625"/>
          </a:xfrm>
          <a:prstGeom prst="rect">
            <a:avLst/>
          </a:prstGeom>
          <a:noFill/>
          <a:ln w="0">
            <a:noFill/>
          </a:ln>
        </p:spPr>
        <p:txBody>
          <a:bodyPr wrap="square" lIns="0" tIns="0" rIns="0" bIns="0" anchor="t">
            <a:noAutofit/>
          </a:bodyPr>
          <a:lstStyle>
            <a:defPPr>
              <a:defRPr sz="2325" b="1">
                <a:solidFill>
                  <a:srgbClr val="173F39"/>
                </a:solidFill>
                <a:latin typeface="微软雅黑" panose="020B0503020204020204" charset="-122"/>
                <a:ea typeface="微软雅黑" panose="020B0503020204020204" charset="-122"/>
                <a:cs typeface="微软雅黑" panose="020B0503020204020204" charset="-122"/>
              </a:defRPr>
            </a:defPPr>
            <a:lvl1pPr>
              <a:defRPr sz="2325" b="1">
                <a:solidFill>
                  <a:srgbClr val="173F39"/>
                </a:solidFill>
                <a:latin typeface="微软雅黑" panose="020B0503020204020204" charset="-122"/>
                <a:ea typeface="微软雅黑" panose="020B0503020204020204" charset="-122"/>
                <a:cs typeface="微软雅黑" panose="020B0503020204020204" charset="-122"/>
              </a:defRPr>
            </a:lvl1pPr>
            <a:lvl2pPr>
              <a:defRPr sz="2325" b="1">
                <a:solidFill>
                  <a:srgbClr val="173F39"/>
                </a:solidFill>
                <a:latin typeface="微软雅黑" panose="020B0503020204020204" charset="-122"/>
                <a:ea typeface="微软雅黑" panose="020B0503020204020204" charset="-122"/>
                <a:cs typeface="微软雅黑" panose="020B0503020204020204" charset="-122"/>
              </a:defRPr>
            </a:lvl2pPr>
            <a:lvl3pPr>
              <a:defRPr sz="2325" b="1">
                <a:solidFill>
                  <a:srgbClr val="173F39"/>
                </a:solidFill>
                <a:latin typeface="微软雅黑" panose="020B0503020204020204" charset="-122"/>
                <a:ea typeface="微软雅黑" panose="020B0503020204020204" charset="-122"/>
                <a:cs typeface="微软雅黑" panose="020B0503020204020204" charset="-122"/>
              </a:defRPr>
            </a:lvl3pPr>
            <a:lvl4pPr>
              <a:defRPr sz="2325" b="1">
                <a:solidFill>
                  <a:srgbClr val="173F39"/>
                </a:solidFill>
                <a:latin typeface="微软雅黑" panose="020B0503020204020204" charset="-122"/>
                <a:ea typeface="微软雅黑" panose="020B0503020204020204" charset="-122"/>
                <a:cs typeface="微软雅黑" panose="020B0503020204020204" charset="-122"/>
              </a:defRPr>
            </a:lvl4pPr>
            <a:lvl5pPr>
              <a:defRPr sz="2325" b="1">
                <a:solidFill>
                  <a:srgbClr val="173F39"/>
                </a:solidFill>
                <a:latin typeface="微软雅黑" panose="020B0503020204020204" charset="-122"/>
                <a:ea typeface="微软雅黑" panose="020B0503020204020204" charset="-122"/>
                <a:cs typeface="微软雅黑" panose="020B0503020204020204" charset="-122"/>
              </a:defRPr>
            </a:lvl5pPr>
            <a:lvl6pPr>
              <a:defRPr sz="2325" b="1">
                <a:solidFill>
                  <a:srgbClr val="173F39"/>
                </a:solidFill>
                <a:latin typeface="微软雅黑" panose="020B0503020204020204" charset="-122"/>
                <a:ea typeface="微软雅黑" panose="020B0503020204020204" charset="-122"/>
                <a:cs typeface="微软雅黑" panose="020B0503020204020204" charset="-122"/>
              </a:defRPr>
            </a:lvl6pPr>
            <a:lvl7pPr>
              <a:defRPr sz="2325" b="1">
                <a:solidFill>
                  <a:srgbClr val="173F39"/>
                </a:solidFill>
                <a:latin typeface="微软雅黑" panose="020B0503020204020204" charset="-122"/>
                <a:ea typeface="微软雅黑" panose="020B0503020204020204" charset="-122"/>
                <a:cs typeface="微软雅黑" panose="020B0503020204020204" charset="-122"/>
              </a:defRPr>
            </a:lvl7pPr>
            <a:lvl8pPr>
              <a:defRPr sz="2325" b="1">
                <a:solidFill>
                  <a:srgbClr val="173F39"/>
                </a:solidFill>
                <a:latin typeface="微软雅黑" panose="020B0503020204020204" charset="-122"/>
                <a:ea typeface="微软雅黑" panose="020B0503020204020204" charset="-122"/>
                <a:cs typeface="微软雅黑" panose="020B0503020204020204" charset="-122"/>
              </a:defRPr>
            </a:lvl8pPr>
            <a:lvl9pPr>
              <a:defRPr sz="23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325" b="1">
                <a:solidFill>
                  <a:srgbClr val="173F39"/>
                </a:solidFill>
                <a:latin typeface="微软雅黑" panose="020B0503020204020204" charset="-122"/>
                <a:ea typeface="微软雅黑" panose="020B0503020204020204" charset="-122"/>
                <a:cs typeface="微软雅黑" panose="020B0503020204020204" charset="-122"/>
              </a:defRPr>
            </a:pPr>
            <a:r>
              <a:rPr sz="2325" b="1">
                <a:solidFill>
                  <a:srgbClr val="173F39"/>
                </a:solidFill>
                <a:latin typeface="微软雅黑" panose="020B0503020204020204" charset="-122"/>
                <a:ea typeface="微软雅黑" panose="020B0503020204020204" charset="-122"/>
                <a:cs typeface="微软雅黑" panose="020B0503020204020204" charset="-122"/>
              </a:rPr>
              <a:t>Target: fewer interruptions and safer replies</a:t>
            </a:r>
            <a:endParaRPr sz="23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3" name="Next: each person tries both alert rules with matched cases "/>
          <p:cNvSpPr>
            <a:spLocks noGrp="1"/>
          </p:cNvSpPr>
          <p:nvPr/>
        </p:nvSpPr>
        <p:spPr>
          <a:xfrm>
            <a:off x="609600" y="5314950"/>
            <a:ext cx="10972800" cy="381000"/>
          </a:xfrm>
          <a:prstGeom prst="rect">
            <a:avLst/>
          </a:prstGeom>
          <a:noFill/>
          <a:ln w="0">
            <a:noFill/>
          </a:ln>
        </p:spPr>
        <p:txBody>
          <a:bodyPr wrap="square" lIns="0" tIns="0" rIns="0" bIns="0" anchor="t">
            <a:noAutofit/>
          </a:bodyPr>
          <a:lstStyle>
            <a:defPPr>
              <a:defRPr sz="1725" b="0">
                <a:solidFill>
                  <a:srgbClr val="617770"/>
                </a:solidFill>
                <a:latin typeface="微软雅黑" panose="020B0503020204020204" charset="-122"/>
                <a:ea typeface="微软雅黑" panose="020B0503020204020204" charset="-122"/>
                <a:cs typeface="微软雅黑" panose="020B0503020204020204" charset="-122"/>
              </a:defRPr>
            </a:defPPr>
            <a:lvl1pPr>
              <a:defRPr sz="1725" b="0">
                <a:solidFill>
                  <a:srgbClr val="617770"/>
                </a:solidFill>
                <a:latin typeface="微软雅黑" panose="020B0503020204020204" charset="-122"/>
                <a:ea typeface="微软雅黑" panose="020B0503020204020204" charset="-122"/>
                <a:cs typeface="微软雅黑" panose="020B0503020204020204" charset="-122"/>
              </a:defRPr>
            </a:lvl1pPr>
            <a:lvl2pPr>
              <a:defRPr sz="1725" b="0">
                <a:solidFill>
                  <a:srgbClr val="617770"/>
                </a:solidFill>
                <a:latin typeface="微软雅黑" panose="020B0503020204020204" charset="-122"/>
                <a:ea typeface="微软雅黑" panose="020B0503020204020204" charset="-122"/>
                <a:cs typeface="微软雅黑" panose="020B0503020204020204" charset="-122"/>
              </a:defRPr>
            </a:lvl2pPr>
            <a:lvl3pPr>
              <a:defRPr sz="1725" b="0">
                <a:solidFill>
                  <a:srgbClr val="617770"/>
                </a:solidFill>
                <a:latin typeface="微软雅黑" panose="020B0503020204020204" charset="-122"/>
                <a:ea typeface="微软雅黑" panose="020B0503020204020204" charset="-122"/>
                <a:cs typeface="微软雅黑" panose="020B0503020204020204" charset="-122"/>
              </a:defRPr>
            </a:lvl3pPr>
            <a:lvl4pPr>
              <a:defRPr sz="1725" b="0">
                <a:solidFill>
                  <a:srgbClr val="617770"/>
                </a:solidFill>
                <a:latin typeface="微软雅黑" panose="020B0503020204020204" charset="-122"/>
                <a:ea typeface="微软雅黑" panose="020B0503020204020204" charset="-122"/>
                <a:cs typeface="微软雅黑" panose="020B0503020204020204" charset="-122"/>
              </a:defRPr>
            </a:lvl4pPr>
            <a:lvl5pPr>
              <a:defRPr sz="1725" b="0">
                <a:solidFill>
                  <a:srgbClr val="617770"/>
                </a:solidFill>
                <a:latin typeface="微软雅黑" panose="020B0503020204020204" charset="-122"/>
                <a:ea typeface="微软雅黑" panose="020B0503020204020204" charset="-122"/>
                <a:cs typeface="微软雅黑" panose="020B0503020204020204" charset="-122"/>
              </a:defRPr>
            </a:lvl5pPr>
            <a:lvl6pPr>
              <a:defRPr sz="1725" b="0">
                <a:solidFill>
                  <a:srgbClr val="617770"/>
                </a:solidFill>
                <a:latin typeface="微软雅黑" panose="020B0503020204020204" charset="-122"/>
                <a:ea typeface="微软雅黑" panose="020B0503020204020204" charset="-122"/>
                <a:cs typeface="微软雅黑" panose="020B0503020204020204" charset="-122"/>
              </a:defRPr>
            </a:lvl6pPr>
            <a:lvl7pPr>
              <a:defRPr sz="1725" b="0">
                <a:solidFill>
                  <a:srgbClr val="617770"/>
                </a:solidFill>
                <a:latin typeface="微软雅黑" panose="020B0503020204020204" charset="-122"/>
                <a:ea typeface="微软雅黑" panose="020B0503020204020204" charset="-122"/>
                <a:cs typeface="微软雅黑" panose="020B0503020204020204" charset="-122"/>
              </a:defRPr>
            </a:lvl7pPr>
            <a:lvl8pPr>
              <a:defRPr sz="1725" b="0">
                <a:solidFill>
                  <a:srgbClr val="617770"/>
                </a:solidFill>
                <a:latin typeface="微软雅黑" panose="020B0503020204020204" charset="-122"/>
                <a:ea typeface="微软雅黑" panose="020B0503020204020204" charset="-122"/>
                <a:cs typeface="微软雅黑" panose="020B0503020204020204" charset="-122"/>
              </a:defRPr>
            </a:lvl8pPr>
            <a:lvl9pPr>
              <a:defRPr sz="172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Next: each person tries both alert rules with matched cases and balanced order.</a:t>
            </a:r>
            <a:endParaRPr sz="172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14" name="Measure timely correct replies, task performance, missed req"/>
          <p:cNvSpPr>
            <a:spLocks noGrp="1"/>
          </p:cNvSpPr>
          <p:nvPr/>
        </p:nvSpPr>
        <p:spPr>
          <a:xfrm>
            <a:off x="609600" y="5762625"/>
            <a:ext cx="10972800" cy="381000"/>
          </a:xfrm>
          <a:prstGeom prst="rect">
            <a:avLst/>
          </a:prstGeom>
          <a:noFill/>
          <a:ln w="0">
            <a:noFill/>
          </a:ln>
        </p:spPr>
        <p:txBody>
          <a:bodyPr wrap="square" lIns="0" tIns="0" rIns="0" bIns="0" anchor="t">
            <a:noAutofit/>
          </a:bodyPr>
          <a:lstStyle>
            <a:defPPr>
              <a:defRPr sz="1725" b="0">
                <a:solidFill>
                  <a:srgbClr val="173F39"/>
                </a:solidFill>
                <a:latin typeface="微软雅黑" panose="020B0503020204020204" charset="-122"/>
                <a:ea typeface="微软雅黑" panose="020B0503020204020204" charset="-122"/>
                <a:cs typeface="微软雅黑" panose="020B0503020204020204" charset="-122"/>
              </a:defRPr>
            </a:defPPr>
            <a:lvl1pPr>
              <a:defRPr sz="1725" b="0">
                <a:solidFill>
                  <a:srgbClr val="173F39"/>
                </a:solidFill>
                <a:latin typeface="微软雅黑" panose="020B0503020204020204" charset="-122"/>
                <a:ea typeface="微软雅黑" panose="020B0503020204020204" charset="-122"/>
                <a:cs typeface="微软雅黑" panose="020B0503020204020204" charset="-122"/>
              </a:defRPr>
            </a:lvl1pPr>
            <a:lvl2pPr>
              <a:defRPr sz="1725" b="0">
                <a:solidFill>
                  <a:srgbClr val="173F39"/>
                </a:solidFill>
                <a:latin typeface="微软雅黑" panose="020B0503020204020204" charset="-122"/>
                <a:ea typeface="微软雅黑" panose="020B0503020204020204" charset="-122"/>
                <a:cs typeface="微软雅黑" panose="020B0503020204020204" charset="-122"/>
              </a:defRPr>
            </a:lvl2pPr>
            <a:lvl3pPr>
              <a:defRPr sz="1725" b="0">
                <a:solidFill>
                  <a:srgbClr val="173F39"/>
                </a:solidFill>
                <a:latin typeface="微软雅黑" panose="020B0503020204020204" charset="-122"/>
                <a:ea typeface="微软雅黑" panose="020B0503020204020204" charset="-122"/>
                <a:cs typeface="微软雅黑" panose="020B0503020204020204" charset="-122"/>
              </a:defRPr>
            </a:lvl3pPr>
            <a:lvl4pPr>
              <a:defRPr sz="1725" b="0">
                <a:solidFill>
                  <a:srgbClr val="173F39"/>
                </a:solidFill>
                <a:latin typeface="微软雅黑" panose="020B0503020204020204" charset="-122"/>
                <a:ea typeface="微软雅黑" panose="020B0503020204020204" charset="-122"/>
                <a:cs typeface="微软雅黑" panose="020B0503020204020204" charset="-122"/>
              </a:defRPr>
            </a:lvl4pPr>
            <a:lvl5pPr>
              <a:defRPr sz="1725" b="0">
                <a:solidFill>
                  <a:srgbClr val="173F39"/>
                </a:solidFill>
                <a:latin typeface="微软雅黑" panose="020B0503020204020204" charset="-122"/>
                <a:ea typeface="微软雅黑" panose="020B0503020204020204" charset="-122"/>
                <a:cs typeface="微软雅黑" panose="020B0503020204020204" charset="-122"/>
              </a:defRPr>
            </a:lvl5pPr>
            <a:lvl6pPr>
              <a:defRPr sz="1725" b="0">
                <a:solidFill>
                  <a:srgbClr val="173F39"/>
                </a:solidFill>
                <a:latin typeface="微软雅黑" panose="020B0503020204020204" charset="-122"/>
                <a:ea typeface="微软雅黑" panose="020B0503020204020204" charset="-122"/>
                <a:cs typeface="微软雅黑" panose="020B0503020204020204" charset="-122"/>
              </a:defRPr>
            </a:lvl6pPr>
            <a:lvl7pPr>
              <a:defRPr sz="1725" b="0">
                <a:solidFill>
                  <a:srgbClr val="173F39"/>
                </a:solidFill>
                <a:latin typeface="微软雅黑" panose="020B0503020204020204" charset="-122"/>
                <a:ea typeface="微软雅黑" panose="020B0503020204020204" charset="-122"/>
                <a:cs typeface="微软雅黑" panose="020B0503020204020204" charset="-122"/>
              </a:defRPr>
            </a:lvl7pPr>
            <a:lvl8pPr>
              <a:defRPr sz="1725" b="0">
                <a:solidFill>
                  <a:srgbClr val="173F39"/>
                </a:solidFill>
                <a:latin typeface="微软雅黑" panose="020B0503020204020204" charset="-122"/>
                <a:ea typeface="微软雅黑" panose="020B0503020204020204" charset="-122"/>
                <a:cs typeface="微软雅黑" panose="020B0503020204020204" charset="-122"/>
              </a:defRPr>
            </a:lvl8pPr>
            <a:lvl9pPr>
              <a:defRPr sz="17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173F39"/>
                </a:solidFill>
                <a:latin typeface="微软雅黑" panose="020B0503020204020204" charset="-122"/>
                <a:ea typeface="微软雅黑" panose="020B0503020204020204" charset="-122"/>
                <a:cs typeface="微软雅黑" panose="020B0503020204020204" charset="-122"/>
              </a:defRPr>
            </a:pPr>
            <a:r>
              <a:rPr sz="1725" b="0">
                <a:solidFill>
                  <a:srgbClr val="173F39"/>
                </a:solidFill>
                <a:latin typeface="微软雅黑" panose="020B0503020204020204" charset="-122"/>
                <a:ea typeface="微软雅黑" panose="020B0503020204020204" charset="-122"/>
                <a:cs typeface="微软雅黑" panose="020B0503020204020204" charset="-122"/>
              </a:rPr>
              <a:t>Measure timely correct replies, task performance, missed requests and false alerts.</a:t>
            </a:r>
            <a:endParaRPr sz="17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5" name="Small technical retest; real meeting impact remains to be me"/>
          <p:cNvSpPr>
            <a:spLocks noGrp="1"/>
          </p:cNvSpPr>
          <p:nvPr/>
        </p:nvSpPr>
        <p:spPr>
          <a:xfrm>
            <a:off x="609600" y="6419850"/>
            <a:ext cx="9667875" cy="247650"/>
          </a:xfrm>
          <a:prstGeom prst="rect">
            <a:avLst/>
          </a:prstGeom>
          <a:noFill/>
          <a:ln w="0">
            <a:noFill/>
          </a:ln>
        </p:spPr>
        <p:txBody>
          <a:bodyPr wrap="square" lIns="0" tIns="0" rIns="0" bIns="0" anchor="t">
            <a:noAutofit/>
          </a:bodyPr>
          <a:lstStyle>
            <a:defPPr>
              <a:defRPr sz="1200" b="0">
                <a:solidFill>
                  <a:srgbClr val="617770"/>
                </a:solidFill>
                <a:latin typeface="微软雅黑" panose="020B0503020204020204" charset="-122"/>
                <a:ea typeface="微软雅黑" panose="020B0503020204020204" charset="-122"/>
                <a:cs typeface="微软雅黑" panose="020B0503020204020204" charset="-122"/>
              </a:defRPr>
            </a:defPPr>
            <a:lvl1pPr>
              <a:defRPr sz="1200" b="0">
                <a:solidFill>
                  <a:srgbClr val="617770"/>
                </a:solidFill>
                <a:latin typeface="微软雅黑" panose="020B0503020204020204" charset="-122"/>
                <a:ea typeface="微软雅黑" panose="020B0503020204020204" charset="-122"/>
                <a:cs typeface="微软雅黑" panose="020B0503020204020204" charset="-122"/>
              </a:defRPr>
            </a:lvl1pPr>
            <a:lvl2pPr>
              <a:defRPr sz="1200" b="0">
                <a:solidFill>
                  <a:srgbClr val="617770"/>
                </a:solidFill>
                <a:latin typeface="微软雅黑" panose="020B0503020204020204" charset="-122"/>
                <a:ea typeface="微软雅黑" panose="020B0503020204020204" charset="-122"/>
                <a:cs typeface="微软雅黑" panose="020B0503020204020204" charset="-122"/>
              </a:defRPr>
            </a:lvl2pPr>
            <a:lvl3pPr>
              <a:defRPr sz="1200" b="0">
                <a:solidFill>
                  <a:srgbClr val="617770"/>
                </a:solidFill>
                <a:latin typeface="微软雅黑" panose="020B0503020204020204" charset="-122"/>
                <a:ea typeface="微软雅黑" panose="020B0503020204020204" charset="-122"/>
                <a:cs typeface="微软雅黑" panose="020B0503020204020204" charset="-122"/>
              </a:defRPr>
            </a:lvl3pPr>
            <a:lvl4pPr>
              <a:defRPr sz="1200" b="0">
                <a:solidFill>
                  <a:srgbClr val="617770"/>
                </a:solidFill>
                <a:latin typeface="微软雅黑" panose="020B0503020204020204" charset="-122"/>
                <a:ea typeface="微软雅黑" panose="020B0503020204020204" charset="-122"/>
                <a:cs typeface="微软雅黑" panose="020B0503020204020204" charset="-122"/>
              </a:defRPr>
            </a:lvl4pPr>
            <a:lvl5pPr>
              <a:defRPr sz="1200" b="0">
                <a:solidFill>
                  <a:srgbClr val="617770"/>
                </a:solidFill>
                <a:latin typeface="微软雅黑" panose="020B0503020204020204" charset="-122"/>
                <a:ea typeface="微软雅黑" panose="020B0503020204020204" charset="-122"/>
                <a:cs typeface="微软雅黑" panose="020B0503020204020204" charset="-122"/>
              </a:defRPr>
            </a:lvl5pPr>
            <a:lvl6pPr>
              <a:defRPr sz="1200" b="0">
                <a:solidFill>
                  <a:srgbClr val="617770"/>
                </a:solidFill>
                <a:latin typeface="微软雅黑" panose="020B0503020204020204" charset="-122"/>
                <a:ea typeface="微软雅黑" panose="020B0503020204020204" charset="-122"/>
                <a:cs typeface="微软雅黑" panose="020B0503020204020204" charset="-122"/>
              </a:defRPr>
            </a:lvl6pPr>
            <a:lvl7pPr>
              <a:defRPr sz="1200" b="0">
                <a:solidFill>
                  <a:srgbClr val="617770"/>
                </a:solidFill>
                <a:latin typeface="微软雅黑" panose="020B0503020204020204" charset="-122"/>
                <a:ea typeface="微软雅黑" panose="020B0503020204020204" charset="-122"/>
                <a:cs typeface="微软雅黑" panose="020B0503020204020204" charset="-122"/>
              </a:defRPr>
            </a:lvl7pPr>
            <a:lvl8pPr>
              <a:defRPr sz="1200" b="0">
                <a:solidFill>
                  <a:srgbClr val="617770"/>
                </a:solidFill>
                <a:latin typeface="微软雅黑" panose="020B0503020204020204" charset="-122"/>
                <a:ea typeface="微软雅黑" panose="020B0503020204020204" charset="-122"/>
                <a:cs typeface="微软雅黑" panose="020B0503020204020204" charset="-122"/>
              </a:defRPr>
            </a:lvl8pPr>
            <a:lvl9pPr>
              <a:defRPr sz="1200"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00" b="0">
                <a:solidFill>
                  <a:srgbClr val="617770"/>
                </a:solidFill>
                <a:latin typeface="微软雅黑" panose="020B0503020204020204" charset="-122"/>
                <a:ea typeface="微软雅黑" panose="020B0503020204020204" charset="-122"/>
                <a:cs typeface="微软雅黑" panose="020B0503020204020204" charset="-122"/>
              </a:defRPr>
            </a:pPr>
            <a:r>
              <a:rPr sz="1200" b="0">
                <a:solidFill>
                  <a:srgbClr val="617770"/>
                </a:solidFill>
                <a:latin typeface="微软雅黑" panose="020B0503020204020204" charset="-122"/>
                <a:ea typeface="微软雅黑" panose="020B0503020204020204" charset="-122"/>
                <a:cs typeface="微软雅黑" panose="020B0503020204020204" charset="-122"/>
              </a:rPr>
              <a:t>Small technical retest; real meeting impact remains to be measured. Details in notes.</a:t>
            </a:r>
            <a:endParaRPr sz="1200" b="0">
              <a:solidFill>
                <a:srgbClr val="61777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p:sp>
        <p:nvSpPr>
          <p:cNvPr id="5" name="Our contribution"/>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Our contribution</a:t>
            </a:r>
            <a:endParaRPr sz="35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6" name="C    08 / 08"/>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C    08 / 08</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9" name="Questions and discussion: 2 minutes."/>
          <p:cNvSpPr>
            <a:spLocks noGrp="1"/>
          </p:cNvSpPr>
          <p:nvPr/>
        </p:nvSpPr>
        <p:spPr>
          <a:xfrm>
            <a:off x="609600" y="6115050"/>
            <a:ext cx="9525000" cy="52387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Questions and discussion: 2 minutes.</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graphicFrame>
        <p:nvGraphicFramePr>
          <p:cNvPr id="10" name="表格 9"/>
          <p:cNvGraphicFramePr/>
          <p:nvPr/>
        </p:nvGraphicFramePr>
        <p:xfrm>
          <a:off x="609600" y="1762125"/>
          <a:ext cx="10972800" cy="3448050"/>
        </p:xfrm>
        <a:graphic>
          <a:graphicData uri="http://schemas.openxmlformats.org/drawingml/2006/table">
            <a:tbl>
              <a:tblPr/>
              <a:tblGrid>
                <a:gridCol w="2476500"/>
                <a:gridCol w="4286250"/>
                <a:gridCol w="4210050"/>
              </a:tblGrid>
              <a:tr h="476250">
                <a:tc>
                  <a:txBody>
                    <a:bodyPr wrap="square">
                      <a:spAutoFit/>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Member</a:t>
                      </a:r>
                      <a:endParaRPr sz="1875"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wrap="square">
                      <a:spAutoFit/>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Completed work</a:t>
                      </a:r>
                      <a:endParaRPr sz="1875"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wrap="square">
                      <a:spAutoFit/>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Next tasks (planned)</a:t>
                      </a:r>
                      <a:endParaRPr sz="1875"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r>
              <a:tr h="990600">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Chi Kit WONG</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Prototype and integration</a:t>
                      </a:r>
                      <a:endParaRPr sz="187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Research synthesis and slides</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Operate the demo</a:t>
                      </a:r>
                      <a:endParaRPr sz="187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Final integration check</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r>
              <a:tr h="990600">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Haodong XU</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Questionnaire preparation</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Host the test meeting</a:t>
                      </a:r>
                      <a:endParaRPr sz="187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Check transcript and replies</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r>
              <a:tr h="990600">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Sida ZHANG</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Not yet reported</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Join the test meeting</a:t>
                      </a:r>
                      <a:endParaRPr sz="1875" b="0">
                        <a:solidFill>
                          <a:srgbClr val="173F39"/>
                        </a:solidFill>
                        <a:latin typeface="微软雅黑" panose="020B0503020204020204" charset="-122"/>
                        <a:ea typeface="微软雅黑" panose="020B0503020204020204" charset="-122"/>
                        <a:cs typeface="微软雅黑" panose="020B0503020204020204" charset="-122"/>
                      </a:endParaRPr>
                    </a:p>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Review recording and feedback</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r>
            </a:tbl>
          </a:graphicData>
        </a:graphic>
      </p:graphicFrame>
      <p:sp>
        <p:nvSpPr>
          <p:cNvPr id="11" name="Balanced speaking slots: A 1:55, B 1:55, C 2:00."/>
          <p:cNvSpPr>
            <a:spLocks noGrp="1"/>
          </p:cNvSpPr>
          <p:nvPr/>
        </p:nvSpPr>
        <p:spPr>
          <a:xfrm>
            <a:off x="609600" y="5457825"/>
            <a:ext cx="10972800" cy="342900"/>
          </a:xfrm>
          <a:prstGeom prst="rect">
            <a:avLst/>
          </a:prstGeom>
          <a:noFill/>
          <a:ln w="0">
            <a:noFill/>
          </a:ln>
        </p:spPr>
        <p:txBody>
          <a:bodyPr wrap="square" lIns="0" tIns="0" rIns="0" bIns="0" anchor="t">
            <a:noAutofit/>
          </a:bodyPr>
          <a:lstStyle>
            <a:defPPr>
              <a:defRPr sz="18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18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18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18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18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18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18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18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18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18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1">
                <a:solidFill>
                  <a:srgbClr val="173F39"/>
                </a:solidFill>
                <a:latin typeface="微软雅黑" panose="020B0503020204020204" charset="-122"/>
                <a:ea typeface="微软雅黑" panose="020B0503020204020204" charset="-122"/>
                <a:cs typeface="微软雅黑" panose="020B0503020204020204" charset="-122"/>
              </a:defRPr>
            </a:pPr>
            <a:r>
              <a:rPr sz="1875" b="1">
                <a:solidFill>
                  <a:srgbClr val="173F39"/>
                </a:solidFill>
                <a:latin typeface="微软雅黑" panose="020B0503020204020204" charset="-122"/>
                <a:ea typeface="微软雅黑" panose="020B0503020204020204" charset="-122"/>
                <a:cs typeface="微软雅黑" panose="020B0503020204020204" charset="-122"/>
              </a:rPr>
              <a:t>Balanced speaking slots: A 1:55, B 1:55, C 2:00.</a:t>
            </a:r>
            <a:endParaRPr sz="1875" b="1">
              <a:solidFill>
                <a:srgbClr val="173F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5F3EC"/>
        </a:solidFill>
        <a:effectLst/>
      </p:bgPr>
    </p:bg>
    <p:spTree>
      <p:nvGrpSpPr>
        <p:cNvPr id="1" name=""/>
        <p:cNvGrpSpPr/>
        <p:nvPr/>
      </p:nvGrpSpPr>
      <p:grpSpPr/>
      <p:sp>
        <p:nvSpPr>
          <p:cNvPr id="4" name="Evidence ledger and limits"/>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Questionnaire details</a:t>
            </a:r>
            <a:endParaRPr sz="35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5" name="Appendix 1"/>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Appendix 1</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6" name="Alert timing preferences (Q5, each event n = 7)"/>
          <p:cNvSpPr>
            <a:spLocks noGrp="1"/>
          </p:cNvSpPr>
          <p:nvPr/>
        </p:nvSpPr>
        <p:spPr>
          <a:xfrm>
            <a:off x="609600" y="1428750"/>
            <a:ext cx="10972800" cy="447675"/>
          </a:xfrm>
          <a:prstGeom prst="rect">
            <a:avLst/>
          </a:prstGeom>
          <a:noFill/>
          <a:ln w="0">
            <a:noFill/>
          </a:ln>
        </p:spPr>
        <p:txBody>
          <a:bodyPr wrap="square" lIns="0" tIns="0" rIns="0" bIns="0" anchor="t">
            <a:noAutofit/>
          </a:bodyPr>
          <a:lstStyle>
            <a:defPPr>
              <a:defRPr sz="21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21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21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21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21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21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21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21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21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21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0">
                <a:solidFill>
                  <a:srgbClr val="617770"/>
                </a:solidFill>
                <a:latin typeface="微软雅黑" panose="020B0503020204020204" charset="-122"/>
                <a:ea typeface="微软雅黑" panose="020B0503020204020204" charset="-122"/>
                <a:cs typeface="微软雅黑" panose="020B0503020204020204" charset="-122"/>
              </a:defRPr>
            </a:pPr>
            <a:r>
              <a:rPr sz="2175" b="0">
                <a:solidFill>
                  <a:srgbClr val="617770"/>
                </a:solidFill>
                <a:latin typeface="微软雅黑" panose="020B0503020204020204" charset="-122"/>
                <a:ea typeface="微软雅黑" panose="020B0503020204020204" charset="-122"/>
                <a:cs typeface="微软雅黑" panose="020B0503020204020204" charset="-122"/>
              </a:rPr>
              <a:t>Alert timing preferences (Q5, each event n = 7)</a:t>
            </a:r>
            <a:endParaRPr sz="2175" b="0">
              <a:solidFill>
                <a:srgbClr val="617770"/>
              </a:solidFill>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nvGraphicFramePr>
        <p:xfrm>
          <a:off x="609600" y="2095500"/>
          <a:ext cx="10972800" cy="3276600"/>
        </p:xfrm>
        <a:graphic>
          <a:graphicData uri="http://schemas.openxmlformats.org/drawingml/2006/table">
            <a:tbl>
              <a:tblPr/>
              <a:tblGrid>
                <a:gridCol w="4305300"/>
                <a:gridCol w="1619250"/>
                <a:gridCol w="1428750"/>
                <a:gridCol w="2095500"/>
                <a:gridCol w="1524000"/>
              </a:tblGrid>
              <a:tr h="609600">
                <a:tc>
                  <a:txBody>
                    <a:bodyPr wrap="square">
                      <a:spAutoFit/>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Event</a:t>
                      </a:r>
                      <a:endParaRPr sz="1875"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wrap="square">
                      <a:spAutoFit/>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Immediate</a:t>
                      </a:r>
                      <a:endParaRPr sz="1875"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wrap="square">
                      <a:spAutoFit/>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Later</a:t>
                      </a:r>
                      <a:endParaRPr sz="1875"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wrap="square">
                      <a:spAutoFit/>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After meeting</a:t>
                      </a:r>
                      <a:endParaRPr sz="1875"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c>
                  <a:txBody>
                    <a:bodyPr wrap="square">
                      <a:spAutoFit/>
                    </a:bodyPr>
                    <a:lstStyle/>
                    <a:p>
                      <a:pPr>
                        <a:lnSpc>
                          <a:spcPct val="110000"/>
                        </a:lnSpc>
                        <a:buNone/>
                      </a:pPr>
                      <a:r>
                        <a:rPr sz="1875" b="1">
                          <a:solidFill>
                            <a:srgbClr val="F5F3EC"/>
                          </a:solidFill>
                          <a:latin typeface="微软雅黑" panose="020B0503020204020204" charset="-122"/>
                          <a:ea typeface="微软雅黑" panose="020B0503020204020204" charset="-122"/>
                          <a:cs typeface="微软雅黑" panose="020B0503020204020204" charset="-122"/>
                        </a:rPr>
                        <a:t>No need</a:t>
                      </a:r>
                      <a:endParaRPr sz="1875" b="1">
                        <a:solidFill>
                          <a:srgbClr val="F5F3EC"/>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T w="6191">
                      <a:solidFill>
                        <a:srgbClr val="DCE3DA"/>
                      </a:solidFill>
                      <a:prstDash val="solid"/>
                    </a:lnT>
                    <a:lnB w="6191">
                      <a:solidFill>
                        <a:srgbClr val="DCE3DA"/>
                      </a:solidFill>
                      <a:prstDash val="solid"/>
                    </a:lnB>
                    <a:solidFill>
                      <a:srgbClr val="173F39"/>
                    </a:solidFill>
                  </a:tcPr>
                </a:tc>
              </a:tr>
              <a:tr h="666750">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Decision / opinion needed</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6</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r>
              <a:tr h="666750">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Direct mention</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6</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r>
              <a:tr h="666750">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General progress</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2</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4</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E7EEE7"/>
                    </a:solidFill>
                  </a:tcPr>
                </a:tc>
              </a:tr>
              <a:tr h="666750">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Low-priority discussion</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L w="6191">
                      <a:solidFill>
                        <a:srgbClr val="DCE3DA"/>
                      </a:solidFill>
                      <a:prstDash val="solid"/>
                    </a:lnL>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0</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5</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c>
                  <a:txBody>
                    <a:bodyPr wrap="square">
                      <a:spAutoFit/>
                    </a:bodyPr>
                    <a:lstStyle/>
                    <a:p>
                      <a:pPr>
                        <a:lnSpc>
                          <a:spcPct val="110000"/>
                        </a:lnSpc>
                        <a:buNone/>
                      </a:pPr>
                      <a:r>
                        <a:rPr sz="1875" b="0">
                          <a:solidFill>
                            <a:srgbClr val="173F39"/>
                          </a:solidFill>
                          <a:latin typeface="微软雅黑" panose="020B0503020204020204" charset="-122"/>
                          <a:ea typeface="微软雅黑" panose="020B0503020204020204" charset="-122"/>
                          <a:cs typeface="微软雅黑" panose="020B0503020204020204" charset="-122"/>
                        </a:rPr>
                        <a:t>1</a:t>
                      </a:r>
                      <a:endParaRPr sz="1875" b="0">
                        <a:solidFill>
                          <a:srgbClr val="173F39"/>
                        </a:solidFill>
                        <a:latin typeface="微软雅黑" panose="020B0503020204020204" charset="-122"/>
                        <a:ea typeface="微软雅黑" panose="020B0503020204020204" charset="-122"/>
                        <a:cs typeface="微软雅黑" panose="020B0503020204020204" charset="-122"/>
                      </a:endParaRPr>
                    </a:p>
                  </a:txBody>
                  <a:tcPr marL="152400" marR="152400" marT="95250" marB="95250" anchor="ctr">
                    <a:lnR w="6191">
                      <a:solidFill>
                        <a:srgbClr val="DCE3DA"/>
                      </a:solidFill>
                      <a:prstDash val="solid"/>
                    </a:lnR>
                    <a:lnB w="6191">
                      <a:solidFill>
                        <a:srgbClr val="DCE3DA"/>
                      </a:solidFill>
                      <a:prstDash val="solid"/>
                    </a:lnB>
                    <a:solidFill>
                      <a:srgbClr val="F5F3EC"/>
                    </a:solidFill>
                  </a:tcPr>
                </a:tc>
              </a:tr>
            </a:tbl>
          </a:graphicData>
        </a:graphic>
      </p:graphicFrame>
      <p:sp>
        <p:nvSpPr>
          <p:cNvPr id="8" name="Q2: 3/7 reported overlap in the previous six months.&#10;Q9: for"/>
          <p:cNvSpPr>
            <a:spLocks noGrp="1"/>
          </p:cNvSpPr>
          <p:nvPr/>
        </p:nvSpPr>
        <p:spPr>
          <a:xfrm>
            <a:off x="609600" y="5657850"/>
            <a:ext cx="10972800" cy="714375"/>
          </a:xfrm>
          <a:prstGeom prst="rect">
            <a:avLst/>
          </a:prstGeom>
          <a:noFill/>
          <a:ln w="0">
            <a:noFill/>
          </a:ln>
        </p:spPr>
        <p:txBody>
          <a:bodyPr wrap="square" lIns="0" tIns="0" rIns="0" bIns="0" anchor="t">
            <a:noAutofit/>
          </a:bodyPr>
          <a:lstStyle>
            <a:defPPr>
              <a:defRPr sz="172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72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72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72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72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72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72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72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72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72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Q2: 3/7 reported overlap in the previous six months.</a:t>
            </a:r>
            <a:endParaRPr sz="1725" b="0">
              <a:solidFill>
                <a:srgbClr val="617770"/>
              </a:solidFill>
              <a:latin typeface="微软雅黑" panose="020B0503020204020204" charset="-122"/>
              <a:ea typeface="微软雅黑" panose="020B0503020204020204" charset="-122"/>
              <a:cs typeface="微软雅黑" panose="020B0503020204020204" charset="-122"/>
            </a:endParaRPr>
          </a:p>
          <a:p>
            <a:pPr>
              <a:lnSpc>
                <a:spcPct val="112000"/>
              </a:lnSpc>
              <a:buNone/>
              <a:defRPr sz="1725" b="0">
                <a:solidFill>
                  <a:srgbClr val="617770"/>
                </a:solidFill>
                <a:latin typeface="微软雅黑" panose="020B0503020204020204" charset="-122"/>
                <a:ea typeface="微软雅黑" panose="020B0503020204020204" charset="-122"/>
                <a:cs typeface="微软雅黑" panose="020B0503020204020204" charset="-122"/>
              </a:defRPr>
            </a:pPr>
            <a:r>
              <a:rPr sz="1725" b="0">
                <a:solidFill>
                  <a:srgbClr val="617770"/>
                </a:solidFill>
                <a:latin typeface="微软雅黑" panose="020B0503020204020204" charset="-122"/>
                <a:ea typeface="微软雅黑" panose="020B0503020204020204" charset="-122"/>
                <a:cs typeface="微软雅黑" panose="020B0503020204020204" charset="-122"/>
              </a:rPr>
              <a:t>Q9: for complex issues, 4/7 preferred joining; 0/7 chose AI reply options.</a:t>
            </a:r>
            <a:endParaRPr sz="1725" b="0">
              <a:solidFill>
                <a:srgbClr val="61777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5F3EC"/>
        </a:solidFill>
        <a:effectLst/>
      </p:bgPr>
    </p:bg>
    <p:spTree>
      <p:nvGrpSpPr>
        <p:cNvPr id="1" name=""/>
        <p:cNvGrpSpPr/>
        <p:nvPr/>
      </p:nvGrpSpPr>
      <p:grpSpPr/>
      <p:sp>
        <p:nvSpPr>
          <p:cNvPr id="15" name="Comparison with ProxyMe"/>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Comparison with ProxyMe</a:t>
            </a:r>
            <a:endParaRPr sz="35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 name="Appendix 2"/>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Appendix 2</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3" name="Original: ProxyMe"/>
          <p:cNvSpPr>
            <a:spLocks noGrp="1"/>
          </p:cNvSpPr>
          <p:nvPr/>
        </p:nvSpPr>
        <p:spPr>
          <a:xfrm>
            <a:off x="609600" y="1714500"/>
            <a:ext cx="5286375" cy="466725"/>
          </a:xfrm>
          <a:prstGeom prst="rect">
            <a:avLst/>
          </a:prstGeom>
          <a:noFill/>
          <a:ln w="0">
            <a:noFill/>
          </a:ln>
        </p:spPr>
        <p:txBody>
          <a:bodyPr wrap="square" lIns="0" tIns="0" rIns="0" bIns="0" anchor="t">
            <a:noAutofit/>
          </a:bodyPr>
          <a:lstStyle>
            <a:defPPr>
              <a:defRPr sz="2325" b="1">
                <a:solidFill>
                  <a:srgbClr val="617770"/>
                </a:solidFill>
                <a:latin typeface="微软雅黑" panose="020B0503020204020204" charset="-122"/>
                <a:ea typeface="微软雅黑" panose="020B0503020204020204" charset="-122"/>
                <a:cs typeface="微软雅黑" panose="020B0503020204020204" charset="-122"/>
              </a:defRPr>
            </a:defPPr>
            <a:lvl1pPr>
              <a:buNone/>
              <a:defRPr sz="2325" b="1">
                <a:solidFill>
                  <a:srgbClr val="617770"/>
                </a:solidFill>
                <a:latin typeface="微软雅黑" panose="020B0503020204020204" charset="-122"/>
                <a:ea typeface="微软雅黑" panose="020B0503020204020204" charset="-122"/>
                <a:cs typeface="微软雅黑" panose="020B0503020204020204" charset="-122"/>
              </a:defRPr>
            </a:lvl1pPr>
            <a:lvl2pPr>
              <a:buNone/>
              <a:defRPr sz="2325" b="1">
                <a:solidFill>
                  <a:srgbClr val="617770"/>
                </a:solidFill>
                <a:latin typeface="微软雅黑" panose="020B0503020204020204" charset="-122"/>
                <a:ea typeface="微软雅黑" panose="020B0503020204020204" charset="-122"/>
                <a:cs typeface="微软雅黑" panose="020B0503020204020204" charset="-122"/>
              </a:defRPr>
            </a:lvl2pPr>
            <a:lvl3pPr>
              <a:buNone/>
              <a:defRPr sz="2325" b="1">
                <a:solidFill>
                  <a:srgbClr val="617770"/>
                </a:solidFill>
                <a:latin typeface="微软雅黑" panose="020B0503020204020204" charset="-122"/>
                <a:ea typeface="微软雅黑" panose="020B0503020204020204" charset="-122"/>
                <a:cs typeface="微软雅黑" panose="020B0503020204020204" charset="-122"/>
              </a:defRPr>
            </a:lvl3pPr>
            <a:lvl4pPr>
              <a:buNone/>
              <a:defRPr sz="2325" b="1">
                <a:solidFill>
                  <a:srgbClr val="617770"/>
                </a:solidFill>
                <a:latin typeface="微软雅黑" panose="020B0503020204020204" charset="-122"/>
                <a:ea typeface="微软雅黑" panose="020B0503020204020204" charset="-122"/>
                <a:cs typeface="微软雅黑" panose="020B0503020204020204" charset="-122"/>
              </a:defRPr>
            </a:lvl4pPr>
            <a:lvl5pPr>
              <a:buNone/>
              <a:defRPr sz="2325" b="1">
                <a:solidFill>
                  <a:srgbClr val="617770"/>
                </a:solidFill>
                <a:latin typeface="微软雅黑" panose="020B0503020204020204" charset="-122"/>
                <a:ea typeface="微软雅黑" panose="020B0503020204020204" charset="-122"/>
                <a:cs typeface="微软雅黑" panose="020B0503020204020204" charset="-122"/>
              </a:defRPr>
            </a:lvl5pPr>
            <a:lvl6pPr>
              <a:buNone/>
              <a:defRPr sz="2325" b="1">
                <a:solidFill>
                  <a:srgbClr val="617770"/>
                </a:solidFill>
                <a:latin typeface="微软雅黑" panose="020B0503020204020204" charset="-122"/>
                <a:ea typeface="微软雅黑" panose="020B0503020204020204" charset="-122"/>
                <a:cs typeface="微软雅黑" panose="020B0503020204020204" charset="-122"/>
              </a:defRPr>
            </a:lvl6pPr>
            <a:lvl7pPr>
              <a:buNone/>
              <a:defRPr sz="2325" b="1">
                <a:solidFill>
                  <a:srgbClr val="617770"/>
                </a:solidFill>
                <a:latin typeface="微软雅黑" panose="020B0503020204020204" charset="-122"/>
                <a:ea typeface="微软雅黑" panose="020B0503020204020204" charset="-122"/>
                <a:cs typeface="微软雅黑" panose="020B0503020204020204" charset="-122"/>
              </a:defRPr>
            </a:lvl7pPr>
            <a:lvl8pPr>
              <a:buNone/>
              <a:defRPr sz="2325" b="1">
                <a:solidFill>
                  <a:srgbClr val="617770"/>
                </a:solidFill>
                <a:latin typeface="微软雅黑" panose="020B0503020204020204" charset="-122"/>
                <a:ea typeface="微软雅黑" panose="020B0503020204020204" charset="-122"/>
                <a:cs typeface="微软雅黑" panose="020B0503020204020204" charset="-122"/>
              </a:defRPr>
            </a:lvl8pPr>
            <a:lvl9pPr>
              <a:buNone/>
              <a:defRPr sz="2325" b="1">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325" b="1">
                <a:solidFill>
                  <a:srgbClr val="617770"/>
                </a:solidFill>
                <a:latin typeface="微软雅黑" panose="020B0503020204020204" charset="-122"/>
                <a:ea typeface="微软雅黑" panose="020B0503020204020204" charset="-122"/>
                <a:cs typeface="微软雅黑" panose="020B0503020204020204" charset="-122"/>
              </a:defRPr>
            </a:pPr>
            <a:r>
              <a:rPr sz="2325" b="1">
                <a:solidFill>
                  <a:srgbClr val="617770"/>
                </a:solidFill>
                <a:latin typeface="微软雅黑" panose="020B0503020204020204" charset="-122"/>
                <a:ea typeface="微软雅黑" panose="020B0503020204020204" charset="-122"/>
                <a:cs typeface="微软雅黑" panose="020B0503020204020204" charset="-122"/>
              </a:rPr>
              <a:t>Original: ProxyMe</a:t>
            </a:r>
            <a:endParaRPr sz="2325" b="1">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4" name="Our current extension"/>
          <p:cNvSpPr>
            <a:spLocks noGrp="1"/>
          </p:cNvSpPr>
          <p:nvPr/>
        </p:nvSpPr>
        <p:spPr>
          <a:xfrm>
            <a:off x="6572250" y="1714500"/>
            <a:ext cx="5010150" cy="466725"/>
          </a:xfrm>
          <a:prstGeom prst="rect">
            <a:avLst/>
          </a:prstGeom>
          <a:noFill/>
          <a:ln w="0">
            <a:noFill/>
          </a:ln>
        </p:spPr>
        <p:txBody>
          <a:bodyPr wrap="square" lIns="0" tIns="0" rIns="0" bIns="0" anchor="t">
            <a:noAutofit/>
          </a:bodyPr>
          <a:lstStyle>
            <a:defPPr>
              <a:defRPr sz="2325" b="1">
                <a:solidFill>
                  <a:srgbClr val="B5752F"/>
                </a:solidFill>
                <a:latin typeface="微软雅黑" panose="020B0503020204020204" charset="-122"/>
                <a:ea typeface="微软雅黑" panose="020B0503020204020204" charset="-122"/>
                <a:cs typeface="微软雅黑" panose="020B0503020204020204" charset="-122"/>
              </a:defRPr>
            </a:defPPr>
            <a:lvl1pPr>
              <a:buNone/>
              <a:defRPr sz="2325" b="1">
                <a:solidFill>
                  <a:srgbClr val="B5752F"/>
                </a:solidFill>
                <a:latin typeface="微软雅黑" panose="020B0503020204020204" charset="-122"/>
                <a:ea typeface="微软雅黑" panose="020B0503020204020204" charset="-122"/>
                <a:cs typeface="微软雅黑" panose="020B0503020204020204" charset="-122"/>
              </a:defRPr>
            </a:lvl1pPr>
            <a:lvl2pPr>
              <a:buNone/>
              <a:defRPr sz="2325" b="1">
                <a:solidFill>
                  <a:srgbClr val="B5752F"/>
                </a:solidFill>
                <a:latin typeface="微软雅黑" panose="020B0503020204020204" charset="-122"/>
                <a:ea typeface="微软雅黑" panose="020B0503020204020204" charset="-122"/>
                <a:cs typeface="微软雅黑" panose="020B0503020204020204" charset="-122"/>
              </a:defRPr>
            </a:lvl2pPr>
            <a:lvl3pPr>
              <a:buNone/>
              <a:defRPr sz="2325" b="1">
                <a:solidFill>
                  <a:srgbClr val="B5752F"/>
                </a:solidFill>
                <a:latin typeface="微软雅黑" panose="020B0503020204020204" charset="-122"/>
                <a:ea typeface="微软雅黑" panose="020B0503020204020204" charset="-122"/>
                <a:cs typeface="微软雅黑" panose="020B0503020204020204" charset="-122"/>
              </a:defRPr>
            </a:lvl3pPr>
            <a:lvl4pPr>
              <a:buNone/>
              <a:defRPr sz="2325" b="1">
                <a:solidFill>
                  <a:srgbClr val="B5752F"/>
                </a:solidFill>
                <a:latin typeface="微软雅黑" panose="020B0503020204020204" charset="-122"/>
                <a:ea typeface="微软雅黑" panose="020B0503020204020204" charset="-122"/>
                <a:cs typeface="微软雅黑" panose="020B0503020204020204" charset="-122"/>
              </a:defRPr>
            </a:lvl4pPr>
            <a:lvl5pPr>
              <a:buNone/>
              <a:defRPr sz="2325" b="1">
                <a:solidFill>
                  <a:srgbClr val="B5752F"/>
                </a:solidFill>
                <a:latin typeface="微软雅黑" panose="020B0503020204020204" charset="-122"/>
                <a:ea typeface="微软雅黑" panose="020B0503020204020204" charset="-122"/>
                <a:cs typeface="微软雅黑" panose="020B0503020204020204" charset="-122"/>
              </a:defRPr>
            </a:lvl5pPr>
            <a:lvl6pPr>
              <a:buNone/>
              <a:defRPr sz="2325" b="1">
                <a:solidFill>
                  <a:srgbClr val="B5752F"/>
                </a:solidFill>
                <a:latin typeface="微软雅黑" panose="020B0503020204020204" charset="-122"/>
                <a:ea typeface="微软雅黑" panose="020B0503020204020204" charset="-122"/>
                <a:cs typeface="微软雅黑" panose="020B0503020204020204" charset="-122"/>
              </a:defRPr>
            </a:lvl6pPr>
            <a:lvl7pPr>
              <a:buNone/>
              <a:defRPr sz="2325" b="1">
                <a:solidFill>
                  <a:srgbClr val="B5752F"/>
                </a:solidFill>
                <a:latin typeface="微软雅黑" panose="020B0503020204020204" charset="-122"/>
                <a:ea typeface="微软雅黑" panose="020B0503020204020204" charset="-122"/>
                <a:cs typeface="微软雅黑" panose="020B0503020204020204" charset="-122"/>
              </a:defRPr>
            </a:lvl7pPr>
            <a:lvl8pPr>
              <a:buNone/>
              <a:defRPr sz="2325" b="1">
                <a:solidFill>
                  <a:srgbClr val="B5752F"/>
                </a:solidFill>
                <a:latin typeface="微软雅黑" panose="020B0503020204020204" charset="-122"/>
                <a:ea typeface="微软雅黑" panose="020B0503020204020204" charset="-122"/>
                <a:cs typeface="微软雅黑" panose="020B0503020204020204" charset="-122"/>
              </a:defRPr>
            </a:lvl8pPr>
            <a:lvl9pPr>
              <a:buNone/>
              <a:defRPr sz="2325" b="1">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325" b="1">
                <a:solidFill>
                  <a:srgbClr val="B5752F"/>
                </a:solidFill>
                <a:latin typeface="微软雅黑" panose="020B0503020204020204" charset="-122"/>
                <a:ea typeface="微软雅黑" panose="020B0503020204020204" charset="-122"/>
                <a:cs typeface="微软雅黑" panose="020B0503020204020204" charset="-122"/>
              </a:defRPr>
            </a:pPr>
            <a:r>
              <a:rPr sz="2325" b="1">
                <a:solidFill>
                  <a:srgbClr val="B5752F"/>
                </a:solidFill>
                <a:latin typeface="微软雅黑" panose="020B0503020204020204" charset="-122"/>
                <a:ea typeface="微软雅黑" panose="020B0503020204020204" charset="-122"/>
                <a:cs typeface="微软雅黑" panose="020B0503020204020204" charset="-122"/>
              </a:rPr>
              <a:t>Our current extension</a:t>
            </a:r>
            <a:endParaRPr sz="2325" b="1">
              <a:solidFill>
                <a:srgbClr val="B5752F"/>
              </a:solidFill>
              <a:latin typeface="微软雅黑" panose="020B0503020204020204" charset="-122"/>
              <a:ea typeface="微软雅黑" panose="020B0503020204020204" charset="-122"/>
              <a:cs typeface="微软雅黑" panose="020B0503020204020204" charset="-122"/>
            </a:endParaRPr>
          </a:p>
        </p:txBody>
      </p:sp>
      <p:sp>
        <p:nvSpPr>
          <p:cNvPr id="5" name="Updates while working elsewhere"/>
          <p:cNvSpPr>
            <a:spLocks noGrp="1"/>
          </p:cNvSpPr>
          <p:nvPr/>
        </p:nvSpPr>
        <p:spPr>
          <a:xfrm>
            <a:off x="609600" y="2571750"/>
            <a:ext cx="5286375"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Updates while working elsewhere</a:t>
            </a:r>
            <a:endParaRPr sz="20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6" name="Questions and participant replies"/>
          <p:cNvSpPr>
            <a:spLocks noGrp="1"/>
          </p:cNvSpPr>
          <p:nvPr/>
        </p:nvSpPr>
        <p:spPr>
          <a:xfrm>
            <a:off x="609600" y="3181350"/>
            <a:ext cx="5286375"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Questions and participant replies</a:t>
            </a:r>
            <a:endParaRPr sz="20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7" name="Frequency/detail and response modes"/>
          <p:cNvSpPr>
            <a:spLocks noGrp="1"/>
          </p:cNvSpPr>
          <p:nvPr/>
        </p:nvSpPr>
        <p:spPr>
          <a:xfrm>
            <a:off x="609600" y="3790950"/>
            <a:ext cx="5286375"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Frequency/detail and response modes</a:t>
            </a:r>
            <a:endParaRPr sz="20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8" name="Trade-offs in a 24-person study"/>
          <p:cNvSpPr>
            <a:spLocks noGrp="1"/>
          </p:cNvSpPr>
          <p:nvPr/>
        </p:nvSpPr>
        <p:spPr>
          <a:xfrm>
            <a:off x="609600" y="4400550"/>
            <a:ext cx="5286375"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Trade-offs in a 24-person study</a:t>
            </a:r>
            <a:endParaRPr sz="20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9" name="Role and availability in the prompt"/>
          <p:cNvSpPr>
            <a:spLocks noGrp="1"/>
          </p:cNvSpPr>
          <p:nvPr/>
        </p:nvSpPr>
        <p:spPr>
          <a:xfrm>
            <a:off x="6572250" y="2571750"/>
            <a:ext cx="5010150"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Role and availability in the prompt</a:t>
            </a:r>
            <a:endParaRPr sz="20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0" name="Now / Later / Awareness routing"/>
          <p:cNvSpPr>
            <a:spLocks noGrp="1"/>
          </p:cNvSpPr>
          <p:nvPr/>
        </p:nvSpPr>
        <p:spPr>
          <a:xfrm>
            <a:off x="6572250" y="3181350"/>
            <a:ext cx="5010150"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Now / Later / Awareness routing</a:t>
            </a:r>
            <a:endParaRPr sz="20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1" name="Inspectable request conditions"/>
          <p:cNvSpPr>
            <a:spLocks noGrp="1"/>
          </p:cNvSpPr>
          <p:nvPr/>
        </p:nvSpPr>
        <p:spPr>
          <a:xfrm>
            <a:off x="6572250" y="3790950"/>
            <a:ext cx="5010150"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Inspectable request conditions</a:t>
            </a:r>
            <a:endParaRPr sz="20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2" name="Editable, confirmed response flow"/>
          <p:cNvSpPr>
            <a:spLocks noGrp="1"/>
          </p:cNvSpPr>
          <p:nvPr/>
        </p:nvSpPr>
        <p:spPr>
          <a:xfrm>
            <a:off x="6572250" y="4400550"/>
            <a:ext cx="5010150" cy="495300"/>
          </a:xfrm>
          <a:prstGeom prst="rect">
            <a:avLst/>
          </a:prstGeom>
          <a:noFill/>
          <a:ln w="0">
            <a:noFill/>
          </a:ln>
        </p:spPr>
        <p:txBody>
          <a:bodyPr wrap="square" lIns="0" tIns="0" rIns="0" bIns="0" anchor="t">
            <a:noAutofit/>
          </a:bodyPr>
          <a:lstStyle>
            <a:defPPr>
              <a:defRPr sz="2025" b="0">
                <a:solidFill>
                  <a:srgbClr val="173F39"/>
                </a:solidFill>
                <a:latin typeface="微软雅黑" panose="020B0503020204020204" charset="-122"/>
                <a:ea typeface="微软雅黑" panose="020B0503020204020204" charset="-122"/>
                <a:cs typeface="微软雅黑" panose="020B0503020204020204" charset="-122"/>
              </a:defRPr>
            </a:defPPr>
            <a:lvl1pPr>
              <a:buNone/>
              <a:defRPr sz="2025" b="0">
                <a:solidFill>
                  <a:srgbClr val="173F39"/>
                </a:solidFill>
                <a:latin typeface="微软雅黑" panose="020B0503020204020204" charset="-122"/>
                <a:ea typeface="微软雅黑" panose="020B0503020204020204" charset="-122"/>
                <a:cs typeface="微软雅黑" panose="020B0503020204020204" charset="-122"/>
              </a:defRPr>
            </a:lvl1pPr>
            <a:lvl2pPr>
              <a:buNone/>
              <a:defRPr sz="2025" b="0">
                <a:solidFill>
                  <a:srgbClr val="173F39"/>
                </a:solidFill>
                <a:latin typeface="微软雅黑" panose="020B0503020204020204" charset="-122"/>
                <a:ea typeface="微软雅黑" panose="020B0503020204020204" charset="-122"/>
                <a:cs typeface="微软雅黑" panose="020B0503020204020204" charset="-122"/>
              </a:defRPr>
            </a:lvl2pPr>
            <a:lvl3pPr>
              <a:buNone/>
              <a:defRPr sz="2025" b="0">
                <a:solidFill>
                  <a:srgbClr val="173F39"/>
                </a:solidFill>
                <a:latin typeface="微软雅黑" panose="020B0503020204020204" charset="-122"/>
                <a:ea typeface="微软雅黑" panose="020B0503020204020204" charset="-122"/>
                <a:cs typeface="微软雅黑" panose="020B0503020204020204" charset="-122"/>
              </a:defRPr>
            </a:lvl3pPr>
            <a:lvl4pPr>
              <a:buNone/>
              <a:defRPr sz="2025" b="0">
                <a:solidFill>
                  <a:srgbClr val="173F39"/>
                </a:solidFill>
                <a:latin typeface="微软雅黑" panose="020B0503020204020204" charset="-122"/>
                <a:ea typeface="微软雅黑" panose="020B0503020204020204" charset="-122"/>
                <a:cs typeface="微软雅黑" panose="020B0503020204020204" charset="-122"/>
              </a:defRPr>
            </a:lvl4pPr>
            <a:lvl5pPr>
              <a:buNone/>
              <a:defRPr sz="2025" b="0">
                <a:solidFill>
                  <a:srgbClr val="173F39"/>
                </a:solidFill>
                <a:latin typeface="微软雅黑" panose="020B0503020204020204" charset="-122"/>
                <a:ea typeface="微软雅黑" panose="020B0503020204020204" charset="-122"/>
                <a:cs typeface="微软雅黑" panose="020B0503020204020204" charset="-122"/>
              </a:defRPr>
            </a:lvl5pPr>
            <a:lvl6pPr>
              <a:buNone/>
              <a:defRPr sz="2025" b="0">
                <a:solidFill>
                  <a:srgbClr val="173F39"/>
                </a:solidFill>
                <a:latin typeface="微软雅黑" panose="020B0503020204020204" charset="-122"/>
                <a:ea typeface="微软雅黑" panose="020B0503020204020204" charset="-122"/>
                <a:cs typeface="微软雅黑" panose="020B0503020204020204" charset="-122"/>
              </a:defRPr>
            </a:lvl6pPr>
            <a:lvl7pPr>
              <a:buNone/>
              <a:defRPr sz="2025" b="0">
                <a:solidFill>
                  <a:srgbClr val="173F39"/>
                </a:solidFill>
                <a:latin typeface="微软雅黑" panose="020B0503020204020204" charset="-122"/>
                <a:ea typeface="微软雅黑" panose="020B0503020204020204" charset="-122"/>
                <a:cs typeface="微软雅黑" panose="020B0503020204020204" charset="-122"/>
              </a:defRPr>
            </a:lvl7pPr>
            <a:lvl8pPr>
              <a:buNone/>
              <a:defRPr sz="2025" b="0">
                <a:solidFill>
                  <a:srgbClr val="173F39"/>
                </a:solidFill>
                <a:latin typeface="微软雅黑" panose="020B0503020204020204" charset="-122"/>
                <a:ea typeface="微软雅黑" panose="020B0503020204020204" charset="-122"/>
                <a:cs typeface="微软雅黑" panose="020B0503020204020204" charset="-122"/>
              </a:defRPr>
            </a:lvl8pPr>
            <a:lvl9pPr>
              <a:buNone/>
              <a:defRPr sz="2025" b="0">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025" b="0">
                <a:solidFill>
                  <a:srgbClr val="173F39"/>
                </a:solidFill>
                <a:latin typeface="微软雅黑" panose="020B0503020204020204" charset="-122"/>
                <a:ea typeface="微软雅黑" panose="020B0503020204020204" charset="-122"/>
                <a:cs typeface="微软雅黑" panose="020B0503020204020204" charset="-122"/>
              </a:defRPr>
            </a:pPr>
            <a:r>
              <a:rPr sz="2025" b="0">
                <a:solidFill>
                  <a:srgbClr val="173F39"/>
                </a:solidFill>
                <a:latin typeface="微软雅黑" panose="020B0503020204020204" charset="-122"/>
                <a:ea typeface="微软雅黑" panose="020B0503020204020204" charset="-122"/>
                <a:cs typeface="微软雅黑" panose="020B0503020204020204" charset="-122"/>
              </a:rPr>
              <a:t>Editable, confirmed response flow</a:t>
            </a:r>
            <a:endParaRPr sz="2025" b="0">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3" name="The research contribution remains a hypothesis&#10;until th"/>
          <p:cNvSpPr>
            <a:spLocks noGrp="1"/>
          </p:cNvSpPr>
          <p:nvPr/>
        </p:nvSpPr>
        <p:spPr>
          <a:xfrm>
            <a:off x="609600" y="5286375"/>
            <a:ext cx="10972800" cy="781050"/>
          </a:xfrm>
          <a:prstGeom prst="rect">
            <a:avLst/>
          </a:prstGeom>
          <a:noFill/>
          <a:ln w="0">
            <a:noFill/>
          </a:ln>
        </p:spPr>
        <p:txBody>
          <a:bodyPr wrap="square" lIns="0" tIns="0" rIns="0" bIns="0" anchor="t">
            <a:noAutofit/>
          </a:bodyPr>
          <a:lstStyle>
            <a:defPPr>
              <a:defRPr sz="217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17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17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17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17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17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17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17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17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17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175" b="1">
                <a:solidFill>
                  <a:srgbClr val="173F39"/>
                </a:solidFill>
                <a:latin typeface="微软雅黑" panose="020B0503020204020204" charset="-122"/>
                <a:ea typeface="微软雅黑" panose="020B0503020204020204" charset="-122"/>
                <a:cs typeface="微软雅黑" panose="020B0503020204020204" charset="-122"/>
              </a:defRPr>
            </a:pPr>
            <a:r>
              <a:rPr sz="2175" b="1">
                <a:solidFill>
                  <a:srgbClr val="173F39"/>
                </a:solidFill>
                <a:latin typeface="微软雅黑" panose="020B0503020204020204" charset="-122"/>
                <a:ea typeface="微软雅黑" panose="020B0503020204020204" charset="-122"/>
                <a:cs typeface="微软雅黑" panose="020B0503020204020204" charset="-122"/>
              </a:rPr>
              <a:t>The research contribution remains a hypothesis</a:t>
            </a:r>
            <a:endParaRPr sz="2175" b="1">
              <a:solidFill>
                <a:srgbClr val="173F39"/>
              </a:solidFill>
              <a:latin typeface="微软雅黑" panose="020B0503020204020204" charset="-122"/>
              <a:ea typeface="微软雅黑" panose="020B0503020204020204" charset="-122"/>
              <a:cs typeface="微软雅黑" panose="020B0503020204020204" charset="-122"/>
            </a:endParaRPr>
          </a:p>
          <a:p>
            <a:pPr>
              <a:lnSpc>
                <a:spcPct val="112000"/>
              </a:lnSpc>
              <a:buNone/>
              <a:defRPr sz="2175" b="1">
                <a:solidFill>
                  <a:srgbClr val="173F39"/>
                </a:solidFill>
                <a:latin typeface="微软雅黑" panose="020B0503020204020204" charset="-122"/>
                <a:ea typeface="微软雅黑" panose="020B0503020204020204" charset="-122"/>
                <a:cs typeface="微软雅黑" panose="020B0503020204020204" charset="-122"/>
              </a:defRPr>
            </a:pPr>
            <a:r>
              <a:rPr sz="2175" b="1">
                <a:solidFill>
                  <a:srgbClr val="173F39"/>
                </a:solidFill>
                <a:latin typeface="微软雅黑" panose="020B0503020204020204" charset="-122"/>
                <a:ea typeface="微软雅黑" panose="020B0503020204020204" charset="-122"/>
                <a:cs typeface="微软雅黑" panose="020B0503020204020204" charset="-122"/>
              </a:rPr>
              <a:t>until the routing trade-off is evaluated.</a:t>
            </a:r>
            <a:endParaRPr sz="217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4" name="Bai, Png &amp; Velloso (2026), Enabling Partial Participati"/>
          <p:cNvSpPr>
            <a:spLocks noGrp="1"/>
          </p:cNvSpPr>
          <p:nvPr/>
        </p:nvSpPr>
        <p:spPr>
          <a:xfrm>
            <a:off x="609600" y="6115050"/>
            <a:ext cx="9525000" cy="52387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Bai, Png &amp; Velloso (2026), Enabling Partial Participation in Remote Meetings, CHI 2026.</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5F3EC"/>
        </a:solidFill>
        <a:effectLst/>
      </p:bgPr>
    </p:bg>
    <p:spTree>
      <p:nvGrpSpPr>
        <p:cNvPr id="1" name=""/>
        <p:cNvGrpSpPr/>
        <p:nvPr/>
      </p:nvGrpSpPr>
      <p:grpSpPr/>
      <p:sp>
        <p:nvSpPr>
          <p:cNvPr id="13" name="Questions to bring to the TA"/>
          <p:cNvSpPr>
            <a:spLocks noGrp="1"/>
          </p:cNvSpPr>
          <p:nvPr/>
        </p:nvSpPr>
        <p:spPr>
          <a:xfrm>
            <a:off x="609600" y="457200"/>
            <a:ext cx="10972800" cy="819150"/>
          </a:xfrm>
          <a:prstGeom prst="rect">
            <a:avLst/>
          </a:prstGeom>
          <a:noFill/>
          <a:ln w="0">
            <a:noFill/>
          </a:ln>
        </p:spPr>
        <p:txBody>
          <a:bodyPr wrap="square" lIns="0" tIns="0" rIns="0" bIns="0" anchor="t">
            <a:noAutofit/>
          </a:bodyPr>
          <a:lstStyle>
            <a:defPPr>
              <a:defRPr sz="3525"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3525"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3525"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3525"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3525"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3525"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3525"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3525"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3525"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3525"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3525" b="1">
                <a:solidFill>
                  <a:srgbClr val="173F39"/>
                </a:solidFill>
                <a:latin typeface="微软雅黑" panose="020B0503020204020204" charset="-122"/>
                <a:ea typeface="微软雅黑" panose="020B0503020204020204" charset="-122"/>
                <a:cs typeface="微软雅黑" panose="020B0503020204020204" charset="-122"/>
              </a:defRPr>
            </a:pPr>
            <a:r>
              <a:rPr sz="3525" b="1">
                <a:solidFill>
                  <a:srgbClr val="173F39"/>
                </a:solidFill>
                <a:latin typeface="微软雅黑" panose="020B0503020204020204" charset="-122"/>
                <a:ea typeface="微软雅黑" panose="020B0503020204020204" charset="-122"/>
                <a:cs typeface="微软雅黑" panose="020B0503020204020204" charset="-122"/>
              </a:rPr>
              <a:t>Questions to bring to the TA</a:t>
            </a:r>
            <a:endParaRPr sz="3525"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2" name="Appendix 3"/>
          <p:cNvSpPr>
            <a:spLocks noGrp="1"/>
          </p:cNvSpPr>
          <p:nvPr/>
        </p:nvSpPr>
        <p:spPr>
          <a:xfrm>
            <a:off x="10382250" y="6419850"/>
            <a:ext cx="1381125" cy="247650"/>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Appendix 3</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3" name="01"/>
          <p:cNvSpPr>
            <a:spLocks noGrp="1"/>
          </p:cNvSpPr>
          <p:nvPr/>
        </p:nvSpPr>
        <p:spPr>
          <a:xfrm>
            <a:off x="609600" y="1666875"/>
            <a:ext cx="857250" cy="723900"/>
          </a:xfrm>
          <a:prstGeom prst="rect">
            <a:avLst/>
          </a:prstGeom>
          <a:noFill/>
          <a:ln w="0">
            <a:noFill/>
          </a:ln>
        </p:spPr>
        <p:txBody>
          <a:bodyPr wrap="square" lIns="0" tIns="0" rIns="0" bIns="0" anchor="t">
            <a:noAutofit/>
          </a:bodyPr>
          <a:lstStyle>
            <a:defPPr>
              <a:defRPr sz="4425" b="0">
                <a:solidFill>
                  <a:srgbClr val="B5752F"/>
                </a:solidFill>
                <a:latin typeface="微软雅黑" panose="020B0503020204020204" charset="-122"/>
                <a:ea typeface="微软雅黑" panose="020B0503020204020204" charset="-122"/>
                <a:cs typeface="微软雅黑" panose="020B0503020204020204" charset="-122"/>
              </a:defRPr>
            </a:defPPr>
            <a:lvl1pPr>
              <a:buNone/>
              <a:defRPr sz="4425" b="0">
                <a:solidFill>
                  <a:srgbClr val="B5752F"/>
                </a:solidFill>
                <a:latin typeface="微软雅黑" panose="020B0503020204020204" charset="-122"/>
                <a:ea typeface="微软雅黑" panose="020B0503020204020204" charset="-122"/>
                <a:cs typeface="微软雅黑" panose="020B0503020204020204" charset="-122"/>
              </a:defRPr>
            </a:lvl1pPr>
            <a:lvl2pPr>
              <a:buNone/>
              <a:defRPr sz="4425" b="0">
                <a:solidFill>
                  <a:srgbClr val="B5752F"/>
                </a:solidFill>
                <a:latin typeface="微软雅黑" panose="020B0503020204020204" charset="-122"/>
                <a:ea typeface="微软雅黑" panose="020B0503020204020204" charset="-122"/>
                <a:cs typeface="微软雅黑" panose="020B0503020204020204" charset="-122"/>
              </a:defRPr>
            </a:lvl2pPr>
            <a:lvl3pPr>
              <a:buNone/>
              <a:defRPr sz="4425" b="0">
                <a:solidFill>
                  <a:srgbClr val="B5752F"/>
                </a:solidFill>
                <a:latin typeface="微软雅黑" panose="020B0503020204020204" charset="-122"/>
                <a:ea typeface="微软雅黑" panose="020B0503020204020204" charset="-122"/>
                <a:cs typeface="微软雅黑" panose="020B0503020204020204" charset="-122"/>
              </a:defRPr>
            </a:lvl3pPr>
            <a:lvl4pPr>
              <a:buNone/>
              <a:defRPr sz="4425" b="0">
                <a:solidFill>
                  <a:srgbClr val="B5752F"/>
                </a:solidFill>
                <a:latin typeface="微软雅黑" panose="020B0503020204020204" charset="-122"/>
                <a:ea typeface="微软雅黑" panose="020B0503020204020204" charset="-122"/>
                <a:cs typeface="微软雅黑" panose="020B0503020204020204" charset="-122"/>
              </a:defRPr>
            </a:lvl4pPr>
            <a:lvl5pPr>
              <a:buNone/>
              <a:defRPr sz="4425" b="0">
                <a:solidFill>
                  <a:srgbClr val="B5752F"/>
                </a:solidFill>
                <a:latin typeface="微软雅黑" panose="020B0503020204020204" charset="-122"/>
                <a:ea typeface="微软雅黑" panose="020B0503020204020204" charset="-122"/>
                <a:cs typeface="微软雅黑" panose="020B0503020204020204" charset="-122"/>
              </a:defRPr>
            </a:lvl5pPr>
            <a:lvl6pPr>
              <a:buNone/>
              <a:defRPr sz="4425" b="0">
                <a:solidFill>
                  <a:srgbClr val="B5752F"/>
                </a:solidFill>
                <a:latin typeface="微软雅黑" panose="020B0503020204020204" charset="-122"/>
                <a:ea typeface="微软雅黑" panose="020B0503020204020204" charset="-122"/>
                <a:cs typeface="微软雅黑" panose="020B0503020204020204" charset="-122"/>
              </a:defRPr>
            </a:lvl6pPr>
            <a:lvl7pPr>
              <a:buNone/>
              <a:defRPr sz="4425" b="0">
                <a:solidFill>
                  <a:srgbClr val="B5752F"/>
                </a:solidFill>
                <a:latin typeface="微软雅黑" panose="020B0503020204020204" charset="-122"/>
                <a:ea typeface="微软雅黑" panose="020B0503020204020204" charset="-122"/>
                <a:cs typeface="微软雅黑" panose="020B0503020204020204" charset="-122"/>
              </a:defRPr>
            </a:lvl7pPr>
            <a:lvl8pPr>
              <a:buNone/>
              <a:defRPr sz="4425" b="0">
                <a:solidFill>
                  <a:srgbClr val="B5752F"/>
                </a:solidFill>
                <a:latin typeface="微软雅黑" panose="020B0503020204020204" charset="-122"/>
                <a:ea typeface="微软雅黑" panose="020B0503020204020204" charset="-122"/>
                <a:cs typeface="微软雅黑" panose="020B0503020204020204" charset="-122"/>
              </a:defRPr>
            </a:lvl8pPr>
            <a:lvl9pPr>
              <a:buNone/>
              <a:defRPr sz="4425" b="0">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4425" b="0">
                <a:solidFill>
                  <a:srgbClr val="B5752F"/>
                </a:solidFill>
                <a:latin typeface="微软雅黑" panose="020B0503020204020204" charset="-122"/>
                <a:ea typeface="微软雅黑" panose="020B0503020204020204" charset="-122"/>
                <a:cs typeface="微软雅黑" panose="020B0503020204020204" charset="-122"/>
              </a:defRPr>
            </a:pPr>
            <a:r>
              <a:rPr sz="4425" b="0">
                <a:solidFill>
                  <a:srgbClr val="B5752F"/>
                </a:solidFill>
                <a:latin typeface="微软雅黑" panose="020B0503020204020204" charset="-122"/>
                <a:ea typeface="微软雅黑" panose="020B0503020204020204" charset="-122"/>
                <a:cs typeface="微软雅黑" panose="020B0503020204020204" charset="-122"/>
              </a:rPr>
              <a:t>01</a:t>
            </a:r>
            <a:endParaRPr sz="4425" b="0">
              <a:solidFill>
                <a:srgbClr val="B5752F"/>
              </a:solidFill>
              <a:latin typeface="微软雅黑" panose="020B0503020204020204" charset="-122"/>
              <a:ea typeface="微软雅黑" panose="020B0503020204020204" charset="-122"/>
              <a:cs typeface="微软雅黑" panose="020B0503020204020204" charset="-122"/>
            </a:endParaRPr>
          </a:p>
        </p:txBody>
      </p:sp>
      <p:sp>
        <p:nvSpPr>
          <p:cNvPr id="4" name="Is the target decision clear enough?"/>
          <p:cNvSpPr>
            <a:spLocks noGrp="1"/>
          </p:cNvSpPr>
          <p:nvPr/>
        </p:nvSpPr>
        <p:spPr>
          <a:xfrm>
            <a:off x="1809750" y="1685925"/>
            <a:ext cx="9772650" cy="533400"/>
          </a:xfrm>
          <a:prstGeom prst="rect">
            <a:avLst/>
          </a:prstGeom>
          <a:noFill/>
          <a:ln w="0">
            <a:noFill/>
          </a:ln>
        </p:spPr>
        <p:txBody>
          <a:bodyPr wrap="square" lIns="0" tIns="0" rIns="0" bIns="0" anchor="t">
            <a:noAutofit/>
          </a:bodyPr>
          <a:lstStyle>
            <a:defPPr>
              <a:defRPr sz="24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4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4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4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4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4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4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4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4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4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400" b="1">
                <a:solidFill>
                  <a:srgbClr val="173F39"/>
                </a:solidFill>
                <a:latin typeface="微软雅黑" panose="020B0503020204020204" charset="-122"/>
                <a:ea typeface="微软雅黑" panose="020B0503020204020204" charset="-122"/>
                <a:cs typeface="微软雅黑" panose="020B0503020204020204" charset="-122"/>
              </a:defRPr>
            </a:pPr>
            <a:r>
              <a:rPr sz="2400" b="1">
                <a:solidFill>
                  <a:srgbClr val="173F39"/>
                </a:solidFill>
                <a:latin typeface="微软雅黑" panose="020B0503020204020204" charset="-122"/>
                <a:ea typeface="微软雅黑" panose="020B0503020204020204" charset="-122"/>
                <a:cs typeface="微软雅黑" panose="020B0503020204020204" charset="-122"/>
              </a:rPr>
              <a:t>Is the target decision clear enough?</a:t>
            </a:r>
            <a:endParaRPr sz="240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5" name="People with occasional, role-specific input during a pa"/>
          <p:cNvSpPr>
            <a:spLocks noGrp="1"/>
          </p:cNvSpPr>
          <p:nvPr/>
        </p:nvSpPr>
        <p:spPr>
          <a:xfrm>
            <a:off x="1809750" y="2352675"/>
            <a:ext cx="9772650" cy="628650"/>
          </a:xfrm>
          <a:prstGeom prst="rect">
            <a:avLst/>
          </a:prstGeom>
          <a:noFill/>
          <a:ln w="0">
            <a:noFill/>
          </a:ln>
        </p:spPr>
        <p:txBody>
          <a:bodyPr wrap="square" lIns="0" tIns="0" rIns="0" bIns="0" anchor="t">
            <a:noAutofit/>
          </a:bodyPr>
          <a:lstStyle>
            <a:defPPr>
              <a:defRPr sz="18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8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8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8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8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8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8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8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8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8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617770"/>
                </a:solidFill>
                <a:latin typeface="微软雅黑" panose="020B0503020204020204" charset="-122"/>
                <a:ea typeface="微软雅黑" panose="020B0503020204020204" charset="-122"/>
                <a:cs typeface="微软雅黑" panose="020B0503020204020204" charset="-122"/>
              </a:defRPr>
            </a:pPr>
            <a:r>
              <a:rPr sz="1875" b="0">
                <a:solidFill>
                  <a:srgbClr val="617770"/>
                </a:solidFill>
                <a:latin typeface="微软雅黑" panose="020B0503020204020204" charset="-122"/>
                <a:ea typeface="微软雅黑" panose="020B0503020204020204" charset="-122"/>
                <a:cs typeface="微软雅黑" panose="020B0503020204020204" charset="-122"/>
              </a:rPr>
              <a:t>People with occasional, role-specific input during a parallel task.</a:t>
            </a:r>
            <a:endParaRPr sz="18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6" name="02"/>
          <p:cNvSpPr>
            <a:spLocks noGrp="1"/>
          </p:cNvSpPr>
          <p:nvPr/>
        </p:nvSpPr>
        <p:spPr>
          <a:xfrm>
            <a:off x="609600" y="3124200"/>
            <a:ext cx="857250" cy="723900"/>
          </a:xfrm>
          <a:prstGeom prst="rect">
            <a:avLst/>
          </a:prstGeom>
          <a:noFill/>
          <a:ln w="0">
            <a:noFill/>
          </a:ln>
        </p:spPr>
        <p:txBody>
          <a:bodyPr wrap="square" lIns="0" tIns="0" rIns="0" bIns="0" anchor="t">
            <a:noAutofit/>
          </a:bodyPr>
          <a:lstStyle>
            <a:defPPr>
              <a:defRPr sz="4425" b="0">
                <a:solidFill>
                  <a:srgbClr val="B5752F"/>
                </a:solidFill>
                <a:latin typeface="微软雅黑" panose="020B0503020204020204" charset="-122"/>
                <a:ea typeface="微软雅黑" panose="020B0503020204020204" charset="-122"/>
                <a:cs typeface="微软雅黑" panose="020B0503020204020204" charset="-122"/>
              </a:defRPr>
            </a:defPPr>
            <a:lvl1pPr>
              <a:buNone/>
              <a:defRPr sz="4425" b="0">
                <a:solidFill>
                  <a:srgbClr val="B5752F"/>
                </a:solidFill>
                <a:latin typeface="微软雅黑" panose="020B0503020204020204" charset="-122"/>
                <a:ea typeface="微软雅黑" panose="020B0503020204020204" charset="-122"/>
                <a:cs typeface="微软雅黑" panose="020B0503020204020204" charset="-122"/>
              </a:defRPr>
            </a:lvl1pPr>
            <a:lvl2pPr>
              <a:buNone/>
              <a:defRPr sz="4425" b="0">
                <a:solidFill>
                  <a:srgbClr val="B5752F"/>
                </a:solidFill>
                <a:latin typeface="微软雅黑" panose="020B0503020204020204" charset="-122"/>
                <a:ea typeface="微软雅黑" panose="020B0503020204020204" charset="-122"/>
                <a:cs typeface="微软雅黑" panose="020B0503020204020204" charset="-122"/>
              </a:defRPr>
            </a:lvl2pPr>
            <a:lvl3pPr>
              <a:buNone/>
              <a:defRPr sz="4425" b="0">
                <a:solidFill>
                  <a:srgbClr val="B5752F"/>
                </a:solidFill>
                <a:latin typeface="微软雅黑" panose="020B0503020204020204" charset="-122"/>
                <a:ea typeface="微软雅黑" panose="020B0503020204020204" charset="-122"/>
                <a:cs typeface="微软雅黑" panose="020B0503020204020204" charset="-122"/>
              </a:defRPr>
            </a:lvl3pPr>
            <a:lvl4pPr>
              <a:buNone/>
              <a:defRPr sz="4425" b="0">
                <a:solidFill>
                  <a:srgbClr val="B5752F"/>
                </a:solidFill>
                <a:latin typeface="微软雅黑" panose="020B0503020204020204" charset="-122"/>
                <a:ea typeface="微软雅黑" panose="020B0503020204020204" charset="-122"/>
                <a:cs typeface="微软雅黑" panose="020B0503020204020204" charset="-122"/>
              </a:defRPr>
            </a:lvl4pPr>
            <a:lvl5pPr>
              <a:buNone/>
              <a:defRPr sz="4425" b="0">
                <a:solidFill>
                  <a:srgbClr val="B5752F"/>
                </a:solidFill>
                <a:latin typeface="微软雅黑" panose="020B0503020204020204" charset="-122"/>
                <a:ea typeface="微软雅黑" panose="020B0503020204020204" charset="-122"/>
                <a:cs typeface="微软雅黑" panose="020B0503020204020204" charset="-122"/>
              </a:defRPr>
            </a:lvl5pPr>
            <a:lvl6pPr>
              <a:buNone/>
              <a:defRPr sz="4425" b="0">
                <a:solidFill>
                  <a:srgbClr val="B5752F"/>
                </a:solidFill>
                <a:latin typeface="微软雅黑" panose="020B0503020204020204" charset="-122"/>
                <a:ea typeface="微软雅黑" panose="020B0503020204020204" charset="-122"/>
                <a:cs typeface="微软雅黑" panose="020B0503020204020204" charset="-122"/>
              </a:defRPr>
            </a:lvl6pPr>
            <a:lvl7pPr>
              <a:buNone/>
              <a:defRPr sz="4425" b="0">
                <a:solidFill>
                  <a:srgbClr val="B5752F"/>
                </a:solidFill>
                <a:latin typeface="微软雅黑" panose="020B0503020204020204" charset="-122"/>
                <a:ea typeface="微软雅黑" panose="020B0503020204020204" charset="-122"/>
                <a:cs typeface="微软雅黑" panose="020B0503020204020204" charset="-122"/>
              </a:defRPr>
            </a:lvl7pPr>
            <a:lvl8pPr>
              <a:buNone/>
              <a:defRPr sz="4425" b="0">
                <a:solidFill>
                  <a:srgbClr val="B5752F"/>
                </a:solidFill>
                <a:latin typeface="微软雅黑" panose="020B0503020204020204" charset="-122"/>
                <a:ea typeface="微软雅黑" panose="020B0503020204020204" charset="-122"/>
                <a:cs typeface="微软雅黑" panose="020B0503020204020204" charset="-122"/>
              </a:defRPr>
            </a:lvl8pPr>
            <a:lvl9pPr>
              <a:buNone/>
              <a:defRPr sz="4425" b="0">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4425" b="0">
                <a:solidFill>
                  <a:srgbClr val="B5752F"/>
                </a:solidFill>
                <a:latin typeface="微软雅黑" panose="020B0503020204020204" charset="-122"/>
                <a:ea typeface="微软雅黑" panose="020B0503020204020204" charset="-122"/>
                <a:cs typeface="微软雅黑" panose="020B0503020204020204" charset="-122"/>
              </a:defRPr>
            </a:pPr>
            <a:r>
              <a:rPr sz="4425" b="0">
                <a:solidFill>
                  <a:srgbClr val="B5752F"/>
                </a:solidFill>
                <a:latin typeface="微软雅黑" panose="020B0503020204020204" charset="-122"/>
                <a:ea typeface="微软雅黑" panose="020B0503020204020204" charset="-122"/>
                <a:cs typeface="微软雅黑" panose="020B0503020204020204" charset="-122"/>
              </a:rPr>
              <a:t>02</a:t>
            </a:r>
            <a:endParaRPr sz="4425" b="0">
              <a:solidFill>
                <a:srgbClr val="B5752F"/>
              </a:solidFill>
              <a:latin typeface="微软雅黑" panose="020B0503020204020204" charset="-122"/>
              <a:ea typeface="微软雅黑" panose="020B0503020204020204" charset="-122"/>
              <a:cs typeface="微软雅黑" panose="020B0503020204020204" charset="-122"/>
            </a:endParaRPr>
          </a:p>
        </p:txBody>
      </p:sp>
      <p:sp>
        <p:nvSpPr>
          <p:cNvPr id="7" name="What counts as a valid, timely contribution?"/>
          <p:cNvSpPr>
            <a:spLocks noGrp="1"/>
          </p:cNvSpPr>
          <p:nvPr/>
        </p:nvSpPr>
        <p:spPr>
          <a:xfrm>
            <a:off x="1809750" y="3143250"/>
            <a:ext cx="9772650" cy="533400"/>
          </a:xfrm>
          <a:prstGeom prst="rect">
            <a:avLst/>
          </a:prstGeom>
          <a:noFill/>
          <a:ln w="0">
            <a:noFill/>
          </a:ln>
        </p:spPr>
        <p:txBody>
          <a:bodyPr wrap="square" lIns="0" tIns="0" rIns="0" bIns="0" anchor="t">
            <a:noAutofit/>
          </a:bodyPr>
          <a:lstStyle>
            <a:defPPr>
              <a:defRPr sz="24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4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4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4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4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4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4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4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4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4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400" b="1">
                <a:solidFill>
                  <a:srgbClr val="173F39"/>
                </a:solidFill>
                <a:latin typeface="微软雅黑" panose="020B0503020204020204" charset="-122"/>
                <a:ea typeface="微软雅黑" panose="020B0503020204020204" charset="-122"/>
                <a:cs typeface="微软雅黑" panose="020B0503020204020204" charset="-122"/>
              </a:defRPr>
            </a:pPr>
            <a:r>
              <a:rPr sz="2400" b="1">
                <a:solidFill>
                  <a:srgbClr val="173F39"/>
                </a:solidFill>
                <a:latin typeface="微软雅黑" panose="020B0503020204020204" charset="-122"/>
                <a:ea typeface="微软雅黑" panose="020B0503020204020204" charset="-122"/>
                <a:cs typeface="微软雅黑" panose="020B0503020204020204" charset="-122"/>
              </a:rPr>
              <a:t>What counts as a valid, timely contribution?</a:t>
            </a:r>
            <a:endParaRPr sz="240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8" name="Deadlines, required facts, wrong commitments and missed"/>
          <p:cNvSpPr>
            <a:spLocks noGrp="1"/>
          </p:cNvSpPr>
          <p:nvPr/>
        </p:nvSpPr>
        <p:spPr>
          <a:xfrm>
            <a:off x="1809750" y="3810000"/>
            <a:ext cx="9772650" cy="628650"/>
          </a:xfrm>
          <a:prstGeom prst="rect">
            <a:avLst/>
          </a:prstGeom>
          <a:noFill/>
          <a:ln w="0">
            <a:noFill/>
          </a:ln>
        </p:spPr>
        <p:txBody>
          <a:bodyPr wrap="square" lIns="0" tIns="0" rIns="0" bIns="0" anchor="t">
            <a:noAutofit/>
          </a:bodyPr>
          <a:lstStyle>
            <a:defPPr>
              <a:defRPr sz="18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8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8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8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8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8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8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8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8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8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617770"/>
                </a:solidFill>
                <a:latin typeface="微软雅黑" panose="020B0503020204020204" charset="-122"/>
                <a:ea typeface="微软雅黑" panose="020B0503020204020204" charset="-122"/>
                <a:cs typeface="微软雅黑" panose="020B0503020204020204" charset="-122"/>
              </a:defRPr>
            </a:pPr>
            <a:r>
              <a:rPr sz="1875" b="0">
                <a:solidFill>
                  <a:srgbClr val="617770"/>
                </a:solidFill>
                <a:latin typeface="微软雅黑" panose="020B0503020204020204" charset="-122"/>
                <a:ea typeface="微软雅黑" panose="020B0503020204020204" charset="-122"/>
                <a:cs typeface="微软雅黑" panose="020B0503020204020204" charset="-122"/>
              </a:rPr>
              <a:t>Deadlines, required facts, wrong commitments and missed requests.</a:t>
            </a:r>
            <a:endParaRPr sz="18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9" name="03"/>
          <p:cNvSpPr>
            <a:spLocks noGrp="1"/>
          </p:cNvSpPr>
          <p:nvPr/>
        </p:nvSpPr>
        <p:spPr>
          <a:xfrm>
            <a:off x="609600" y="4581525"/>
            <a:ext cx="857250" cy="723900"/>
          </a:xfrm>
          <a:prstGeom prst="rect">
            <a:avLst/>
          </a:prstGeom>
          <a:noFill/>
          <a:ln w="0">
            <a:noFill/>
          </a:ln>
        </p:spPr>
        <p:txBody>
          <a:bodyPr wrap="square" lIns="0" tIns="0" rIns="0" bIns="0" anchor="t">
            <a:noAutofit/>
          </a:bodyPr>
          <a:lstStyle>
            <a:defPPr>
              <a:defRPr sz="4425" b="0">
                <a:solidFill>
                  <a:srgbClr val="B5752F"/>
                </a:solidFill>
                <a:latin typeface="微软雅黑" panose="020B0503020204020204" charset="-122"/>
                <a:ea typeface="微软雅黑" panose="020B0503020204020204" charset="-122"/>
                <a:cs typeface="微软雅黑" panose="020B0503020204020204" charset="-122"/>
              </a:defRPr>
            </a:defPPr>
            <a:lvl1pPr>
              <a:buNone/>
              <a:defRPr sz="4425" b="0">
                <a:solidFill>
                  <a:srgbClr val="B5752F"/>
                </a:solidFill>
                <a:latin typeface="微软雅黑" panose="020B0503020204020204" charset="-122"/>
                <a:ea typeface="微软雅黑" panose="020B0503020204020204" charset="-122"/>
                <a:cs typeface="微软雅黑" panose="020B0503020204020204" charset="-122"/>
              </a:defRPr>
            </a:lvl1pPr>
            <a:lvl2pPr>
              <a:buNone/>
              <a:defRPr sz="4425" b="0">
                <a:solidFill>
                  <a:srgbClr val="B5752F"/>
                </a:solidFill>
                <a:latin typeface="微软雅黑" panose="020B0503020204020204" charset="-122"/>
                <a:ea typeface="微软雅黑" panose="020B0503020204020204" charset="-122"/>
                <a:cs typeface="微软雅黑" panose="020B0503020204020204" charset="-122"/>
              </a:defRPr>
            </a:lvl2pPr>
            <a:lvl3pPr>
              <a:buNone/>
              <a:defRPr sz="4425" b="0">
                <a:solidFill>
                  <a:srgbClr val="B5752F"/>
                </a:solidFill>
                <a:latin typeface="微软雅黑" panose="020B0503020204020204" charset="-122"/>
                <a:ea typeface="微软雅黑" panose="020B0503020204020204" charset="-122"/>
                <a:cs typeface="微软雅黑" panose="020B0503020204020204" charset="-122"/>
              </a:defRPr>
            </a:lvl3pPr>
            <a:lvl4pPr>
              <a:buNone/>
              <a:defRPr sz="4425" b="0">
                <a:solidFill>
                  <a:srgbClr val="B5752F"/>
                </a:solidFill>
                <a:latin typeface="微软雅黑" panose="020B0503020204020204" charset="-122"/>
                <a:ea typeface="微软雅黑" panose="020B0503020204020204" charset="-122"/>
                <a:cs typeface="微软雅黑" panose="020B0503020204020204" charset="-122"/>
              </a:defRPr>
            </a:lvl4pPr>
            <a:lvl5pPr>
              <a:buNone/>
              <a:defRPr sz="4425" b="0">
                <a:solidFill>
                  <a:srgbClr val="B5752F"/>
                </a:solidFill>
                <a:latin typeface="微软雅黑" panose="020B0503020204020204" charset="-122"/>
                <a:ea typeface="微软雅黑" panose="020B0503020204020204" charset="-122"/>
                <a:cs typeface="微软雅黑" panose="020B0503020204020204" charset="-122"/>
              </a:defRPr>
            </a:lvl5pPr>
            <a:lvl6pPr>
              <a:buNone/>
              <a:defRPr sz="4425" b="0">
                <a:solidFill>
                  <a:srgbClr val="B5752F"/>
                </a:solidFill>
                <a:latin typeface="微软雅黑" panose="020B0503020204020204" charset="-122"/>
                <a:ea typeface="微软雅黑" panose="020B0503020204020204" charset="-122"/>
                <a:cs typeface="微软雅黑" panose="020B0503020204020204" charset="-122"/>
              </a:defRPr>
            </a:lvl6pPr>
            <a:lvl7pPr>
              <a:buNone/>
              <a:defRPr sz="4425" b="0">
                <a:solidFill>
                  <a:srgbClr val="B5752F"/>
                </a:solidFill>
                <a:latin typeface="微软雅黑" panose="020B0503020204020204" charset="-122"/>
                <a:ea typeface="微软雅黑" panose="020B0503020204020204" charset="-122"/>
                <a:cs typeface="微软雅黑" panose="020B0503020204020204" charset="-122"/>
              </a:defRPr>
            </a:lvl7pPr>
            <a:lvl8pPr>
              <a:buNone/>
              <a:defRPr sz="4425" b="0">
                <a:solidFill>
                  <a:srgbClr val="B5752F"/>
                </a:solidFill>
                <a:latin typeface="微软雅黑" panose="020B0503020204020204" charset="-122"/>
                <a:ea typeface="微软雅黑" panose="020B0503020204020204" charset="-122"/>
                <a:cs typeface="微软雅黑" panose="020B0503020204020204" charset="-122"/>
              </a:defRPr>
            </a:lvl8pPr>
            <a:lvl9pPr>
              <a:buNone/>
              <a:defRPr sz="4425" b="0">
                <a:solidFill>
                  <a:srgbClr val="B5752F"/>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4425" b="0">
                <a:solidFill>
                  <a:srgbClr val="B5752F"/>
                </a:solidFill>
                <a:latin typeface="微软雅黑" panose="020B0503020204020204" charset="-122"/>
                <a:ea typeface="微软雅黑" panose="020B0503020204020204" charset="-122"/>
                <a:cs typeface="微软雅黑" panose="020B0503020204020204" charset="-122"/>
              </a:defRPr>
            </a:pPr>
            <a:r>
              <a:rPr sz="4425" b="0">
                <a:solidFill>
                  <a:srgbClr val="B5752F"/>
                </a:solidFill>
                <a:latin typeface="微软雅黑" panose="020B0503020204020204" charset="-122"/>
                <a:ea typeface="微软雅黑" panose="020B0503020204020204" charset="-122"/>
                <a:cs typeface="微软雅黑" panose="020B0503020204020204" charset="-122"/>
              </a:rPr>
              <a:t>03</a:t>
            </a:r>
            <a:endParaRPr sz="4425" b="0">
              <a:solidFill>
                <a:srgbClr val="B5752F"/>
              </a:solidFill>
              <a:latin typeface="微软雅黑" panose="020B0503020204020204" charset="-122"/>
              <a:ea typeface="微软雅黑" panose="020B0503020204020204" charset="-122"/>
              <a:cs typeface="微软雅黑" panose="020B0503020204020204" charset="-122"/>
            </a:endParaRPr>
          </a:p>
        </p:txBody>
      </p:sp>
      <p:sp>
        <p:nvSpPr>
          <p:cNvPr id="10" name="What evidence matters for the next iteration?"/>
          <p:cNvSpPr>
            <a:spLocks noGrp="1"/>
          </p:cNvSpPr>
          <p:nvPr/>
        </p:nvSpPr>
        <p:spPr>
          <a:xfrm>
            <a:off x="1809750" y="4600575"/>
            <a:ext cx="9772650" cy="533400"/>
          </a:xfrm>
          <a:prstGeom prst="rect">
            <a:avLst/>
          </a:prstGeom>
          <a:noFill/>
          <a:ln w="0">
            <a:noFill/>
          </a:ln>
        </p:spPr>
        <p:txBody>
          <a:bodyPr wrap="square" lIns="0" tIns="0" rIns="0" bIns="0" anchor="t">
            <a:noAutofit/>
          </a:bodyPr>
          <a:lstStyle>
            <a:defPPr>
              <a:defRPr sz="2400" b="1">
                <a:solidFill>
                  <a:srgbClr val="173F39"/>
                </a:solidFill>
                <a:latin typeface="微软雅黑" panose="020B0503020204020204" charset="-122"/>
                <a:ea typeface="微软雅黑" panose="020B0503020204020204" charset="-122"/>
                <a:cs typeface="微软雅黑" panose="020B0503020204020204" charset="-122"/>
              </a:defRPr>
            </a:defPPr>
            <a:lvl1pPr>
              <a:buNone/>
              <a:defRPr sz="2400" b="1">
                <a:solidFill>
                  <a:srgbClr val="173F39"/>
                </a:solidFill>
                <a:latin typeface="微软雅黑" panose="020B0503020204020204" charset="-122"/>
                <a:ea typeface="微软雅黑" panose="020B0503020204020204" charset="-122"/>
                <a:cs typeface="微软雅黑" panose="020B0503020204020204" charset="-122"/>
              </a:defRPr>
            </a:lvl1pPr>
            <a:lvl2pPr>
              <a:buNone/>
              <a:defRPr sz="2400" b="1">
                <a:solidFill>
                  <a:srgbClr val="173F39"/>
                </a:solidFill>
                <a:latin typeface="微软雅黑" panose="020B0503020204020204" charset="-122"/>
                <a:ea typeface="微软雅黑" panose="020B0503020204020204" charset="-122"/>
                <a:cs typeface="微软雅黑" panose="020B0503020204020204" charset="-122"/>
              </a:defRPr>
            </a:lvl2pPr>
            <a:lvl3pPr>
              <a:buNone/>
              <a:defRPr sz="2400" b="1">
                <a:solidFill>
                  <a:srgbClr val="173F39"/>
                </a:solidFill>
                <a:latin typeface="微软雅黑" panose="020B0503020204020204" charset="-122"/>
                <a:ea typeface="微软雅黑" panose="020B0503020204020204" charset="-122"/>
                <a:cs typeface="微软雅黑" panose="020B0503020204020204" charset="-122"/>
              </a:defRPr>
            </a:lvl3pPr>
            <a:lvl4pPr>
              <a:buNone/>
              <a:defRPr sz="2400" b="1">
                <a:solidFill>
                  <a:srgbClr val="173F39"/>
                </a:solidFill>
                <a:latin typeface="微软雅黑" panose="020B0503020204020204" charset="-122"/>
                <a:ea typeface="微软雅黑" panose="020B0503020204020204" charset="-122"/>
                <a:cs typeface="微软雅黑" panose="020B0503020204020204" charset="-122"/>
              </a:defRPr>
            </a:lvl4pPr>
            <a:lvl5pPr>
              <a:buNone/>
              <a:defRPr sz="2400" b="1">
                <a:solidFill>
                  <a:srgbClr val="173F39"/>
                </a:solidFill>
                <a:latin typeface="微软雅黑" panose="020B0503020204020204" charset="-122"/>
                <a:ea typeface="微软雅黑" panose="020B0503020204020204" charset="-122"/>
                <a:cs typeface="微软雅黑" panose="020B0503020204020204" charset="-122"/>
              </a:defRPr>
            </a:lvl5pPr>
            <a:lvl6pPr>
              <a:buNone/>
              <a:defRPr sz="2400" b="1">
                <a:solidFill>
                  <a:srgbClr val="173F39"/>
                </a:solidFill>
                <a:latin typeface="微软雅黑" panose="020B0503020204020204" charset="-122"/>
                <a:ea typeface="微软雅黑" panose="020B0503020204020204" charset="-122"/>
                <a:cs typeface="微软雅黑" panose="020B0503020204020204" charset="-122"/>
              </a:defRPr>
            </a:lvl6pPr>
            <a:lvl7pPr>
              <a:buNone/>
              <a:defRPr sz="2400" b="1">
                <a:solidFill>
                  <a:srgbClr val="173F39"/>
                </a:solidFill>
                <a:latin typeface="微软雅黑" panose="020B0503020204020204" charset="-122"/>
                <a:ea typeface="微软雅黑" panose="020B0503020204020204" charset="-122"/>
                <a:cs typeface="微软雅黑" panose="020B0503020204020204" charset="-122"/>
              </a:defRPr>
            </a:lvl7pPr>
            <a:lvl8pPr>
              <a:buNone/>
              <a:defRPr sz="2400" b="1">
                <a:solidFill>
                  <a:srgbClr val="173F39"/>
                </a:solidFill>
                <a:latin typeface="微软雅黑" panose="020B0503020204020204" charset="-122"/>
                <a:ea typeface="微软雅黑" panose="020B0503020204020204" charset="-122"/>
                <a:cs typeface="微软雅黑" panose="020B0503020204020204" charset="-122"/>
              </a:defRPr>
            </a:lvl8pPr>
            <a:lvl9pPr>
              <a:buNone/>
              <a:defRPr sz="2400" b="1">
                <a:solidFill>
                  <a:srgbClr val="173F39"/>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2400" b="1">
                <a:solidFill>
                  <a:srgbClr val="173F39"/>
                </a:solidFill>
                <a:latin typeface="微软雅黑" panose="020B0503020204020204" charset="-122"/>
                <a:ea typeface="微软雅黑" panose="020B0503020204020204" charset="-122"/>
                <a:cs typeface="微软雅黑" panose="020B0503020204020204" charset="-122"/>
              </a:defRPr>
            </a:pPr>
            <a:r>
              <a:rPr sz="2400" b="1">
                <a:solidFill>
                  <a:srgbClr val="173F39"/>
                </a:solidFill>
                <a:latin typeface="微软雅黑" panose="020B0503020204020204" charset="-122"/>
                <a:ea typeface="微软雅黑" panose="020B0503020204020204" charset="-122"/>
                <a:cs typeface="微软雅黑" panose="020B0503020204020204" charset="-122"/>
              </a:rPr>
              <a:t>What evidence matters for the next iteration?</a:t>
            </a:r>
            <a:endParaRPr sz="2400" b="1">
              <a:solidFill>
                <a:srgbClr val="173F39"/>
              </a:solidFill>
              <a:latin typeface="微软雅黑" panose="020B0503020204020204" charset="-122"/>
              <a:ea typeface="微软雅黑" panose="020B0503020204020204" charset="-122"/>
              <a:cs typeface="微软雅黑" panose="020B0503020204020204" charset="-122"/>
            </a:endParaRPr>
          </a:p>
        </p:txBody>
      </p:sp>
      <p:sp>
        <p:nvSpPr>
          <p:cNvPr id="11" name="Concrete walkthrough failures, then a feasible routing "/>
          <p:cNvSpPr>
            <a:spLocks noGrp="1"/>
          </p:cNvSpPr>
          <p:nvPr/>
        </p:nvSpPr>
        <p:spPr>
          <a:xfrm>
            <a:off x="1809750" y="5267325"/>
            <a:ext cx="9772650" cy="628650"/>
          </a:xfrm>
          <a:prstGeom prst="rect">
            <a:avLst/>
          </a:prstGeom>
          <a:noFill/>
          <a:ln w="0">
            <a:noFill/>
          </a:ln>
        </p:spPr>
        <p:txBody>
          <a:bodyPr wrap="square" lIns="0" tIns="0" rIns="0" bIns="0" anchor="t">
            <a:noAutofit/>
          </a:bodyPr>
          <a:lstStyle>
            <a:defPPr>
              <a:defRPr sz="18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8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8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8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8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8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8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8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8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8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875" b="0">
                <a:solidFill>
                  <a:srgbClr val="617770"/>
                </a:solidFill>
                <a:latin typeface="微软雅黑" panose="020B0503020204020204" charset="-122"/>
                <a:ea typeface="微软雅黑" panose="020B0503020204020204" charset="-122"/>
                <a:cs typeface="微软雅黑" panose="020B0503020204020204" charset="-122"/>
              </a:defRPr>
            </a:pPr>
            <a:r>
              <a:rPr sz="1875" b="0">
                <a:solidFill>
                  <a:srgbClr val="617770"/>
                </a:solidFill>
                <a:latin typeface="微软雅黑" panose="020B0503020204020204" charset="-122"/>
                <a:ea typeface="微软雅黑" panose="020B0503020204020204" charset="-122"/>
                <a:cs typeface="微软雅黑" panose="020B0503020204020204" charset="-122"/>
              </a:rPr>
              <a:t>Concrete walkthrough failures, then a feasible routing comparison.</a:t>
            </a:r>
            <a:endParaRPr sz="1875" b="0">
              <a:solidFill>
                <a:srgbClr val="617770"/>
              </a:solidFill>
              <a:latin typeface="微软雅黑" panose="020B0503020204020204" charset="-122"/>
              <a:ea typeface="微软雅黑" panose="020B0503020204020204" charset="-122"/>
              <a:cs typeface="微软雅黑" panose="020B0503020204020204" charset="-122"/>
            </a:endParaRPr>
          </a:p>
        </p:txBody>
      </p:sp>
      <p:sp>
        <p:nvSpPr>
          <p:cNvPr id="12" name="Ask for feedback on a specific interaction before choos"/>
          <p:cNvSpPr>
            <a:spLocks noGrp="1"/>
          </p:cNvSpPr>
          <p:nvPr/>
        </p:nvSpPr>
        <p:spPr>
          <a:xfrm>
            <a:off x="609600" y="6115050"/>
            <a:ext cx="9525000" cy="523875"/>
          </a:xfrm>
          <a:prstGeom prst="rect">
            <a:avLst/>
          </a:prstGeom>
          <a:noFill/>
          <a:ln w="0">
            <a:noFill/>
          </a:ln>
        </p:spPr>
        <p:txBody>
          <a:bodyPr wrap="square" lIns="0" tIns="0" rIns="0" bIns="0" anchor="t">
            <a:noAutofit/>
          </a:bodyPr>
          <a:lstStyle>
            <a:defPPr>
              <a:defRPr sz="1275" b="0">
                <a:solidFill>
                  <a:srgbClr val="617770"/>
                </a:solidFill>
                <a:latin typeface="微软雅黑" panose="020B0503020204020204" charset="-122"/>
                <a:ea typeface="微软雅黑" panose="020B0503020204020204" charset="-122"/>
                <a:cs typeface="微软雅黑" panose="020B0503020204020204" charset="-122"/>
              </a:defRPr>
            </a:defPPr>
            <a:lvl1pPr>
              <a:buNone/>
              <a:defRPr sz="1275" b="0">
                <a:solidFill>
                  <a:srgbClr val="617770"/>
                </a:solidFill>
                <a:latin typeface="微软雅黑" panose="020B0503020204020204" charset="-122"/>
                <a:ea typeface="微软雅黑" panose="020B0503020204020204" charset="-122"/>
                <a:cs typeface="微软雅黑" panose="020B0503020204020204" charset="-122"/>
              </a:defRPr>
            </a:lvl1pPr>
            <a:lvl2pPr>
              <a:buNone/>
              <a:defRPr sz="1275" b="0">
                <a:solidFill>
                  <a:srgbClr val="617770"/>
                </a:solidFill>
                <a:latin typeface="微软雅黑" panose="020B0503020204020204" charset="-122"/>
                <a:ea typeface="微软雅黑" panose="020B0503020204020204" charset="-122"/>
                <a:cs typeface="微软雅黑" panose="020B0503020204020204" charset="-122"/>
              </a:defRPr>
            </a:lvl2pPr>
            <a:lvl3pPr>
              <a:buNone/>
              <a:defRPr sz="1275" b="0">
                <a:solidFill>
                  <a:srgbClr val="617770"/>
                </a:solidFill>
                <a:latin typeface="微软雅黑" panose="020B0503020204020204" charset="-122"/>
                <a:ea typeface="微软雅黑" panose="020B0503020204020204" charset="-122"/>
                <a:cs typeface="微软雅黑" panose="020B0503020204020204" charset="-122"/>
              </a:defRPr>
            </a:lvl3pPr>
            <a:lvl4pPr>
              <a:buNone/>
              <a:defRPr sz="1275" b="0">
                <a:solidFill>
                  <a:srgbClr val="617770"/>
                </a:solidFill>
                <a:latin typeface="微软雅黑" panose="020B0503020204020204" charset="-122"/>
                <a:ea typeface="微软雅黑" panose="020B0503020204020204" charset="-122"/>
                <a:cs typeface="微软雅黑" panose="020B0503020204020204" charset="-122"/>
              </a:defRPr>
            </a:lvl4pPr>
            <a:lvl5pPr>
              <a:buNone/>
              <a:defRPr sz="1275" b="0">
                <a:solidFill>
                  <a:srgbClr val="617770"/>
                </a:solidFill>
                <a:latin typeface="微软雅黑" panose="020B0503020204020204" charset="-122"/>
                <a:ea typeface="微软雅黑" panose="020B0503020204020204" charset="-122"/>
                <a:cs typeface="微软雅黑" panose="020B0503020204020204" charset="-122"/>
              </a:defRPr>
            </a:lvl5pPr>
            <a:lvl6pPr>
              <a:buNone/>
              <a:defRPr sz="1275" b="0">
                <a:solidFill>
                  <a:srgbClr val="617770"/>
                </a:solidFill>
                <a:latin typeface="微软雅黑" panose="020B0503020204020204" charset="-122"/>
                <a:ea typeface="微软雅黑" panose="020B0503020204020204" charset="-122"/>
                <a:cs typeface="微软雅黑" panose="020B0503020204020204" charset="-122"/>
              </a:defRPr>
            </a:lvl6pPr>
            <a:lvl7pPr>
              <a:buNone/>
              <a:defRPr sz="1275" b="0">
                <a:solidFill>
                  <a:srgbClr val="617770"/>
                </a:solidFill>
                <a:latin typeface="微软雅黑" panose="020B0503020204020204" charset="-122"/>
                <a:ea typeface="微软雅黑" panose="020B0503020204020204" charset="-122"/>
                <a:cs typeface="微软雅黑" panose="020B0503020204020204" charset="-122"/>
              </a:defRPr>
            </a:lvl7pPr>
            <a:lvl8pPr>
              <a:buNone/>
              <a:defRPr sz="1275" b="0">
                <a:solidFill>
                  <a:srgbClr val="617770"/>
                </a:solidFill>
                <a:latin typeface="微软雅黑" panose="020B0503020204020204" charset="-122"/>
                <a:ea typeface="微软雅黑" panose="020B0503020204020204" charset="-122"/>
                <a:cs typeface="微软雅黑" panose="020B0503020204020204" charset="-122"/>
              </a:defRPr>
            </a:lvl8pPr>
            <a:lvl9pPr>
              <a:buNone/>
              <a:defRPr sz="1275" b="0">
                <a:solidFill>
                  <a:srgbClr val="617770"/>
                </a:solidFill>
                <a:latin typeface="微软雅黑" panose="020B0503020204020204" charset="-122"/>
                <a:ea typeface="微软雅黑" panose="020B0503020204020204" charset="-122"/>
                <a:cs typeface="微软雅黑" panose="020B0503020204020204" charset="-122"/>
              </a:defRPr>
            </a:lvl9pPr>
          </a:lstStyle>
          <a:p>
            <a:pPr>
              <a:lnSpc>
                <a:spcPct val="112000"/>
              </a:lnSpc>
              <a:buNone/>
              <a:defRPr sz="1275" b="0">
                <a:solidFill>
                  <a:srgbClr val="617770"/>
                </a:solidFill>
                <a:latin typeface="微软雅黑" panose="020B0503020204020204" charset="-122"/>
                <a:ea typeface="微软雅黑" panose="020B0503020204020204" charset="-122"/>
                <a:cs typeface="微软雅黑" panose="020B0503020204020204" charset="-122"/>
              </a:defRPr>
            </a:pPr>
            <a:r>
              <a:rPr sz="1275" b="0">
                <a:solidFill>
                  <a:srgbClr val="617770"/>
                </a:solidFill>
                <a:latin typeface="微软雅黑" panose="020B0503020204020204" charset="-122"/>
                <a:ea typeface="微软雅黑" panose="020B0503020204020204" charset="-122"/>
                <a:cs typeface="微软雅黑" panose="020B0503020204020204" charset="-122"/>
              </a:rPr>
              <a:t>Ask for feedback on a specific interaction before choosing the next implementation change.</a:t>
            </a:r>
            <a:endParaRPr sz="1275" b="0">
              <a:solidFill>
                <a:srgbClr val="61777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5041</Words>
  <Application>WPS 演示</Application>
  <PresentationFormat>Converted Presentation</PresentationFormat>
  <Paragraphs>364</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宋体</vt:lpstr>
      <vt:lpstr>Wingdings</vt:lpstr>
      <vt:lpstr>微软雅黑</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皇智捷</cp:lastModifiedBy>
  <cp:revision>1</cp:revision>
  <dcterms:created xsi:type="dcterms:W3CDTF">2026-10-23T06:50:25Z</dcterms:created>
  <dcterms:modified xsi:type="dcterms:W3CDTF">2026-10-23T06:50:25Z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B792F293FBEE42179F1B94F89CC06277_12</vt:lpwstr>
  </property>
</Properties>
</file>